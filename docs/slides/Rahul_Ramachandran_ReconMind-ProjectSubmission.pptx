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B2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hyperlink" Target="https://github.com/rahulramachandran-labs/reconmind" TargetMode="External"/><Relationship Id="rId3" Type="http://schemas.openxmlformats.org/officeDocument/2006/relationships/hyperlink" Target="https://reconmind-labs.vercel.app" TargetMode="External"/><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hyperlink" Target="https://github.com/rahulramachandran-labs/reconmind" TargetMode="External"/><Relationship Id="rId3" Type="http://schemas.openxmlformats.org/officeDocument/2006/relationships/hyperlink" Target="https://reconmind-labs.vercel.app" TargetMode="External"/><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509760" y="-1645920"/>
            <a:ext cx="5120640" cy="5120640"/>
          </a:xfrm>
          <a:prstGeom prst="ellipse">
            <a:avLst/>
          </a:prstGeom>
          <a:solidFill>
            <a:srgbClr val="212C39">
              <a:alpha val="60000"/>
            </a:srgbClr>
          </a:solidFill>
          <a:ln/>
        </p:spPr>
        <p:txBody>
          <a:bodyPr/>
          <a:p/>
        </p:txBody>
      </p:sp>
      <p:sp>
        <p:nvSpPr>
          <p:cNvPr id="3" name="Shape 1"/>
          <p:cNvSpPr/>
          <p:nvPr/>
        </p:nvSpPr>
        <p:spPr>
          <a:xfrm>
            <a:off x="-1737360" y="4754880"/>
            <a:ext cx="3840480" cy="3840480"/>
          </a:xfrm>
          <a:prstGeom prst="ellipse">
            <a:avLst/>
          </a:prstGeom>
          <a:solidFill>
            <a:srgbClr val="212C39">
              <a:alpha val="45000"/>
            </a:srgbClr>
          </a:solidFill>
          <a:ln/>
        </p:spPr>
        <p:txBody>
          <a:bodyPr/>
          <a:p/>
        </p:txBody>
      </p:sp>
      <p:sp>
        <p:nvSpPr>
          <p:cNvPr id="4" name="Text 2"/>
          <p:cNvSpPr txBox="1"/>
          <p:nvPr/>
        </p:nvSpPr>
        <p:spPr>
          <a:xfrm>
            <a:off x="822960" y="640080"/>
            <a:ext cx="10058400" cy="320040"/>
          </a:xfrm>
          <a:prstGeom prst="rect">
            <a:avLst/>
          </a:prstGeom>
          <a:noFill/>
          <a:ln/>
        </p:spPr>
        <p:txBody>
          <a:bodyPr wrap="square" lIns="0" tIns="0" rIns="0" bIns="0" rtlCol="0" anchor="ctr"/>
          <a:lstStyle/>
          <a:p>
            <a:pPr indent="0" marL="0">
              <a:buNone/>
            </a:pPr>
            <a:r>
              <a:rPr lang="en-US" sz="1150" b="1" spc="200" kern="0" dirty="0">
                <a:solidFill>
                  <a:srgbClr val="4FD1C5"/>
                </a:solidFill>
                <a:latin typeface="Courier New" pitchFamily="34" charset="0"/>
                <a:ea typeface="Courier New" pitchFamily="34" charset="-122"/>
                <a:cs typeface="Courier New" pitchFamily="34" charset="-120"/>
              </a:rPr>
              <a:t>IIT PATNA — GENERATIVE AI &amp; AGENTIC AI FOR DEVELOPERS PROGRAM</a:t>
            </a:r>
            <a:endParaRPr lang="en-US" sz="1150" dirty="0"/>
          </a:p>
        </p:txBody>
      </p:sp>
      <p:sp>
        <p:nvSpPr>
          <p:cNvPr id="5" name="Text 3"/>
          <p:cNvSpPr txBox="1"/>
          <p:nvPr/>
        </p:nvSpPr>
        <p:spPr>
          <a:xfrm>
            <a:off x="822960" y="960120"/>
            <a:ext cx="10058400" cy="365760"/>
          </a:xfrm>
          <a:prstGeom prst="rect">
            <a:avLst/>
          </a:prstGeom>
          <a:noFill/>
          <a:ln/>
        </p:spPr>
        <p:txBody>
          <a:bodyPr wrap="square" lIns="0" tIns="0" rIns="0" bIns="0" rtlCol="0" anchor="ctr"/>
          <a:lstStyle/>
          <a:p>
            <a:pPr indent="0" marL="0">
              <a:buNone/>
            </a:pPr>
            <a:r>
              <a:rPr lang="en-US" sz="1400" dirty="0">
                <a:solidFill>
                  <a:srgbClr val="8A97A6"/>
                </a:solidFill>
                <a:latin typeface="Calibri" pitchFamily="34" charset="0"/>
                <a:ea typeface="Calibri" pitchFamily="34" charset="-122"/>
                <a:cs typeface="Calibri" pitchFamily="34" charset="-120"/>
              </a:rPr>
              <a:t>Project Submission</a:t>
            </a:r>
            <a:endParaRPr lang="en-US" sz="1400" dirty="0"/>
          </a:p>
        </p:txBody>
      </p:sp>
      <p:sp>
        <p:nvSpPr>
          <p:cNvPr id="6" name="Text 4"/>
          <p:cNvSpPr txBox="1"/>
          <p:nvPr/>
        </p:nvSpPr>
        <p:spPr>
          <a:xfrm>
            <a:off x="777240" y="1783080"/>
            <a:ext cx="9601200" cy="1371600"/>
          </a:xfrm>
          <a:prstGeom prst="rect">
            <a:avLst/>
          </a:prstGeom>
          <a:noFill/>
          <a:ln/>
        </p:spPr>
        <p:txBody>
          <a:bodyPr wrap="square" lIns="0" tIns="0" rIns="0" bIns="0" rtlCol="0" anchor="ctr"/>
          <a:lstStyle/>
          <a:p>
            <a:pPr indent="0" marL="0">
              <a:buNone/>
            </a:pPr>
            <a:r>
              <a:rPr lang="en-US" sz="6800" b="1" dirty="0">
                <a:solidFill>
                  <a:srgbClr val="EEF2F6"/>
                </a:solidFill>
                <a:latin typeface="Calibri" pitchFamily="34" charset="0"/>
                <a:ea typeface="Calibri" pitchFamily="34" charset="-122"/>
                <a:cs typeface="Calibri" pitchFamily="34" charset="-120"/>
              </a:rPr>
              <a:t>ReconMind</a:t>
            </a:r>
            <a:endParaRPr lang="en-US" sz="6800" dirty="0"/>
          </a:p>
        </p:txBody>
      </p:sp>
      <p:sp>
        <p:nvSpPr>
          <p:cNvPr id="7" name="Text 5"/>
          <p:cNvSpPr txBox="1"/>
          <p:nvPr/>
        </p:nvSpPr>
        <p:spPr>
          <a:xfrm>
            <a:off x="822960" y="3108960"/>
            <a:ext cx="9144000" cy="868680"/>
          </a:xfrm>
          <a:prstGeom prst="rect">
            <a:avLst/>
          </a:prstGeom>
          <a:noFill/>
          <a:ln/>
        </p:spPr>
        <p:txBody>
          <a:bodyPr wrap="square" lIns="0" tIns="0" rIns="0" bIns="0" rtlCol="0" anchor="ctr"/>
          <a:lstStyle/>
          <a:p>
            <a:pPr indent="0" marL="0">
              <a:lnSpc>
                <a:spcPct val="125000"/>
              </a:lnSpc>
              <a:buNone/>
            </a:pPr>
            <a:r>
              <a:rPr lang="en-US" sz="1700" dirty="0">
                <a:solidFill>
                  <a:srgbClr val="8A97A6"/>
                </a:solidFill>
                <a:latin typeface="Calibri" pitchFamily="34" charset="0"/>
                <a:ea typeface="Calibri" pitchFamily="34" charset="-122"/>
                <a:cs typeface="Calibri" pitchFamily="34" charset="-120"/>
              </a:rPr>
              <a:t>An agentic copilot for the part of data engineering I have spent years doing by hand:</a:t>
            </a:r>
            <a:endParaRPr lang="en-US" sz="1700" dirty="0"/>
          </a:p>
          <a:p>
            <a:pPr indent="0" marL="0">
              <a:lnSpc>
                <a:spcPct val="125000"/>
              </a:lnSpc>
              <a:buNone/>
            </a:pPr>
            <a:r>
              <a:rPr lang="en-US" sz="1700" dirty="0">
                <a:solidFill>
                  <a:srgbClr val="8A97A6"/>
                </a:solidFill>
                <a:latin typeface="Calibri" pitchFamily="34" charset="0"/>
                <a:ea typeface="Calibri" pitchFamily="34" charset="-122"/>
                <a:cs typeface="Calibri" pitchFamily="34" charset="-120"/>
              </a:rPr>
              <a:t>working out why a pipeline's numbers are wrong, and writing it up.</a:t>
            </a:r>
            <a:endParaRPr lang="en-US" sz="1700" dirty="0"/>
          </a:p>
        </p:txBody>
      </p:sp>
      <p:sp>
        <p:nvSpPr>
          <p:cNvPr id="8" name="Shape 6"/>
          <p:cNvSpPr/>
          <p:nvPr/>
        </p:nvSpPr>
        <p:spPr>
          <a:xfrm>
            <a:off x="822960" y="4041648"/>
            <a:ext cx="457200" cy="457200"/>
          </a:xfrm>
          <a:prstGeom prst="ellipse">
            <a:avLst/>
          </a:prstGeom>
          <a:solidFill>
            <a:srgbClr val="F5A623"/>
          </a:solidFill>
          <a:ln/>
        </p:spPr>
        <p:txBody>
          <a:bodyPr/>
          <a:p/>
        </p:txBody>
      </p:sp>
      <p:pic>
        <p:nvPicPr>
          <p:cNvPr id="9" name="Image 0" descr="/home/claude/assets/icons/cpu.png">    </p:cNvPr>
          <p:cNvPicPr>
            <a:picLocks noChangeAspect="1"/>
          </p:cNvPicPr>
          <p:nvPr/>
        </p:nvPicPr>
        <p:blipFill>
          <a:blip r:embed="rId1"/>
          <a:stretch>
            <a:fillRect/>
          </a:stretch>
        </p:blipFill>
        <p:spPr>
          <a:xfrm>
            <a:off x="886968" y="4105656"/>
            <a:ext cx="329184" cy="329184"/>
          </a:xfrm>
          <a:prstGeom prst="rect">
            <a:avLst/>
          </a:prstGeom>
        </p:spPr>
      </p:pic>
      <p:sp>
        <p:nvSpPr>
          <p:cNvPr id="10" name="Text 7"/>
          <p:cNvSpPr txBox="1"/>
          <p:nvPr/>
        </p:nvSpPr>
        <p:spPr>
          <a:xfrm>
            <a:off x="1463040" y="4041648"/>
            <a:ext cx="9144000" cy="457200"/>
          </a:xfrm>
          <a:prstGeom prst="rect">
            <a:avLst/>
          </a:prstGeom>
          <a:noFill/>
          <a:ln/>
        </p:spPr>
        <p:txBody>
          <a:bodyPr wrap="square" lIns="0" tIns="0" rIns="0" bIns="0" rtlCol="0" anchor="ctr"/>
          <a:lstStyle/>
          <a:p>
            <a:pPr indent="0" marL="0">
              <a:buNone/>
            </a:pPr>
            <a:r>
              <a:rPr lang="en-US" sz="1200" dirty="0">
                <a:solidFill>
                  <a:srgbClr val="EEF2F6"/>
                </a:solidFill>
                <a:latin typeface="Courier New" pitchFamily="34" charset="0"/>
                <a:ea typeface="Courier New" pitchFamily="34" charset="-122"/>
                <a:cs typeface="Courier New" pitchFamily="34" charset="-120"/>
              </a:rPr>
              <a:t>Hybrid RAG  +  LangGraph multi-agent  +  MCP tools  +  LangFuse observability</a:t>
            </a:r>
            <a:endParaRPr lang="en-US" sz="1200" dirty="0"/>
          </a:p>
        </p:txBody>
      </p:sp>
      <p:sp>
        <p:nvSpPr>
          <p:cNvPr id="11" name="Text 8"/>
          <p:cNvSpPr txBox="1"/>
          <p:nvPr/>
        </p:nvSpPr>
        <p:spPr>
          <a:xfrm>
            <a:off x="822960" y="4526280"/>
            <a:ext cx="10515600" cy="365760"/>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GitHub  </a:t>
            </a:r>
            <a:pPr indent="0" marL="0">
              <a:buNone/>
            </a:pPr>
            <a:r>
              <a:rPr lang="en-US" sz="1100" u="sng" dirty="0">
                <a:solidFill>
                  <a:srgbClr val="4FD1C5"/>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github.com/rahulramachandran-labs/reconmind</a:t>
            </a:r>
            <a:pPr indent="0" marL="0">
              <a:buNone/>
            </a:pPr>
            <a:r>
              <a:rPr lang="en-US" sz="1100" dirty="0">
                <a:solidFill>
                  <a:srgbClr val="8A97A6"/>
                </a:solidFill>
                <a:latin typeface="Courier New" pitchFamily="34" charset="0"/>
                <a:ea typeface="Courier New" pitchFamily="34" charset="-122"/>
                <a:cs typeface="Courier New" pitchFamily="34" charset="-120"/>
              </a:rPr>
              <a:t>      Live  </a:t>
            </a:r>
            <a:pPr indent="0" marL="0">
              <a:buNone/>
            </a:pPr>
            <a:r>
              <a:rPr lang="en-US" sz="1100" u="sng" dirty="0">
                <a:solidFill>
                  <a:srgbClr val="4FD1C5"/>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reconmind-labs.vercel.app</a:t>
            </a:r>
            <a:pPr indent="0" marL="0">
              <a:buNone/>
            </a:pPr>
            <a:r>
              <a:rPr lang="en-US" sz="1100" dirty="0">
                <a:solidFill>
                  <a:srgbClr val="8A97A6"/>
                </a:solidFill>
                <a:latin typeface="Courier New" pitchFamily="34" charset="0"/>
                <a:ea typeface="Courier New" pitchFamily="34" charset="-122"/>
                <a:cs typeface="Courier New" pitchFamily="34" charset="-120"/>
              </a:rPr>
              <a:t/>
            </a:r>
            <a:endParaRPr lang="en-US" sz="1100" dirty="0"/>
          </a:p>
        </p:txBody>
      </p:sp>
      <p:sp>
        <p:nvSpPr>
          <p:cNvPr id="12" name="Shape 9"/>
          <p:cNvSpPr/>
          <p:nvPr/>
        </p:nvSpPr>
        <p:spPr>
          <a:xfrm>
            <a:off x="822960" y="4983480"/>
            <a:ext cx="5120640" cy="1143000"/>
          </a:xfrm>
          <a:prstGeom prst="roundRect">
            <a:avLst>
              <a:gd name="adj" fmla="val 7200"/>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3" name="Text 10"/>
          <p:cNvSpPr txBox="1"/>
          <p:nvPr/>
        </p:nvSpPr>
        <p:spPr>
          <a:xfrm>
            <a:off x="1097280" y="5074920"/>
            <a:ext cx="4572000" cy="960120"/>
          </a:xfrm>
          <a:prstGeom prst="rect">
            <a:avLst/>
          </a:prstGeom>
          <a:noFill/>
          <a:ln/>
        </p:spPr>
        <p:txBody>
          <a:bodyPr wrap="square" lIns="0" tIns="0" rIns="0" bIns="0" rtlCol="0" anchor="ctr"/>
          <a:lstStyle/>
          <a:p>
            <a:pPr indent="0" marL="0">
              <a:lnSpc>
                <a:spcPct val="110000"/>
              </a:lnSpc>
              <a:buNone/>
            </a:pPr>
            <a:r>
              <a:rPr lang="en-US" sz="950" b="1" spc="150" kern="0" dirty="0">
                <a:solidFill>
                  <a:srgbClr val="F5A623"/>
                </a:solidFill>
                <a:latin typeface="Courier New" pitchFamily="34" charset="0"/>
                <a:ea typeface="Courier New" pitchFamily="34" charset="-122"/>
                <a:cs typeface="Courier New" pitchFamily="34" charset="-120"/>
              </a:rPr>
              <a:t>SUBMITTED BY</a:t>
            </a:r>
            <a:endParaRPr lang="en-US" sz="950" dirty="0"/>
          </a:p>
          <a:p>
            <a:pPr indent="0" marL="0">
              <a:lnSpc>
                <a:spcPct val="110000"/>
              </a:lnSpc>
              <a:buNone/>
            </a:pPr>
            <a:r>
              <a:rPr lang="en-US" sz="2000" b="1" dirty="0">
                <a:solidFill>
                  <a:srgbClr val="EEF2F6"/>
                </a:solidFill>
                <a:latin typeface="Calibri" pitchFamily="34" charset="0"/>
                <a:ea typeface="Calibri" pitchFamily="34" charset="-122"/>
                <a:cs typeface="Calibri" pitchFamily="34" charset="-120"/>
              </a:rPr>
              <a:t>Rahul</a:t>
            </a:r>
            <a:endParaRPr lang="en-US" sz="950" dirty="0"/>
          </a:p>
        </p:txBody>
      </p:sp>
      <p:sp>
        <p:nvSpPr>
          <p:cNvPr id="14" name="Shape 11"/>
          <p:cNvSpPr/>
          <p:nvPr/>
        </p:nvSpPr>
        <p:spPr>
          <a:xfrm>
            <a:off x="6217920" y="4983480"/>
            <a:ext cx="5120640" cy="1143000"/>
          </a:xfrm>
          <a:prstGeom prst="roundRect">
            <a:avLst>
              <a:gd name="adj" fmla="val 7200"/>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5" name="Text 12"/>
          <p:cNvSpPr txBox="1"/>
          <p:nvPr/>
        </p:nvSpPr>
        <p:spPr>
          <a:xfrm>
            <a:off x="6492240" y="5074920"/>
            <a:ext cx="4572000" cy="960120"/>
          </a:xfrm>
          <a:prstGeom prst="rect">
            <a:avLst/>
          </a:prstGeom>
          <a:noFill/>
          <a:ln/>
        </p:spPr>
        <p:txBody>
          <a:bodyPr wrap="square" lIns="0" tIns="0" rIns="0" bIns="0" rtlCol="0" anchor="ctr"/>
          <a:lstStyle/>
          <a:p>
            <a:pPr indent="0" marL="0">
              <a:lnSpc>
                <a:spcPct val="110000"/>
              </a:lnSpc>
              <a:buNone/>
            </a:pPr>
            <a:r>
              <a:rPr lang="en-US" sz="950" b="1" spc="150" kern="0" dirty="0">
                <a:solidFill>
                  <a:srgbClr val="F5A623"/>
                </a:solidFill>
                <a:latin typeface="Courier New" pitchFamily="34" charset="0"/>
                <a:ea typeface="Courier New" pitchFamily="34" charset="-122"/>
                <a:cs typeface="Courier New" pitchFamily="34" charset="-120"/>
              </a:rPr>
              <a:t>SUBMISSION DATE</a:t>
            </a:r>
            <a:endParaRPr lang="en-US" sz="950" dirty="0"/>
          </a:p>
          <a:p>
            <a:pPr indent="0" marL="0">
              <a:lnSpc>
                <a:spcPct val="110000"/>
              </a:lnSpc>
              <a:buNone/>
            </a:pPr>
            <a:r>
              <a:rPr lang="en-US" sz="2000" b="1" dirty="0">
                <a:solidFill>
                  <a:srgbClr val="EEF2F6"/>
                </a:solidFill>
                <a:latin typeface="Calibri" pitchFamily="34" charset="0"/>
                <a:ea typeface="Calibri" pitchFamily="34" charset="-122"/>
                <a:cs typeface="Calibri" pitchFamily="34" charset="-120"/>
              </a:rPr>
              <a:t>18 September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CONTENTS</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What I will walk through</a:t>
            </a:r>
            <a:endParaRPr lang="en-US" sz="3000" dirty="0"/>
          </a:p>
        </p:txBody>
      </p:sp>
      <p:sp>
        <p:nvSpPr>
          <p:cNvPr id="4" name="Shape 2"/>
          <p:cNvSpPr/>
          <p:nvPr/>
        </p:nvSpPr>
        <p:spPr>
          <a:xfrm>
            <a:off x="548640" y="1783080"/>
            <a:ext cx="5394960" cy="713232"/>
          </a:xfrm>
          <a:prstGeom prst="roundRect">
            <a:avLst>
              <a:gd name="adj" fmla="val 11538"/>
            </a:avLst>
          </a:prstGeom>
          <a:solidFill>
            <a:srgbClr val="1B2530"/>
          </a:solidFill>
          <a:ln/>
        </p:spPr>
        <p:txBody>
          <a:bodyPr/>
          <a:p/>
        </p:txBody>
      </p:sp>
      <p:sp>
        <p:nvSpPr>
          <p:cNvPr id="5" name="Shape 3"/>
          <p:cNvSpPr/>
          <p:nvPr/>
        </p:nvSpPr>
        <p:spPr>
          <a:xfrm>
            <a:off x="713232" y="1911096"/>
            <a:ext cx="457200" cy="457200"/>
          </a:xfrm>
          <a:prstGeom prst="ellipse">
            <a:avLst/>
          </a:prstGeom>
          <a:solidFill>
            <a:srgbClr val="F5A623"/>
          </a:solidFill>
          <a:ln/>
        </p:spPr>
        <p:txBody>
          <a:bodyPr/>
          <a:p/>
        </p:txBody>
      </p:sp>
      <p:pic>
        <p:nvPicPr>
          <p:cNvPr id="6" name="Image 0" descr="/home/claude/assets/icons/target.png">    </p:cNvPr>
          <p:cNvPicPr>
            <a:picLocks noChangeAspect="1"/>
          </p:cNvPicPr>
          <p:nvPr/>
        </p:nvPicPr>
        <p:blipFill>
          <a:blip r:embed="rId1"/>
          <a:stretch>
            <a:fillRect/>
          </a:stretch>
        </p:blipFill>
        <p:spPr>
          <a:xfrm>
            <a:off x="777240" y="1975104"/>
            <a:ext cx="329184" cy="329184"/>
          </a:xfrm>
          <a:prstGeom prst="rect">
            <a:avLst/>
          </a:prstGeom>
        </p:spPr>
      </p:pic>
      <p:sp>
        <p:nvSpPr>
          <p:cNvPr id="7" name="Text 4"/>
          <p:cNvSpPr txBox="1"/>
          <p:nvPr/>
        </p:nvSpPr>
        <p:spPr>
          <a:xfrm>
            <a:off x="1325880" y="1783080"/>
            <a:ext cx="457200" cy="713232"/>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01</a:t>
            </a:r>
            <a:endParaRPr lang="en-US" sz="1100" dirty="0"/>
          </a:p>
        </p:txBody>
      </p:sp>
      <p:sp>
        <p:nvSpPr>
          <p:cNvPr id="8" name="Text 5"/>
          <p:cNvSpPr txBox="1"/>
          <p:nvPr/>
        </p:nvSpPr>
        <p:spPr>
          <a:xfrm>
            <a:off x="1783080" y="1783080"/>
            <a:ext cx="4023360" cy="713232"/>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Problem statement &amp; objectives</a:t>
            </a:r>
            <a:endParaRPr lang="en-US" sz="1450" dirty="0"/>
          </a:p>
        </p:txBody>
      </p:sp>
      <p:sp>
        <p:nvSpPr>
          <p:cNvPr id="9" name="Shape 6"/>
          <p:cNvSpPr/>
          <p:nvPr/>
        </p:nvSpPr>
        <p:spPr>
          <a:xfrm>
            <a:off x="6245352" y="1783080"/>
            <a:ext cx="5394960" cy="713232"/>
          </a:xfrm>
          <a:prstGeom prst="roundRect">
            <a:avLst>
              <a:gd name="adj" fmla="val 11538"/>
            </a:avLst>
          </a:prstGeom>
          <a:solidFill>
            <a:srgbClr val="1B2530"/>
          </a:solidFill>
          <a:ln/>
        </p:spPr>
        <p:txBody>
          <a:bodyPr/>
          <a:p/>
        </p:txBody>
      </p:sp>
      <p:sp>
        <p:nvSpPr>
          <p:cNvPr id="10" name="Shape 7"/>
          <p:cNvSpPr/>
          <p:nvPr/>
        </p:nvSpPr>
        <p:spPr>
          <a:xfrm>
            <a:off x="6409944" y="1911096"/>
            <a:ext cx="457200" cy="457200"/>
          </a:xfrm>
          <a:prstGeom prst="ellipse">
            <a:avLst/>
          </a:prstGeom>
          <a:solidFill>
            <a:srgbClr val="4FD1C5"/>
          </a:solidFill>
          <a:ln/>
        </p:spPr>
        <p:txBody>
          <a:bodyPr/>
          <a:p/>
        </p:txBody>
      </p:sp>
      <p:pic>
        <p:nvPicPr>
          <p:cNvPr id="11" name="Image 1" descr="/home/claude/assets/icons/book.png">    </p:cNvPr>
          <p:cNvPicPr>
            <a:picLocks noChangeAspect="1"/>
          </p:cNvPicPr>
          <p:nvPr/>
        </p:nvPicPr>
        <p:blipFill>
          <a:blip r:embed="rId2"/>
          <a:stretch>
            <a:fillRect/>
          </a:stretch>
        </p:blipFill>
        <p:spPr>
          <a:xfrm>
            <a:off x="6473952" y="1975104"/>
            <a:ext cx="329184" cy="329184"/>
          </a:xfrm>
          <a:prstGeom prst="rect">
            <a:avLst/>
          </a:prstGeom>
        </p:spPr>
      </p:pic>
      <p:sp>
        <p:nvSpPr>
          <p:cNvPr id="12" name="Text 8"/>
          <p:cNvSpPr txBox="1"/>
          <p:nvPr/>
        </p:nvSpPr>
        <p:spPr>
          <a:xfrm>
            <a:off x="7022592" y="1783080"/>
            <a:ext cx="457200" cy="713232"/>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02</a:t>
            </a:r>
            <a:endParaRPr lang="en-US" sz="1100" dirty="0"/>
          </a:p>
        </p:txBody>
      </p:sp>
      <p:sp>
        <p:nvSpPr>
          <p:cNvPr id="13" name="Text 9"/>
          <p:cNvSpPr txBox="1"/>
          <p:nvPr/>
        </p:nvSpPr>
        <p:spPr>
          <a:xfrm>
            <a:off x="7479792" y="1783080"/>
            <a:ext cx="4023360" cy="713232"/>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Course concepts applied</a:t>
            </a:r>
            <a:endParaRPr lang="en-US" sz="1450" dirty="0"/>
          </a:p>
        </p:txBody>
      </p:sp>
      <p:sp>
        <p:nvSpPr>
          <p:cNvPr id="14" name="Shape 10"/>
          <p:cNvSpPr/>
          <p:nvPr/>
        </p:nvSpPr>
        <p:spPr>
          <a:xfrm>
            <a:off x="548640" y="2624328"/>
            <a:ext cx="5394960" cy="713232"/>
          </a:xfrm>
          <a:prstGeom prst="roundRect">
            <a:avLst>
              <a:gd name="adj" fmla="val 11538"/>
            </a:avLst>
          </a:prstGeom>
          <a:solidFill>
            <a:srgbClr val="1B2530"/>
          </a:solidFill>
          <a:ln/>
        </p:spPr>
        <p:txBody>
          <a:bodyPr/>
          <a:p/>
        </p:txBody>
      </p:sp>
      <p:sp>
        <p:nvSpPr>
          <p:cNvPr id="15" name="Shape 11"/>
          <p:cNvSpPr/>
          <p:nvPr/>
        </p:nvSpPr>
        <p:spPr>
          <a:xfrm>
            <a:off x="713232" y="2752344"/>
            <a:ext cx="457200" cy="457200"/>
          </a:xfrm>
          <a:prstGeom prst="ellipse">
            <a:avLst/>
          </a:prstGeom>
          <a:solidFill>
            <a:srgbClr val="F5A623"/>
          </a:solidFill>
          <a:ln/>
        </p:spPr>
        <p:txBody>
          <a:bodyPr/>
          <a:p/>
        </p:txBody>
      </p:sp>
      <p:pic>
        <p:nvPicPr>
          <p:cNvPr id="16" name="Image 2" descr="/home/claude/assets/icons/layers.png">    </p:cNvPr>
          <p:cNvPicPr>
            <a:picLocks noChangeAspect="1"/>
          </p:cNvPicPr>
          <p:nvPr/>
        </p:nvPicPr>
        <p:blipFill>
          <a:blip r:embed="rId3"/>
          <a:stretch>
            <a:fillRect/>
          </a:stretch>
        </p:blipFill>
        <p:spPr>
          <a:xfrm>
            <a:off x="777240" y="2816352"/>
            <a:ext cx="329184" cy="329184"/>
          </a:xfrm>
          <a:prstGeom prst="rect">
            <a:avLst/>
          </a:prstGeom>
        </p:spPr>
      </p:pic>
      <p:sp>
        <p:nvSpPr>
          <p:cNvPr id="17" name="Text 12"/>
          <p:cNvSpPr txBox="1"/>
          <p:nvPr/>
        </p:nvSpPr>
        <p:spPr>
          <a:xfrm>
            <a:off x="1325880" y="2624328"/>
            <a:ext cx="457200" cy="713232"/>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03</a:t>
            </a:r>
            <a:endParaRPr lang="en-US" sz="1100" dirty="0"/>
          </a:p>
        </p:txBody>
      </p:sp>
      <p:sp>
        <p:nvSpPr>
          <p:cNvPr id="18" name="Text 13"/>
          <p:cNvSpPr txBox="1"/>
          <p:nvPr/>
        </p:nvSpPr>
        <p:spPr>
          <a:xfrm>
            <a:off x="1783080" y="2624328"/>
            <a:ext cx="4023360" cy="713232"/>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Solution &amp; system architecture</a:t>
            </a:r>
            <a:endParaRPr lang="en-US" sz="1450" dirty="0"/>
          </a:p>
        </p:txBody>
      </p:sp>
      <p:sp>
        <p:nvSpPr>
          <p:cNvPr id="19" name="Shape 14"/>
          <p:cNvSpPr/>
          <p:nvPr/>
        </p:nvSpPr>
        <p:spPr>
          <a:xfrm>
            <a:off x="6245352" y="2624328"/>
            <a:ext cx="5394960" cy="713232"/>
          </a:xfrm>
          <a:prstGeom prst="roundRect">
            <a:avLst>
              <a:gd name="adj" fmla="val 11538"/>
            </a:avLst>
          </a:prstGeom>
          <a:solidFill>
            <a:srgbClr val="1B2530"/>
          </a:solidFill>
          <a:ln/>
        </p:spPr>
        <p:txBody>
          <a:bodyPr/>
          <a:p/>
        </p:txBody>
      </p:sp>
      <p:sp>
        <p:nvSpPr>
          <p:cNvPr id="20" name="Shape 15"/>
          <p:cNvSpPr/>
          <p:nvPr/>
        </p:nvSpPr>
        <p:spPr>
          <a:xfrm>
            <a:off x="6409944" y="2752344"/>
            <a:ext cx="457200" cy="457200"/>
          </a:xfrm>
          <a:prstGeom prst="ellipse">
            <a:avLst/>
          </a:prstGeom>
          <a:solidFill>
            <a:srgbClr val="4FD1C5"/>
          </a:solidFill>
          <a:ln/>
        </p:spPr>
        <p:txBody>
          <a:bodyPr/>
          <a:p/>
        </p:txBody>
      </p:sp>
      <p:pic>
        <p:nvPicPr>
          <p:cNvPr id="21" name="Image 3" descr="/home/claude/assets/icons/database.png">    </p:cNvPr>
          <p:cNvPicPr>
            <a:picLocks noChangeAspect="1"/>
          </p:cNvPicPr>
          <p:nvPr/>
        </p:nvPicPr>
        <p:blipFill>
          <a:blip r:embed="rId4"/>
          <a:stretch>
            <a:fillRect/>
          </a:stretch>
        </p:blipFill>
        <p:spPr>
          <a:xfrm>
            <a:off x="6473952" y="2816352"/>
            <a:ext cx="329184" cy="329184"/>
          </a:xfrm>
          <a:prstGeom prst="rect">
            <a:avLst/>
          </a:prstGeom>
        </p:spPr>
      </p:pic>
      <p:sp>
        <p:nvSpPr>
          <p:cNvPr id="22" name="Text 16"/>
          <p:cNvSpPr txBox="1"/>
          <p:nvPr/>
        </p:nvSpPr>
        <p:spPr>
          <a:xfrm>
            <a:off x="7022592" y="2624328"/>
            <a:ext cx="457200" cy="713232"/>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04</a:t>
            </a:r>
            <a:endParaRPr lang="en-US" sz="1100" dirty="0"/>
          </a:p>
        </p:txBody>
      </p:sp>
      <p:sp>
        <p:nvSpPr>
          <p:cNvPr id="23" name="Text 17"/>
          <p:cNvSpPr txBox="1"/>
          <p:nvPr/>
        </p:nvSpPr>
        <p:spPr>
          <a:xfrm>
            <a:off x="7479792" y="2624328"/>
            <a:ext cx="4023360" cy="713232"/>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Synthetic dataset &amp; injected anomalies</a:t>
            </a:r>
            <a:endParaRPr lang="en-US" sz="1450" dirty="0"/>
          </a:p>
        </p:txBody>
      </p:sp>
      <p:sp>
        <p:nvSpPr>
          <p:cNvPr id="24" name="Shape 18"/>
          <p:cNvSpPr/>
          <p:nvPr/>
        </p:nvSpPr>
        <p:spPr>
          <a:xfrm>
            <a:off x="548640" y="3465576"/>
            <a:ext cx="5394960" cy="713232"/>
          </a:xfrm>
          <a:prstGeom prst="roundRect">
            <a:avLst>
              <a:gd name="adj" fmla="val 11538"/>
            </a:avLst>
          </a:prstGeom>
          <a:solidFill>
            <a:srgbClr val="1B2530"/>
          </a:solidFill>
          <a:ln/>
        </p:spPr>
        <p:txBody>
          <a:bodyPr/>
          <a:p/>
        </p:txBody>
      </p:sp>
      <p:sp>
        <p:nvSpPr>
          <p:cNvPr id="25" name="Shape 19"/>
          <p:cNvSpPr/>
          <p:nvPr/>
        </p:nvSpPr>
        <p:spPr>
          <a:xfrm>
            <a:off x="713232" y="3593592"/>
            <a:ext cx="457200" cy="457200"/>
          </a:xfrm>
          <a:prstGeom prst="ellipse">
            <a:avLst/>
          </a:prstGeom>
          <a:solidFill>
            <a:srgbClr val="F5A623"/>
          </a:solidFill>
          <a:ln/>
        </p:spPr>
        <p:txBody>
          <a:bodyPr/>
          <a:p/>
        </p:txBody>
      </p:sp>
      <p:pic>
        <p:nvPicPr>
          <p:cNvPr id="26" name="Image 4" descr="/home/claude/assets/icons/search.png">    </p:cNvPr>
          <p:cNvPicPr>
            <a:picLocks noChangeAspect="1"/>
          </p:cNvPicPr>
          <p:nvPr/>
        </p:nvPicPr>
        <p:blipFill>
          <a:blip r:embed="rId5"/>
          <a:stretch>
            <a:fillRect/>
          </a:stretch>
        </p:blipFill>
        <p:spPr>
          <a:xfrm>
            <a:off x="777240" y="3657600"/>
            <a:ext cx="329184" cy="329184"/>
          </a:xfrm>
          <a:prstGeom prst="rect">
            <a:avLst/>
          </a:prstGeom>
        </p:spPr>
      </p:pic>
      <p:sp>
        <p:nvSpPr>
          <p:cNvPr id="27" name="Text 20"/>
          <p:cNvSpPr txBox="1"/>
          <p:nvPr/>
        </p:nvSpPr>
        <p:spPr>
          <a:xfrm>
            <a:off x="1325880" y="3465576"/>
            <a:ext cx="457200" cy="713232"/>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05</a:t>
            </a:r>
            <a:endParaRPr lang="en-US" sz="1100" dirty="0"/>
          </a:p>
        </p:txBody>
      </p:sp>
      <p:sp>
        <p:nvSpPr>
          <p:cNvPr id="28" name="Text 21"/>
          <p:cNvSpPr txBox="1"/>
          <p:nvPr/>
        </p:nvSpPr>
        <p:spPr>
          <a:xfrm>
            <a:off x="1783080" y="3465576"/>
            <a:ext cx="4023360" cy="713232"/>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Retrieval layer design</a:t>
            </a:r>
            <a:endParaRPr lang="en-US" sz="1450" dirty="0"/>
          </a:p>
        </p:txBody>
      </p:sp>
      <p:sp>
        <p:nvSpPr>
          <p:cNvPr id="29" name="Shape 22"/>
          <p:cNvSpPr/>
          <p:nvPr/>
        </p:nvSpPr>
        <p:spPr>
          <a:xfrm>
            <a:off x="6245352" y="3465576"/>
            <a:ext cx="5394960" cy="713232"/>
          </a:xfrm>
          <a:prstGeom prst="roundRect">
            <a:avLst>
              <a:gd name="adj" fmla="val 11538"/>
            </a:avLst>
          </a:prstGeom>
          <a:solidFill>
            <a:srgbClr val="1B2530"/>
          </a:solidFill>
          <a:ln/>
        </p:spPr>
        <p:txBody>
          <a:bodyPr/>
          <a:p/>
        </p:txBody>
      </p:sp>
      <p:sp>
        <p:nvSpPr>
          <p:cNvPr id="30" name="Shape 23"/>
          <p:cNvSpPr/>
          <p:nvPr/>
        </p:nvSpPr>
        <p:spPr>
          <a:xfrm>
            <a:off x="6409944" y="3593592"/>
            <a:ext cx="457200" cy="457200"/>
          </a:xfrm>
          <a:prstGeom prst="ellipse">
            <a:avLst/>
          </a:prstGeom>
          <a:solidFill>
            <a:srgbClr val="4FD1C5"/>
          </a:solidFill>
          <a:ln/>
        </p:spPr>
        <p:txBody>
          <a:bodyPr/>
          <a:p/>
        </p:txBody>
      </p:sp>
      <p:pic>
        <p:nvPicPr>
          <p:cNvPr id="31" name="Image 5" descr="/home/claude/assets/icons/users.png">    </p:cNvPr>
          <p:cNvPicPr>
            <a:picLocks noChangeAspect="1"/>
          </p:cNvPicPr>
          <p:nvPr/>
        </p:nvPicPr>
        <p:blipFill>
          <a:blip r:embed="rId6"/>
          <a:stretch>
            <a:fillRect/>
          </a:stretch>
        </p:blipFill>
        <p:spPr>
          <a:xfrm>
            <a:off x="6473952" y="3657600"/>
            <a:ext cx="329184" cy="329184"/>
          </a:xfrm>
          <a:prstGeom prst="rect">
            <a:avLst/>
          </a:prstGeom>
        </p:spPr>
      </p:pic>
      <p:sp>
        <p:nvSpPr>
          <p:cNvPr id="32" name="Text 24"/>
          <p:cNvSpPr txBox="1"/>
          <p:nvPr/>
        </p:nvSpPr>
        <p:spPr>
          <a:xfrm>
            <a:off x="7022592" y="3465576"/>
            <a:ext cx="457200" cy="713232"/>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06</a:t>
            </a:r>
            <a:endParaRPr lang="en-US" sz="1100" dirty="0"/>
          </a:p>
        </p:txBody>
      </p:sp>
      <p:sp>
        <p:nvSpPr>
          <p:cNvPr id="33" name="Text 25"/>
          <p:cNvSpPr txBox="1"/>
          <p:nvPr/>
        </p:nvSpPr>
        <p:spPr>
          <a:xfrm>
            <a:off x="7479792" y="3465576"/>
            <a:ext cx="4023360" cy="713232"/>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Multi-agent design (LangGraph)</a:t>
            </a:r>
            <a:endParaRPr lang="en-US" sz="1450" dirty="0"/>
          </a:p>
        </p:txBody>
      </p:sp>
      <p:sp>
        <p:nvSpPr>
          <p:cNvPr id="34" name="Shape 26"/>
          <p:cNvSpPr/>
          <p:nvPr/>
        </p:nvSpPr>
        <p:spPr>
          <a:xfrm>
            <a:off x="548640" y="4306824"/>
            <a:ext cx="5394960" cy="713232"/>
          </a:xfrm>
          <a:prstGeom prst="roundRect">
            <a:avLst>
              <a:gd name="adj" fmla="val 11538"/>
            </a:avLst>
          </a:prstGeom>
          <a:solidFill>
            <a:srgbClr val="1B2530"/>
          </a:solidFill>
          <a:ln/>
        </p:spPr>
        <p:txBody>
          <a:bodyPr/>
          <a:p/>
        </p:txBody>
      </p:sp>
      <p:sp>
        <p:nvSpPr>
          <p:cNvPr id="35" name="Shape 27"/>
          <p:cNvSpPr/>
          <p:nvPr/>
        </p:nvSpPr>
        <p:spPr>
          <a:xfrm>
            <a:off x="713232" y="4434840"/>
            <a:ext cx="457200" cy="457200"/>
          </a:xfrm>
          <a:prstGeom prst="ellipse">
            <a:avLst/>
          </a:prstGeom>
          <a:solidFill>
            <a:srgbClr val="F5A623"/>
          </a:solidFill>
          <a:ln/>
        </p:spPr>
        <p:txBody>
          <a:bodyPr/>
          <a:p/>
        </p:txBody>
      </p:sp>
      <p:pic>
        <p:nvPicPr>
          <p:cNvPr id="36" name="Image 6" descr="/home/claude/assets/icons/plug.png">    </p:cNvPr>
          <p:cNvPicPr>
            <a:picLocks noChangeAspect="1"/>
          </p:cNvPicPr>
          <p:nvPr/>
        </p:nvPicPr>
        <p:blipFill>
          <a:blip r:embed="rId7"/>
          <a:stretch>
            <a:fillRect/>
          </a:stretch>
        </p:blipFill>
        <p:spPr>
          <a:xfrm>
            <a:off x="777240" y="4498848"/>
            <a:ext cx="329184" cy="329184"/>
          </a:xfrm>
          <a:prstGeom prst="rect">
            <a:avLst/>
          </a:prstGeom>
        </p:spPr>
      </p:pic>
      <p:sp>
        <p:nvSpPr>
          <p:cNvPr id="37" name="Text 28"/>
          <p:cNvSpPr txBox="1"/>
          <p:nvPr/>
        </p:nvSpPr>
        <p:spPr>
          <a:xfrm>
            <a:off x="1325880" y="4306824"/>
            <a:ext cx="457200" cy="713232"/>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07</a:t>
            </a:r>
            <a:endParaRPr lang="en-US" sz="1100" dirty="0"/>
          </a:p>
        </p:txBody>
      </p:sp>
      <p:sp>
        <p:nvSpPr>
          <p:cNvPr id="38" name="Text 29"/>
          <p:cNvSpPr txBox="1"/>
          <p:nvPr/>
        </p:nvSpPr>
        <p:spPr>
          <a:xfrm>
            <a:off x="1783080" y="4306824"/>
            <a:ext cx="4023360" cy="713232"/>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MCP tool servers</a:t>
            </a:r>
            <a:endParaRPr lang="en-US" sz="1450" dirty="0"/>
          </a:p>
        </p:txBody>
      </p:sp>
      <p:sp>
        <p:nvSpPr>
          <p:cNvPr id="39" name="Shape 30"/>
          <p:cNvSpPr/>
          <p:nvPr/>
        </p:nvSpPr>
        <p:spPr>
          <a:xfrm>
            <a:off x="6245352" y="4306824"/>
            <a:ext cx="5394960" cy="713232"/>
          </a:xfrm>
          <a:prstGeom prst="roundRect">
            <a:avLst>
              <a:gd name="adj" fmla="val 11538"/>
            </a:avLst>
          </a:prstGeom>
          <a:solidFill>
            <a:srgbClr val="1B2530"/>
          </a:solidFill>
          <a:ln/>
        </p:spPr>
        <p:txBody>
          <a:bodyPr/>
          <a:p/>
        </p:txBody>
      </p:sp>
      <p:sp>
        <p:nvSpPr>
          <p:cNvPr id="40" name="Shape 31"/>
          <p:cNvSpPr/>
          <p:nvPr/>
        </p:nvSpPr>
        <p:spPr>
          <a:xfrm>
            <a:off x="6409944" y="4434840"/>
            <a:ext cx="457200" cy="457200"/>
          </a:xfrm>
          <a:prstGeom prst="ellipse">
            <a:avLst/>
          </a:prstGeom>
          <a:solidFill>
            <a:srgbClr val="4FD1C5"/>
          </a:solidFill>
          <a:ln/>
        </p:spPr>
        <p:txBody>
          <a:bodyPr/>
          <a:p/>
        </p:txBody>
      </p:sp>
      <p:pic>
        <p:nvPicPr>
          <p:cNvPr id="41" name="Image 7" descr="/home/claude/assets/icons/activity.png">    </p:cNvPr>
          <p:cNvPicPr>
            <a:picLocks noChangeAspect="1"/>
          </p:cNvPicPr>
          <p:nvPr/>
        </p:nvPicPr>
        <p:blipFill>
          <a:blip r:embed="rId8"/>
          <a:stretch>
            <a:fillRect/>
          </a:stretch>
        </p:blipFill>
        <p:spPr>
          <a:xfrm>
            <a:off x="6473952" y="4498848"/>
            <a:ext cx="329184" cy="329184"/>
          </a:xfrm>
          <a:prstGeom prst="rect">
            <a:avLst/>
          </a:prstGeom>
        </p:spPr>
      </p:pic>
      <p:sp>
        <p:nvSpPr>
          <p:cNvPr id="42" name="Text 32"/>
          <p:cNvSpPr txBox="1"/>
          <p:nvPr/>
        </p:nvSpPr>
        <p:spPr>
          <a:xfrm>
            <a:off x="7022592" y="4306824"/>
            <a:ext cx="457200" cy="713232"/>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08</a:t>
            </a:r>
            <a:endParaRPr lang="en-US" sz="1100" dirty="0"/>
          </a:p>
        </p:txBody>
      </p:sp>
      <p:sp>
        <p:nvSpPr>
          <p:cNvPr id="43" name="Text 33"/>
          <p:cNvSpPr txBox="1"/>
          <p:nvPr/>
        </p:nvSpPr>
        <p:spPr>
          <a:xfrm>
            <a:off x="7479792" y="4306824"/>
            <a:ext cx="4023360" cy="713232"/>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Observability &amp; evaluation</a:t>
            </a:r>
            <a:endParaRPr lang="en-US" sz="1450" dirty="0"/>
          </a:p>
        </p:txBody>
      </p:sp>
      <p:sp>
        <p:nvSpPr>
          <p:cNvPr id="44" name="Shape 34"/>
          <p:cNvSpPr/>
          <p:nvPr/>
        </p:nvSpPr>
        <p:spPr>
          <a:xfrm>
            <a:off x="548640" y="5148072"/>
            <a:ext cx="5394960" cy="713232"/>
          </a:xfrm>
          <a:prstGeom prst="roundRect">
            <a:avLst>
              <a:gd name="adj" fmla="val 11538"/>
            </a:avLst>
          </a:prstGeom>
          <a:solidFill>
            <a:srgbClr val="1B2530"/>
          </a:solidFill>
          <a:ln/>
        </p:spPr>
        <p:txBody>
          <a:bodyPr/>
          <a:p/>
        </p:txBody>
      </p:sp>
      <p:sp>
        <p:nvSpPr>
          <p:cNvPr id="45" name="Shape 35"/>
          <p:cNvSpPr/>
          <p:nvPr/>
        </p:nvSpPr>
        <p:spPr>
          <a:xfrm>
            <a:off x="713232" y="5276088"/>
            <a:ext cx="457200" cy="457200"/>
          </a:xfrm>
          <a:prstGeom prst="ellipse">
            <a:avLst/>
          </a:prstGeom>
          <a:solidFill>
            <a:srgbClr val="F5A623"/>
          </a:solidFill>
          <a:ln/>
        </p:spPr>
        <p:txBody>
          <a:bodyPr/>
          <a:p/>
        </p:txBody>
      </p:sp>
      <p:pic>
        <p:nvPicPr>
          <p:cNvPr id="46" name="Image 8" descr="/home/claude/assets/icons/monitor.png">    </p:cNvPr>
          <p:cNvPicPr>
            <a:picLocks noChangeAspect="1"/>
          </p:cNvPicPr>
          <p:nvPr/>
        </p:nvPicPr>
        <p:blipFill>
          <a:blip r:embed="rId9"/>
          <a:stretch>
            <a:fillRect/>
          </a:stretch>
        </p:blipFill>
        <p:spPr>
          <a:xfrm>
            <a:off x="777240" y="5340096"/>
            <a:ext cx="329184" cy="329184"/>
          </a:xfrm>
          <a:prstGeom prst="rect">
            <a:avLst/>
          </a:prstGeom>
        </p:spPr>
      </p:pic>
      <p:sp>
        <p:nvSpPr>
          <p:cNvPr id="47" name="Text 36"/>
          <p:cNvSpPr txBox="1"/>
          <p:nvPr/>
        </p:nvSpPr>
        <p:spPr>
          <a:xfrm>
            <a:off x="1325880" y="5148072"/>
            <a:ext cx="457200" cy="713232"/>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09</a:t>
            </a:r>
            <a:endParaRPr lang="en-US" sz="1100" dirty="0"/>
          </a:p>
        </p:txBody>
      </p:sp>
      <p:sp>
        <p:nvSpPr>
          <p:cNvPr id="48" name="Text 37"/>
          <p:cNvSpPr txBox="1"/>
          <p:nvPr/>
        </p:nvSpPr>
        <p:spPr>
          <a:xfrm>
            <a:off x="1783080" y="5148072"/>
            <a:ext cx="4023360" cy="713232"/>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Application screens &amp; tech stack</a:t>
            </a:r>
            <a:endParaRPr lang="en-US" sz="1450" dirty="0"/>
          </a:p>
        </p:txBody>
      </p:sp>
      <p:sp>
        <p:nvSpPr>
          <p:cNvPr id="49" name="Shape 38"/>
          <p:cNvSpPr/>
          <p:nvPr/>
        </p:nvSpPr>
        <p:spPr>
          <a:xfrm>
            <a:off x="6245352" y="5148072"/>
            <a:ext cx="5394960" cy="713232"/>
          </a:xfrm>
          <a:prstGeom prst="roundRect">
            <a:avLst>
              <a:gd name="adj" fmla="val 11538"/>
            </a:avLst>
          </a:prstGeom>
          <a:solidFill>
            <a:srgbClr val="1B2530"/>
          </a:solidFill>
          <a:ln/>
        </p:spPr>
        <p:txBody>
          <a:bodyPr/>
          <a:p/>
        </p:txBody>
      </p:sp>
      <p:sp>
        <p:nvSpPr>
          <p:cNvPr id="50" name="Shape 39"/>
          <p:cNvSpPr/>
          <p:nvPr/>
        </p:nvSpPr>
        <p:spPr>
          <a:xfrm>
            <a:off x="6409944" y="5276088"/>
            <a:ext cx="457200" cy="457200"/>
          </a:xfrm>
          <a:prstGeom prst="ellipse">
            <a:avLst/>
          </a:prstGeom>
          <a:solidFill>
            <a:srgbClr val="4FD1C5"/>
          </a:solidFill>
          <a:ln/>
        </p:spPr>
        <p:txBody>
          <a:bodyPr/>
          <a:p/>
        </p:txBody>
      </p:sp>
      <p:pic>
        <p:nvPicPr>
          <p:cNvPr id="51" name="Image 9" descr="/home/claude/assets/icons/flag.png">    </p:cNvPr>
          <p:cNvPicPr>
            <a:picLocks noChangeAspect="1"/>
          </p:cNvPicPr>
          <p:nvPr/>
        </p:nvPicPr>
        <p:blipFill>
          <a:blip r:embed="rId10"/>
          <a:stretch>
            <a:fillRect/>
          </a:stretch>
        </p:blipFill>
        <p:spPr>
          <a:xfrm>
            <a:off x="6473952" y="5340096"/>
            <a:ext cx="329184" cy="329184"/>
          </a:xfrm>
          <a:prstGeom prst="rect">
            <a:avLst/>
          </a:prstGeom>
        </p:spPr>
      </p:pic>
      <p:sp>
        <p:nvSpPr>
          <p:cNvPr id="52" name="Text 40"/>
          <p:cNvSpPr txBox="1"/>
          <p:nvPr/>
        </p:nvSpPr>
        <p:spPr>
          <a:xfrm>
            <a:off x="7022592" y="5148072"/>
            <a:ext cx="457200" cy="713232"/>
          </a:xfrm>
          <a:prstGeom prst="rect">
            <a:avLst/>
          </a:prstGeom>
          <a:noFill/>
          <a:ln/>
        </p:spPr>
        <p:txBody>
          <a:bodyPr wrap="square" lIns="0" tIns="0" rIns="0" bIns="0" rtlCol="0" anchor="ctr"/>
          <a:lstStyle/>
          <a:p>
            <a:pPr indent="0" marL="0">
              <a:buNone/>
            </a:pPr>
            <a:r>
              <a:rPr lang="en-US" sz="1100" dirty="0">
                <a:solidFill>
                  <a:srgbClr val="8A97A6"/>
                </a:solidFill>
                <a:latin typeface="Courier New" pitchFamily="34" charset="0"/>
                <a:ea typeface="Courier New" pitchFamily="34" charset="-122"/>
                <a:cs typeface="Courier New" pitchFamily="34" charset="-120"/>
              </a:rPr>
              <a:t>10</a:t>
            </a:r>
            <a:endParaRPr lang="en-US" sz="1100" dirty="0"/>
          </a:p>
        </p:txBody>
      </p:sp>
      <p:sp>
        <p:nvSpPr>
          <p:cNvPr id="53" name="Text 41"/>
          <p:cNvSpPr txBox="1"/>
          <p:nvPr/>
        </p:nvSpPr>
        <p:spPr>
          <a:xfrm>
            <a:off x="7479792" y="5148072"/>
            <a:ext cx="4023360" cy="713232"/>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Build plan, learnings, future work</a:t>
            </a:r>
            <a:endParaRPr lang="en-US" sz="1450" dirty="0"/>
          </a:p>
        </p:txBody>
      </p:sp>
      <p:sp>
        <p:nvSpPr>
          <p:cNvPr id="54" name="Text 42"/>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55" name="Text 43"/>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PROBLEM STATEMENT</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The problem I keep running into</a:t>
            </a:r>
            <a:endParaRPr lang="en-US" sz="3000" dirty="0"/>
          </a:p>
        </p:txBody>
      </p:sp>
      <p:sp>
        <p:nvSpPr>
          <p:cNvPr id="4" name="Text 2"/>
          <p:cNvSpPr txBox="1"/>
          <p:nvPr/>
        </p:nvSpPr>
        <p:spPr>
          <a:xfrm>
            <a:off x="548640" y="1463040"/>
            <a:ext cx="10972800" cy="640080"/>
          </a:xfrm>
          <a:prstGeom prst="rect">
            <a:avLst/>
          </a:prstGeom>
          <a:noFill/>
          <a:ln/>
        </p:spPr>
        <p:txBody>
          <a:bodyPr wrap="square" lIns="0" tIns="0" rIns="0" bIns="0" rtlCol="0" anchor="ctr"/>
          <a:lstStyle/>
          <a:p>
            <a:pPr indent="0" marL="0">
              <a:lnSpc>
                <a:spcPct val="125000"/>
              </a:lnSpc>
              <a:buNone/>
            </a:pPr>
            <a:r>
              <a:rPr lang="en-US" sz="1350" dirty="0">
                <a:solidFill>
                  <a:srgbClr val="8A97A6"/>
                </a:solidFill>
                <a:latin typeface="Calibri" pitchFamily="34" charset="0"/>
                <a:ea typeface="Calibri" pitchFamily="34" charset="-122"/>
                <a:cs typeface="Calibri" pitchFamily="34" charset="-120"/>
              </a:rPr>
              <a:t>After 13 years of running multi-source pipelines, the same four failures keep showing up. Someone senior spots them, digs through five systems, and the reasoning ends up in a chat thread nobody can find later.</a:t>
            </a:r>
            <a:endParaRPr lang="en-US" sz="1350" dirty="0"/>
          </a:p>
        </p:txBody>
      </p:sp>
      <p:sp>
        <p:nvSpPr>
          <p:cNvPr id="5" name="Shape 3"/>
          <p:cNvSpPr/>
          <p:nvPr/>
        </p:nvSpPr>
        <p:spPr>
          <a:xfrm>
            <a:off x="548640" y="2286000"/>
            <a:ext cx="2651760" cy="292608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6" name="Shape 4"/>
          <p:cNvSpPr/>
          <p:nvPr/>
        </p:nvSpPr>
        <p:spPr>
          <a:xfrm>
            <a:off x="822960" y="2560320"/>
            <a:ext cx="566928" cy="566928"/>
          </a:xfrm>
          <a:prstGeom prst="ellipse">
            <a:avLst/>
          </a:prstGeom>
          <a:solidFill>
            <a:srgbClr val="F5A623"/>
          </a:solidFill>
          <a:ln/>
        </p:spPr>
        <p:txBody>
          <a:bodyPr/>
          <a:p/>
        </p:txBody>
      </p:sp>
      <p:pic>
        <p:nvPicPr>
          <p:cNvPr id="7" name="Image 0" descr="/home/claude/assets/icons/gitbranch.png">    </p:cNvPr>
          <p:cNvPicPr>
            <a:picLocks noChangeAspect="1"/>
          </p:cNvPicPr>
          <p:nvPr/>
        </p:nvPicPr>
        <p:blipFill>
          <a:blip r:embed="rId1"/>
          <a:stretch>
            <a:fillRect/>
          </a:stretch>
        </p:blipFill>
        <p:spPr>
          <a:xfrm>
            <a:off x="902330" y="2639690"/>
            <a:ext cx="408188" cy="408188"/>
          </a:xfrm>
          <a:prstGeom prst="rect">
            <a:avLst/>
          </a:prstGeom>
        </p:spPr>
      </p:pic>
      <p:sp>
        <p:nvSpPr>
          <p:cNvPr id="8" name="Text 5"/>
          <p:cNvSpPr txBox="1"/>
          <p:nvPr/>
        </p:nvSpPr>
        <p:spPr>
          <a:xfrm>
            <a:off x="822960" y="3291840"/>
            <a:ext cx="2103120" cy="41148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Key drift</a:t>
            </a:r>
            <a:endParaRPr lang="en-US" sz="1500" dirty="0"/>
          </a:p>
        </p:txBody>
      </p:sp>
      <p:sp>
        <p:nvSpPr>
          <p:cNvPr id="9" name="Text 6"/>
          <p:cNvSpPr txBox="1"/>
          <p:nvPr/>
        </p:nvSpPr>
        <p:spPr>
          <a:xfrm>
            <a:off x="822960" y="3749040"/>
            <a:ext cx="2103120" cy="1280160"/>
          </a:xfrm>
          <a:prstGeom prst="rect">
            <a:avLst/>
          </a:prstGeom>
          <a:noFill/>
          <a:ln/>
        </p:spPr>
        <p:txBody>
          <a:bodyPr wrap="square" lIns="0" tIns="0" rIns="0" bIns="0" rtlCol="0" anchor="ctr"/>
          <a:lstStyle/>
          <a:p>
            <a:pPr indent="0" marL="0">
              <a:lnSpc>
                <a:spcPct val="120000"/>
              </a:lnSpc>
              <a:buNone/>
            </a:pPr>
            <a:r>
              <a:rPr lang="en-US" sz="1150" dirty="0">
                <a:solidFill>
                  <a:srgbClr val="8A97A6"/>
                </a:solidFill>
                <a:latin typeface="Calibri" pitchFamily="34" charset="0"/>
                <a:ea typeface="Calibri" pitchFamily="34" charset="-122"/>
                <a:cs typeface="Calibri" pitchFamily="34" charset="-120"/>
              </a:rPr>
              <a:t>Same store, two IDs. One feed calls it outlet_id, another location_id, and the join quietly splits it in two.</a:t>
            </a:r>
            <a:endParaRPr lang="en-US" sz="1150" dirty="0"/>
          </a:p>
        </p:txBody>
      </p:sp>
      <p:sp>
        <p:nvSpPr>
          <p:cNvPr id="10" name="Shape 7"/>
          <p:cNvSpPr/>
          <p:nvPr/>
        </p:nvSpPr>
        <p:spPr>
          <a:xfrm>
            <a:off x="3456432" y="2286000"/>
            <a:ext cx="2651760" cy="292608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1" name="Shape 8"/>
          <p:cNvSpPr/>
          <p:nvPr/>
        </p:nvSpPr>
        <p:spPr>
          <a:xfrm>
            <a:off x="3730752" y="2560320"/>
            <a:ext cx="566928" cy="566928"/>
          </a:xfrm>
          <a:prstGeom prst="ellipse">
            <a:avLst/>
          </a:prstGeom>
          <a:solidFill>
            <a:srgbClr val="4FD1C5"/>
          </a:solidFill>
          <a:ln/>
        </p:spPr>
        <p:txBody>
          <a:bodyPr/>
          <a:p/>
        </p:txBody>
      </p:sp>
      <p:pic>
        <p:nvPicPr>
          <p:cNvPr id="12" name="Image 1" descr="/home/claude/assets/icons/refresh.png">    </p:cNvPr>
          <p:cNvPicPr>
            <a:picLocks noChangeAspect="1"/>
          </p:cNvPicPr>
          <p:nvPr/>
        </p:nvPicPr>
        <p:blipFill>
          <a:blip r:embed="rId2"/>
          <a:stretch>
            <a:fillRect/>
          </a:stretch>
        </p:blipFill>
        <p:spPr>
          <a:xfrm>
            <a:off x="3810122" y="2639690"/>
            <a:ext cx="408188" cy="408188"/>
          </a:xfrm>
          <a:prstGeom prst="rect">
            <a:avLst/>
          </a:prstGeom>
        </p:spPr>
      </p:pic>
      <p:sp>
        <p:nvSpPr>
          <p:cNvPr id="13" name="Text 9"/>
          <p:cNvSpPr txBox="1"/>
          <p:nvPr/>
        </p:nvSpPr>
        <p:spPr>
          <a:xfrm>
            <a:off x="3730752" y="3291840"/>
            <a:ext cx="2103120" cy="41148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Duplicate submissions</a:t>
            </a:r>
            <a:endParaRPr lang="en-US" sz="1500" dirty="0"/>
          </a:p>
        </p:txBody>
      </p:sp>
      <p:sp>
        <p:nvSpPr>
          <p:cNvPr id="14" name="Text 10"/>
          <p:cNvSpPr txBox="1"/>
          <p:nvPr/>
        </p:nvSpPr>
        <p:spPr>
          <a:xfrm>
            <a:off x="3730752" y="3749040"/>
            <a:ext cx="2103120" cy="1280160"/>
          </a:xfrm>
          <a:prstGeom prst="rect">
            <a:avLst/>
          </a:prstGeom>
          <a:noFill/>
          <a:ln/>
        </p:spPr>
        <p:txBody>
          <a:bodyPr wrap="square" lIns="0" tIns="0" rIns="0" bIns="0" rtlCol="0" anchor="ctr"/>
          <a:lstStyle/>
          <a:p>
            <a:pPr indent="0" marL="0">
              <a:lnSpc>
                <a:spcPct val="120000"/>
              </a:lnSpc>
              <a:buNone/>
            </a:pPr>
            <a:r>
              <a:rPr lang="en-US" sz="1150" dirty="0">
                <a:solidFill>
                  <a:srgbClr val="8A97A6"/>
                </a:solidFill>
                <a:latin typeface="Calibri" pitchFamily="34" charset="0"/>
                <a:ea typeface="Calibri" pitchFamily="34" charset="-122"/>
                <a:cs typeface="Calibri" pitchFamily="34" charset="-120"/>
              </a:rPr>
              <a:t>A vendor resends a file. The same transaction is now in twice, and the rule "latest file wins" exists only in someone's head.</a:t>
            </a:r>
            <a:endParaRPr lang="en-US" sz="1150" dirty="0"/>
          </a:p>
        </p:txBody>
      </p:sp>
      <p:sp>
        <p:nvSpPr>
          <p:cNvPr id="15" name="Shape 11"/>
          <p:cNvSpPr/>
          <p:nvPr/>
        </p:nvSpPr>
        <p:spPr>
          <a:xfrm>
            <a:off x="6364224" y="2286000"/>
            <a:ext cx="2651760" cy="292608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6" name="Shape 12"/>
          <p:cNvSpPr/>
          <p:nvPr/>
        </p:nvSpPr>
        <p:spPr>
          <a:xfrm>
            <a:off x="6638544" y="2560320"/>
            <a:ext cx="566928" cy="566928"/>
          </a:xfrm>
          <a:prstGeom prst="ellipse">
            <a:avLst/>
          </a:prstGeom>
          <a:solidFill>
            <a:srgbClr val="F5A623"/>
          </a:solidFill>
          <a:ln/>
        </p:spPr>
        <p:txBody>
          <a:bodyPr/>
          <a:p/>
        </p:txBody>
      </p:sp>
      <p:pic>
        <p:nvPicPr>
          <p:cNvPr id="17" name="Image 2" descr="/home/claude/assets/icons/alert.png">    </p:cNvPr>
          <p:cNvPicPr>
            <a:picLocks noChangeAspect="1"/>
          </p:cNvPicPr>
          <p:nvPr/>
        </p:nvPicPr>
        <p:blipFill>
          <a:blip r:embed="rId3"/>
          <a:stretch>
            <a:fillRect/>
          </a:stretch>
        </p:blipFill>
        <p:spPr>
          <a:xfrm>
            <a:off x="6717914" y="2639690"/>
            <a:ext cx="408188" cy="408188"/>
          </a:xfrm>
          <a:prstGeom prst="rect">
            <a:avLst/>
          </a:prstGeom>
        </p:spPr>
      </p:pic>
      <p:sp>
        <p:nvSpPr>
          <p:cNvPr id="18" name="Text 13"/>
          <p:cNvSpPr txBox="1"/>
          <p:nvPr/>
        </p:nvSpPr>
        <p:spPr>
          <a:xfrm>
            <a:off x="6638544" y="3291840"/>
            <a:ext cx="2103120" cy="41148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Schema drift</a:t>
            </a:r>
            <a:endParaRPr lang="en-US" sz="1500" dirty="0"/>
          </a:p>
        </p:txBody>
      </p:sp>
      <p:sp>
        <p:nvSpPr>
          <p:cNvPr id="19" name="Text 14"/>
          <p:cNvSpPr txBox="1"/>
          <p:nvPr/>
        </p:nvSpPr>
        <p:spPr>
          <a:xfrm>
            <a:off x="6638544" y="3749040"/>
            <a:ext cx="2103120" cy="1280160"/>
          </a:xfrm>
          <a:prstGeom prst="rect">
            <a:avLst/>
          </a:prstGeom>
          <a:noFill/>
          <a:ln/>
        </p:spPr>
        <p:txBody>
          <a:bodyPr wrap="square" lIns="0" tIns="0" rIns="0" bIns="0" rtlCol="0" anchor="ctr"/>
          <a:lstStyle/>
          <a:p>
            <a:pPr indent="0" marL="0">
              <a:lnSpc>
                <a:spcPct val="120000"/>
              </a:lnSpc>
              <a:buNone/>
            </a:pPr>
            <a:r>
              <a:rPr lang="en-US" sz="1150" dirty="0">
                <a:solidFill>
                  <a:srgbClr val="8A97A6"/>
                </a:solidFill>
                <a:latin typeface="Calibri" pitchFamily="34" charset="0"/>
                <a:ea typeface="Calibri" pitchFamily="34" charset="-122"/>
                <a:cs typeface="Calibri" pitchFamily="34" charset="-120"/>
              </a:rPr>
              <a:t>Upstream renames a column on a Friday. Downstream finds out on Monday morning.</a:t>
            </a:r>
            <a:endParaRPr lang="en-US" sz="1150" dirty="0"/>
          </a:p>
        </p:txBody>
      </p:sp>
      <p:sp>
        <p:nvSpPr>
          <p:cNvPr id="20" name="Shape 15"/>
          <p:cNvSpPr/>
          <p:nvPr/>
        </p:nvSpPr>
        <p:spPr>
          <a:xfrm>
            <a:off x="9272016" y="2286000"/>
            <a:ext cx="2651760" cy="292608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21" name="Shape 16"/>
          <p:cNvSpPr/>
          <p:nvPr/>
        </p:nvSpPr>
        <p:spPr>
          <a:xfrm>
            <a:off x="9546336" y="2560320"/>
            <a:ext cx="566928" cy="566928"/>
          </a:xfrm>
          <a:prstGeom prst="ellipse">
            <a:avLst/>
          </a:prstGeom>
          <a:solidFill>
            <a:srgbClr val="4FD1C5"/>
          </a:solidFill>
          <a:ln/>
        </p:spPr>
        <p:txBody>
          <a:bodyPr/>
          <a:p/>
        </p:txBody>
      </p:sp>
      <p:pic>
        <p:nvPicPr>
          <p:cNvPr id="22" name="Image 3" descr="/home/claude/assets/icons/trenddown.png">    </p:cNvPr>
          <p:cNvPicPr>
            <a:picLocks noChangeAspect="1"/>
          </p:cNvPicPr>
          <p:nvPr/>
        </p:nvPicPr>
        <p:blipFill>
          <a:blip r:embed="rId4"/>
          <a:stretch>
            <a:fillRect/>
          </a:stretch>
        </p:blipFill>
        <p:spPr>
          <a:xfrm>
            <a:off x="9625706" y="2639690"/>
            <a:ext cx="408188" cy="408188"/>
          </a:xfrm>
          <a:prstGeom prst="rect">
            <a:avLst/>
          </a:prstGeom>
        </p:spPr>
      </p:pic>
      <p:sp>
        <p:nvSpPr>
          <p:cNvPr id="23" name="Text 17"/>
          <p:cNvSpPr txBox="1"/>
          <p:nvPr/>
        </p:nvSpPr>
        <p:spPr>
          <a:xfrm>
            <a:off x="9546336" y="3291840"/>
            <a:ext cx="2103120" cy="41148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Volume anomalies</a:t>
            </a:r>
            <a:endParaRPr lang="en-US" sz="1500" dirty="0"/>
          </a:p>
        </p:txBody>
      </p:sp>
      <p:sp>
        <p:nvSpPr>
          <p:cNvPr id="24" name="Text 18"/>
          <p:cNvSpPr txBox="1"/>
          <p:nvPr/>
        </p:nvSpPr>
        <p:spPr>
          <a:xfrm>
            <a:off x="9546336" y="3749040"/>
            <a:ext cx="2103120" cy="1280160"/>
          </a:xfrm>
          <a:prstGeom prst="rect">
            <a:avLst/>
          </a:prstGeom>
          <a:noFill/>
          <a:ln/>
        </p:spPr>
        <p:txBody>
          <a:bodyPr wrap="square" lIns="0" tIns="0" rIns="0" bIns="0" rtlCol="0" anchor="ctr"/>
          <a:lstStyle/>
          <a:p>
            <a:pPr indent="0" marL="0">
              <a:lnSpc>
                <a:spcPct val="120000"/>
              </a:lnSpc>
              <a:buNone/>
            </a:pPr>
            <a:r>
              <a:rPr lang="en-US" sz="1150" dirty="0">
                <a:solidFill>
                  <a:srgbClr val="8A97A6"/>
                </a:solidFill>
                <a:latin typeface="Calibri" pitchFamily="34" charset="0"/>
                <a:ea typeface="Calibri" pitchFamily="34" charset="-122"/>
                <a:cs typeface="Calibri" pitchFamily="34" charset="-120"/>
              </a:rPr>
              <a:t>A feed comes in 40% light. Nobody notices until a dashboard looks off and someone asks why.</a:t>
            </a:r>
            <a:endParaRPr lang="en-US" sz="1150" dirty="0"/>
          </a:p>
        </p:txBody>
      </p:sp>
      <p:sp>
        <p:nvSpPr>
          <p:cNvPr id="25" name="Shape 19"/>
          <p:cNvSpPr/>
          <p:nvPr/>
        </p:nvSpPr>
        <p:spPr>
          <a:xfrm>
            <a:off x="548640" y="5440680"/>
            <a:ext cx="11091672" cy="777240"/>
          </a:xfrm>
          <a:prstGeom prst="roundRect">
            <a:avLst>
              <a:gd name="adj" fmla="val 10588"/>
            </a:avLst>
          </a:prstGeom>
          <a:solidFill>
            <a:srgbClr val="212C39"/>
          </a:solidFill>
          <a:ln/>
        </p:spPr>
        <p:txBody>
          <a:bodyPr/>
          <a:p/>
        </p:txBody>
      </p:sp>
      <p:sp>
        <p:nvSpPr>
          <p:cNvPr id="26" name="Text 20"/>
          <p:cNvSpPr txBox="1"/>
          <p:nvPr/>
        </p:nvSpPr>
        <p:spPr>
          <a:xfrm>
            <a:off x="822960" y="5440680"/>
            <a:ext cx="10515600" cy="777240"/>
          </a:xfrm>
          <a:prstGeom prst="rect">
            <a:avLst/>
          </a:prstGeom>
          <a:noFill/>
          <a:ln/>
        </p:spPr>
        <p:txBody>
          <a:bodyPr wrap="square" lIns="0" tIns="0" rIns="0" bIns="0" rtlCol="0" anchor="ctr"/>
          <a:lstStyle/>
          <a:p>
            <a:pPr indent="0" marL="0">
              <a:lnSpc>
                <a:spcPct val="120000"/>
              </a:lnSpc>
              <a:buNone/>
            </a:pPr>
            <a:r>
              <a:rPr lang="en-US" sz="1200" b="1" dirty="0">
                <a:solidFill>
                  <a:srgbClr val="4FD1C5"/>
                </a:solidFill>
                <a:latin typeface="Calibri" pitchFamily="34" charset="0"/>
                <a:ea typeface="Calibri" pitchFamily="34" charset="-122"/>
                <a:cs typeface="Calibri" pitchFamily="34" charset="-120"/>
              </a:rPr>
              <a:t>What I have tried before: </a:t>
            </a:r>
            <a:pPr indent="0" marL="0">
              <a:lnSpc>
                <a:spcPct val="120000"/>
              </a:lnSpc>
              <a:buNone/>
            </a:pPr>
            <a:r>
              <a:rPr lang="en-US" sz="1200" dirty="0">
                <a:solidFill>
                  <a:srgbClr val="EEF2F6"/>
                </a:solidFill>
                <a:latin typeface="Calibri" pitchFamily="34" charset="0"/>
                <a:ea typeface="Calibri" pitchFamily="34" charset="-122"/>
                <a:cs typeface="Calibri" pitchFamily="34" charset="-120"/>
              </a:rPr>
              <a:t>dashboards tell you something is off but not why. A chatbot over the runbooks can explain an error but cannot go look at the pipeline. One big agent with every job in its prompt was impossible to debug.</a:t>
            </a:r>
            <a:endParaRPr lang="en-US" sz="1200" dirty="0"/>
          </a:p>
        </p:txBody>
      </p:sp>
      <p:sp>
        <p:nvSpPr>
          <p:cNvPr id="27" name="Text 21"/>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28" name="Text 22"/>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4FD1C5"/>
                </a:solidFill>
                <a:latin typeface="Courier New" pitchFamily="34" charset="0"/>
                <a:ea typeface="Courier New" pitchFamily="34" charset="-122"/>
                <a:cs typeface="Courier New" pitchFamily="34" charset="-120"/>
              </a:rPr>
              <a:t>OBJECTIVES &amp; SCOPE</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What I wanted it to do</a:t>
            </a:r>
            <a:endParaRPr lang="en-US" sz="3000" dirty="0"/>
          </a:p>
        </p:txBody>
      </p:sp>
      <p:sp>
        <p:nvSpPr>
          <p:cNvPr id="4" name="Shape 2"/>
          <p:cNvSpPr/>
          <p:nvPr/>
        </p:nvSpPr>
        <p:spPr>
          <a:xfrm>
            <a:off x="548640" y="1600200"/>
            <a:ext cx="6675120" cy="4572000"/>
          </a:xfrm>
          <a:prstGeom prst="roundRect">
            <a:avLst>
              <a:gd name="adj" fmla="val 1800"/>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5" name="Text 3"/>
          <p:cNvSpPr txBox="1"/>
          <p:nvPr/>
        </p:nvSpPr>
        <p:spPr>
          <a:xfrm>
            <a:off x="822960" y="1828800"/>
            <a:ext cx="5486400" cy="274320"/>
          </a:xfrm>
          <a:prstGeom prst="rect">
            <a:avLst/>
          </a:prstGeom>
          <a:noFill/>
          <a:ln/>
        </p:spPr>
        <p:txBody>
          <a:bodyPr wrap="square" lIns="0" tIns="0" rIns="0" bIns="0" rtlCol="0" anchor="ctr"/>
          <a:lstStyle/>
          <a:p>
            <a:pPr indent="0" marL="0">
              <a:buNone/>
            </a:pPr>
            <a:r>
              <a:rPr lang="en-US" sz="1050" b="1" spc="150" kern="0" dirty="0">
                <a:solidFill>
                  <a:srgbClr val="F5A623"/>
                </a:solidFill>
                <a:latin typeface="Courier New" pitchFamily="34" charset="0"/>
                <a:ea typeface="Courier New" pitchFamily="34" charset="-122"/>
                <a:cs typeface="Courier New" pitchFamily="34" charset="-120"/>
              </a:rPr>
              <a:t>OBJECTIVES</a:t>
            </a:r>
            <a:endParaRPr lang="en-US" sz="1050" dirty="0"/>
          </a:p>
        </p:txBody>
      </p:sp>
      <p:sp>
        <p:nvSpPr>
          <p:cNvPr id="6" name="Text 4"/>
          <p:cNvSpPr txBox="1"/>
          <p:nvPr/>
        </p:nvSpPr>
        <p:spPr>
          <a:xfrm>
            <a:off x="822960" y="2194560"/>
            <a:ext cx="6126480" cy="384048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250" dirty="0">
                <a:solidFill>
                  <a:srgbClr val="EEF2F6"/>
                </a:solidFill>
                <a:latin typeface="Calibri" pitchFamily="34" charset="0"/>
                <a:ea typeface="Calibri" pitchFamily="34" charset="-122"/>
                <a:cs typeface="Calibri" pitchFamily="34" charset="-120"/>
              </a:rPr>
              <a:t>Catch all four failure types on a schedule, or whenever I ask it a question.</a:t>
            </a:r>
            <a:endParaRPr lang="en-US" sz="1250" dirty="0"/>
          </a:p>
          <a:p>
            <a:pPr marL="177800" indent="-177800">
              <a:lnSpc>
                <a:spcPct val="115000"/>
              </a:lnSpc>
              <a:spcAft>
                <a:spcPts val="700"/>
              </a:spcAft>
              <a:buSzPct val="100000"/>
              <a:buChar char="•"/>
            </a:pPr>
            <a:r>
              <a:rPr lang="en-US" sz="1250" dirty="0">
                <a:solidFill>
                  <a:srgbClr val="EEF2F6"/>
                </a:solidFill>
                <a:latin typeface="Calibri" pitchFamily="34" charset="0"/>
                <a:ea typeface="Calibri" pitchFamily="34" charset="-122"/>
                <a:cs typeface="Calibri" pitchFamily="34" charset="-120"/>
              </a:rPr>
              <a:t>Investigate with specialist agents that read live pipeline metadata through tools, not hardcoded API clients.</a:t>
            </a:r>
            <a:endParaRPr lang="en-US" sz="1250" dirty="0"/>
          </a:p>
          <a:p>
            <a:pPr marL="177800" indent="-177800">
              <a:lnSpc>
                <a:spcPct val="115000"/>
              </a:lnSpc>
              <a:spcAft>
                <a:spcPts val="700"/>
              </a:spcAft>
              <a:buSzPct val="100000"/>
              <a:buChar char="•"/>
            </a:pPr>
            <a:r>
              <a:rPr lang="en-US" sz="1250" dirty="0">
                <a:solidFill>
                  <a:srgbClr val="EEF2F6"/>
                </a:solidFill>
                <a:latin typeface="Calibri" pitchFamily="34" charset="0"/>
                <a:ea typeface="Calibri" pitchFamily="34" charset="-122"/>
                <a:cs typeface="Calibri" pitchFamily="34" charset="-120"/>
              </a:rPr>
              <a:t>Ground every conclusion in the runbooks, schema docs, and old incident write-ups I would normally pull up myself.</a:t>
            </a:r>
            <a:endParaRPr lang="en-US" sz="1250" dirty="0"/>
          </a:p>
          <a:p>
            <a:pPr marL="177800" indent="-177800">
              <a:lnSpc>
                <a:spcPct val="115000"/>
              </a:lnSpc>
              <a:spcAft>
                <a:spcPts val="700"/>
              </a:spcAft>
              <a:buSzPct val="100000"/>
              <a:buChar char="•"/>
            </a:pPr>
            <a:r>
              <a:rPr lang="en-US" sz="1250" dirty="0">
                <a:solidFill>
                  <a:srgbClr val="EEF2F6"/>
                </a:solidFill>
                <a:latin typeface="Calibri" pitchFamily="34" charset="0"/>
                <a:ea typeface="Calibri" pitchFamily="34" charset="-122"/>
                <a:cs typeface="Calibri" pitchFamily="34" charset="-120"/>
              </a:rPr>
              <a:t>Hand me a structured incident report: what broke, how many records, the likely root cause, a suggested fix.</a:t>
            </a:r>
            <a:endParaRPr lang="en-US" sz="1250" dirty="0"/>
          </a:p>
          <a:p>
            <a:pPr marL="177800" indent="-177800">
              <a:lnSpc>
                <a:spcPct val="115000"/>
              </a:lnSpc>
              <a:spcAft>
                <a:spcPts val="700"/>
              </a:spcAft>
              <a:buSzPct val="100000"/>
              <a:buChar char="•"/>
            </a:pPr>
            <a:r>
              <a:rPr lang="en-US" sz="1250" dirty="0">
                <a:solidFill>
                  <a:srgbClr val="EEF2F6"/>
                </a:solidFill>
                <a:latin typeface="Calibri" pitchFamily="34" charset="0"/>
                <a:ea typeface="Calibri" pitchFamily="34" charset="-122"/>
                <a:cs typeface="Calibri" pitchFamily="34" charset="-120"/>
              </a:rPr>
              <a:t>When it is not sure, stop and ask me instead of guessing.</a:t>
            </a:r>
            <a:endParaRPr lang="en-US" sz="1250" dirty="0"/>
          </a:p>
          <a:p>
            <a:pPr marL="177800" indent="-177800">
              <a:lnSpc>
                <a:spcPct val="115000"/>
              </a:lnSpc>
              <a:spcAft>
                <a:spcPts val="700"/>
              </a:spcAft>
              <a:buSzPct val="100000"/>
              <a:buChar char="•"/>
            </a:pPr>
            <a:r>
              <a:rPr lang="en-US" sz="1250" dirty="0">
                <a:solidFill>
                  <a:srgbClr val="EEF2F6"/>
                </a:solidFill>
                <a:latin typeface="Calibri" pitchFamily="34" charset="0"/>
                <a:ea typeface="Calibri" pitchFamily="34" charset="-122"/>
                <a:cs typeface="Calibri" pitchFamily="34" charset="-120"/>
              </a:rPr>
              <a:t>Trace every LLM and tool call so I can audit any answer after the fact.</a:t>
            </a:r>
            <a:endParaRPr lang="en-US" sz="1250" dirty="0"/>
          </a:p>
          <a:p>
            <a:pPr marL="177800" indent="-177800">
              <a:lnSpc>
                <a:spcPct val="115000"/>
              </a:lnSpc>
              <a:spcAft>
                <a:spcPts val="700"/>
              </a:spcAft>
              <a:buSzPct val="100000"/>
              <a:buChar char="•"/>
            </a:pPr>
            <a:r>
              <a:rPr lang="en-US" sz="1250" dirty="0">
                <a:solidFill>
                  <a:srgbClr val="EEF2F6"/>
                </a:solidFill>
                <a:latin typeface="Calibri" pitchFamily="34" charset="0"/>
                <a:ea typeface="Calibri" pitchFamily="34" charset="-122"/>
                <a:cs typeface="Calibri" pitchFamily="34" charset="-120"/>
              </a:rPr>
              <a:t>Keep the agents domain-agnostic so I can point the same system at a different problem later.</a:t>
            </a:r>
            <a:endParaRPr lang="en-US" sz="1250" dirty="0"/>
          </a:p>
        </p:txBody>
      </p:sp>
      <p:sp>
        <p:nvSpPr>
          <p:cNvPr id="7" name="Shape 5"/>
          <p:cNvSpPr/>
          <p:nvPr/>
        </p:nvSpPr>
        <p:spPr>
          <a:xfrm>
            <a:off x="7498080" y="1600200"/>
            <a:ext cx="4142232" cy="4572000"/>
          </a:xfrm>
          <a:prstGeom prst="roundRect">
            <a:avLst>
              <a:gd name="adj" fmla="val 1987"/>
            </a:avLst>
          </a:prstGeom>
          <a:solidFill>
            <a:srgbClr val="212C39"/>
          </a:solidFill>
          <a:ln/>
          <a:effectLst>
            <a:outerShdw sx="100000" sy="100000" kx="0" ky="0" algn="bl" rotWithShape="0" blurRad="101600" dist="25400" dir="5400000">
              <a:srgbClr val="000000">
                <a:alpha val="35000"/>
              </a:srgbClr>
            </a:outerShdw>
          </a:effectLst>
        </p:spPr>
        <p:txBody>
          <a:bodyPr/>
          <a:p/>
        </p:txBody>
      </p:sp>
      <p:sp>
        <p:nvSpPr>
          <p:cNvPr id="8" name="Shape 6"/>
          <p:cNvSpPr/>
          <p:nvPr/>
        </p:nvSpPr>
        <p:spPr>
          <a:xfrm>
            <a:off x="7772400" y="1828800"/>
            <a:ext cx="502920" cy="502920"/>
          </a:xfrm>
          <a:prstGeom prst="ellipse">
            <a:avLst/>
          </a:prstGeom>
          <a:solidFill>
            <a:srgbClr val="F5A623"/>
          </a:solidFill>
          <a:ln/>
        </p:spPr>
        <p:txBody>
          <a:bodyPr/>
          <a:p/>
        </p:txBody>
      </p:sp>
      <p:pic>
        <p:nvPicPr>
          <p:cNvPr id="9" name="Image 0" descr="/home/claude/assets/icons/shield.png">    </p:cNvPr>
          <p:cNvPicPr>
            <a:picLocks noChangeAspect="1"/>
          </p:cNvPicPr>
          <p:nvPr/>
        </p:nvPicPr>
        <p:blipFill>
          <a:blip r:embed="rId1"/>
          <a:stretch>
            <a:fillRect/>
          </a:stretch>
        </p:blipFill>
        <p:spPr>
          <a:xfrm>
            <a:off x="7842809" y="1899209"/>
            <a:ext cx="362102" cy="362102"/>
          </a:xfrm>
          <a:prstGeom prst="rect">
            <a:avLst/>
          </a:prstGeom>
        </p:spPr>
      </p:pic>
      <p:sp>
        <p:nvSpPr>
          <p:cNvPr id="10" name="Text 7"/>
          <p:cNvSpPr txBox="1"/>
          <p:nvPr/>
        </p:nvSpPr>
        <p:spPr>
          <a:xfrm>
            <a:off x="8412480" y="1828800"/>
            <a:ext cx="3108960" cy="50292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Scope &amp; constraints</a:t>
            </a:r>
            <a:endParaRPr lang="en-US" sz="1500" dirty="0"/>
          </a:p>
        </p:txBody>
      </p:sp>
      <p:sp>
        <p:nvSpPr>
          <p:cNvPr id="11" name="Text 8"/>
          <p:cNvSpPr txBox="1"/>
          <p:nvPr/>
        </p:nvSpPr>
        <p:spPr>
          <a:xfrm>
            <a:off x="7772400" y="2514600"/>
            <a:ext cx="3611880" cy="356616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Synthetic data only. A seeded generator mimics the shape of real reconciliation problems; nothing from any employer or client.</a:t>
            </a:r>
            <a:endParaRPr lang="en-US" sz="1150" dirty="0"/>
          </a:p>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Zero-cost demo mode: local Ollama plus sentence-transformers behind a provider fallback chain.</a:t>
            </a:r>
            <a:endParaRPr lang="en-US" sz="1150" dirty="0"/>
          </a:p>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Solo build, in phases, with tests gating each phase before the next starts.</a:t>
            </a:r>
            <a:endParaRPr lang="en-US" sz="1150" dirty="0"/>
          </a:p>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Not in scope: streaming ingestion, multi-tenant auth, production SLAs.</a:t>
            </a:r>
            <a:endParaRPr lang="en-US" sz="1150" dirty="0"/>
          </a:p>
        </p:txBody>
      </p:sp>
      <p:sp>
        <p:nvSpPr>
          <p:cNvPr id="12" name="Text 9"/>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13" name="Text 10"/>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COURSE CONCEPTS APPLIED</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Where each course module shows up in the build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194560"/>
                <a:gridCol w="3657600"/>
                <a:gridCol w="5239512"/>
              </a:tblGrid>
              <a:tr h="512064">
                <a:tc>
                  <a:txBody>
                    <a:bodyPr/>
                    <a:lstStyle/>
                    <a:p>
                      <a:pPr algn="l" indent="0" marL="0">
                        <a:buNone/>
                      </a:pPr>
                      <a:r>
                        <a:rPr lang="en-US" sz="1050" b="1" dirty="0">
                          <a:solidFill>
                            <a:srgbClr val="F5A623"/>
                          </a:solidFill>
                          <a:latin typeface="Courier New" pitchFamily="34" charset="0"/>
                          <a:ea typeface="Courier New" pitchFamily="34" charset="-122"/>
                          <a:cs typeface="Courier New" pitchFamily="34" charset="-120"/>
                        </a:rPr>
                        <a:t>Module</a:t>
                      </a:r>
                      <a:endParaRPr lang="en-US" sz="1050" dirty="0">
                        <a:latin typeface="Courier New" charset="0"/>
                        <a:ea typeface="Courier New" charset="0"/>
                        <a:cs typeface="Courier New"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212C39"/>
                    </a:solidFill>
                  </a:tcPr>
                </a:tc>
                <a:tc>
                  <a:txBody>
                    <a:bodyPr/>
                    <a:lstStyle/>
                    <a:p>
                      <a:pPr algn="l" indent="0" marL="0">
                        <a:buNone/>
                      </a:pPr>
                      <a:r>
                        <a:rPr lang="en-US" sz="1050" b="1" dirty="0">
                          <a:solidFill>
                            <a:srgbClr val="F5A623"/>
                          </a:solidFill>
                          <a:latin typeface="Courier New" pitchFamily="34" charset="0"/>
                          <a:ea typeface="Courier New" pitchFamily="34" charset="-122"/>
                          <a:cs typeface="Courier New" pitchFamily="34" charset="-120"/>
                        </a:rPr>
                        <a:t>Concept</a:t>
                      </a:r>
                      <a:endParaRPr lang="en-US" sz="1050" dirty="0">
                        <a:latin typeface="Courier New" charset="0"/>
                        <a:ea typeface="Courier New" charset="0"/>
                        <a:cs typeface="Courier New"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212C39"/>
                    </a:solidFill>
                  </a:tcPr>
                </a:tc>
                <a:tc>
                  <a:txBody>
                    <a:bodyPr/>
                    <a:lstStyle/>
                    <a:p>
                      <a:pPr algn="l" indent="0" marL="0">
                        <a:buNone/>
                      </a:pPr>
                      <a:r>
                        <a:rPr lang="en-US" sz="1050" b="1" dirty="0">
                          <a:solidFill>
                            <a:srgbClr val="F5A623"/>
                          </a:solidFill>
                          <a:latin typeface="Courier New" pitchFamily="34" charset="0"/>
                          <a:ea typeface="Courier New" pitchFamily="34" charset="-122"/>
                          <a:cs typeface="Courier New" pitchFamily="34" charset="-120"/>
                        </a:rPr>
                        <a:t>How I used it</a:t>
                      </a:r>
                      <a:endParaRPr lang="en-US" sz="1050" dirty="0">
                        <a:latin typeface="Courier New" charset="0"/>
                        <a:ea typeface="Courier New" charset="0"/>
                        <a:cs typeface="Courier New"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212C39"/>
                    </a:solidFill>
                  </a:tcPr>
                </a:tc>
              </a:tr>
              <a:tr h="512064">
                <a:tc>
                  <a:txBody>
                    <a:bodyPr/>
                    <a:lstStyle/>
                    <a:p>
                      <a:pPr indent="0" marL="0">
                        <a:buNone/>
                      </a:pPr>
                      <a:r>
                        <a:rPr lang="en-US" sz="1150" b="1" dirty="0">
                          <a:solidFill>
                            <a:srgbClr val="EEF2F6"/>
                          </a:solidFill>
                          <a:latin typeface="Calibri" pitchFamily="34" charset="0"/>
                          <a:ea typeface="Calibri" pitchFamily="34" charset="-122"/>
                          <a:cs typeface="Calibri" pitchFamily="34" charset="-120"/>
                        </a:rPr>
                        <a:t>GenAI foundations</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Prompting, structured output, context windows</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Agent prompts with delimited untrusted context; Pydantic-validated outputs with retry loop</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r>
              <a:tr h="512064">
                <a:tc>
                  <a:txBody>
                    <a:bodyPr/>
                    <a:lstStyle/>
                    <a:p>
                      <a:pPr indent="0" marL="0">
                        <a:buNone/>
                      </a:pPr>
                      <a:r>
                        <a:rPr lang="en-US" sz="1150" b="1" dirty="0">
                          <a:solidFill>
                            <a:srgbClr val="EEF2F6"/>
                          </a:solidFill>
                          <a:latin typeface="Calibri" pitchFamily="34" charset="0"/>
                          <a:ea typeface="Calibri" pitchFamily="34" charset="-122"/>
                          <a:cs typeface="Calibri" pitchFamily="34" charset="-120"/>
                        </a:rPr>
                        <a:t>Models &amp; APIs</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Provider abstraction, fallback, cost awareness</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OpenAI → Anthropic → Ollama fallback chain; provider and token cost logged per call</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r>
              <a:tr h="512064">
                <a:tc>
                  <a:txBody>
                    <a:bodyPr/>
                    <a:lstStyle/>
                    <a:p>
                      <a:pPr indent="0" marL="0">
                        <a:buNone/>
                      </a:pPr>
                      <a:r>
                        <a:rPr lang="en-US" sz="1150" b="1" dirty="0">
                          <a:solidFill>
                            <a:srgbClr val="EEF2F6"/>
                          </a:solidFill>
                          <a:latin typeface="Calibri" pitchFamily="34" charset="0"/>
                          <a:ea typeface="Calibri" pitchFamily="34" charset="-122"/>
                          <a:cs typeface="Calibri" pitchFamily="34" charset="-120"/>
                        </a:rPr>
                        <a:t>LangChain</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Loaders, splitters, retrievers, chains, memory</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Document ingestion of runbooks/YAML; session memory persisted to Postgres</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r>
              <a:tr h="512064">
                <a:tc>
                  <a:txBody>
                    <a:bodyPr/>
                    <a:lstStyle/>
                    <a:p>
                      <a:pPr indent="0" marL="0">
                        <a:buNone/>
                      </a:pPr>
                      <a:r>
                        <a:rPr lang="en-US" sz="1150" b="1" dirty="0">
                          <a:solidFill>
                            <a:srgbClr val="EEF2F6"/>
                          </a:solidFill>
                          <a:latin typeface="Calibri" pitchFamily="34" charset="0"/>
                          <a:ea typeface="Calibri" pitchFamily="34" charset="-122"/>
                          <a:cs typeface="Calibri" pitchFamily="34" charset="-120"/>
                        </a:rPr>
                        <a:t>RAG systems</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Chunking, BM25 + dense hybrid, RRF, RAGAS evaluation</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Hybrid retriever over FAISS/Pinecone; golden set with RAGAS gate in CI</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r>
              <a:tr h="512064">
                <a:tc>
                  <a:txBody>
                    <a:bodyPr/>
                    <a:lstStyle/>
                    <a:p>
                      <a:pPr indent="0" marL="0">
                        <a:buNone/>
                      </a:pPr>
                      <a:r>
                        <a:rPr lang="en-US" sz="1150" b="1" dirty="0">
                          <a:solidFill>
                            <a:srgbClr val="EEF2F6"/>
                          </a:solidFill>
                          <a:latin typeface="Calibri" pitchFamily="34" charset="0"/>
                          <a:ea typeface="Calibri" pitchFamily="34" charset="-122"/>
                          <a:cs typeface="Calibri" pitchFamily="34" charset="-120"/>
                        </a:rPr>
                        <a:t>Agentic AI</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LangGraph StateGraph, conditional edges, checkpoints, multi-agent</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Planner → Reconciliation ∥ Data-Quality → Reporter; human-in-the-loop checkpoint</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r>
              <a:tr h="512064">
                <a:tc>
                  <a:txBody>
                    <a:bodyPr/>
                    <a:lstStyle/>
                    <a:p>
                      <a:pPr indent="0" marL="0">
                        <a:buNone/>
                      </a:pPr>
                      <a:r>
                        <a:rPr lang="en-US" sz="1150" b="1" dirty="0">
                          <a:solidFill>
                            <a:srgbClr val="EEF2F6"/>
                          </a:solidFill>
                          <a:latin typeface="Calibri" pitchFamily="34" charset="0"/>
                          <a:ea typeface="Calibri" pitchFamily="34" charset="-122"/>
                          <a:cs typeface="Calibri" pitchFamily="34" charset="-120"/>
                        </a:rPr>
                        <a:t>MCP</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Host/client/server, JSON-RPC lifecycle, stdio vs HTTP</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Two read-only MCP servers: warehouse-metadata and orchestration-metadata</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r>
              <a:tr h="512064">
                <a:tc>
                  <a:txBody>
                    <a:bodyPr/>
                    <a:lstStyle/>
                    <a:p>
                      <a:pPr indent="0" marL="0">
                        <a:buNone/>
                      </a:pPr>
                      <a:r>
                        <a:rPr lang="en-US" sz="1150" b="1" dirty="0">
                          <a:solidFill>
                            <a:srgbClr val="EEF2F6"/>
                          </a:solidFill>
                          <a:latin typeface="Calibri" pitchFamily="34" charset="0"/>
                          <a:ea typeface="Calibri" pitchFamily="34" charset="-122"/>
                          <a:cs typeface="Calibri" pitchFamily="34" charset="-120"/>
                        </a:rPr>
                        <a:t>Observability &amp; deployment</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LangFuse tracing, FastAPI, Docker, Vercel/Render</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c>
                  <a:txBody>
                    <a:bodyPr/>
                    <a:lstStyle/>
                    <a:p>
                      <a:pPr indent="0" marL="0">
                        <a:buNone/>
                      </a:pPr>
                      <a:r>
                        <a:rPr lang="en-US" sz="1150" dirty="0">
                          <a:solidFill>
                            <a:srgbClr val="EEF2F6"/>
                          </a:solidFill>
                          <a:latin typeface="Calibri" pitchFamily="34" charset="0"/>
                          <a:ea typeface="Calibri" pitchFamily="34" charset="-122"/>
                          <a:cs typeface="Calibri" pitchFamily="34" charset="-120"/>
                        </a:rPr>
                        <a:t>Every step traced; containerized stack; public deployment with CI</a:t>
                      </a:r>
                      <a:endParaRPr lang="en-US" sz="1150" dirty="0">
                        <a:latin typeface="Calibri" charset="0"/>
                        <a:ea typeface="Calibri" charset="0"/>
                        <a:cs typeface="Calibri" charset="0"/>
                      </a:endParaRPr>
                    </a:p>
                  </a:txBody>
                  <a:tcPr marL="101600" marR="101600" marT="50800" marB="50800" anchor="ctr">
                    <a:lnL w="9525" cap="flat" cmpd="sng" algn="ctr">
                      <a:solidFill>
                        <a:srgbClr val="2A3644"/>
                      </a:solidFill>
                      <a:prstDash val="solid"/>
                      <a:round/>
                      <a:headEnd type="none" w="med" len="med"/>
                      <a:tailEnd type="none" w="med" len="med"/>
                    </a:lnL>
                    <a:lnR w="9525" cap="flat" cmpd="sng" algn="ctr">
                      <a:solidFill>
                        <a:srgbClr val="2A3644"/>
                      </a:solidFill>
                      <a:prstDash val="solid"/>
                      <a:round/>
                      <a:headEnd type="none" w="med" len="med"/>
                      <a:tailEnd type="none" w="med" len="med"/>
                    </a:lnR>
                    <a:lnT w="9525" cap="flat" cmpd="sng" algn="ctr">
                      <a:solidFill>
                        <a:srgbClr val="2A3644"/>
                      </a:solidFill>
                      <a:prstDash val="solid"/>
                      <a:round/>
                      <a:headEnd type="none" w="med" len="med"/>
                      <a:tailEnd type="none" w="med" len="med"/>
                    </a:lnT>
                    <a:lnB w="9525" cap="flat" cmpd="sng" algn="ctr">
                      <a:solidFill>
                        <a:srgbClr val="2A3644"/>
                      </a:solidFill>
                      <a:prstDash val="solid"/>
                      <a:round/>
                      <a:headEnd type="none" w="med" len="med"/>
                      <a:tailEnd type="none" w="med" len="med"/>
                    </a:lnB>
                    <a:solidFill>
                      <a:srgbClr val="1B2530"/>
                    </a:solidFill>
                  </a:tcPr>
                </a:tc>
              </a:tr>
            </a:tbl>
          </a:graphicData>
        </a:graphic>
      </p:graphicFrame>
      <p:sp>
        <p:nvSpPr>
          <p:cNvPr id="5" name="Text 2"/>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6" name="Text 3"/>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4FD1C5"/>
                </a:solidFill>
                <a:latin typeface="Courier New" pitchFamily="34" charset="0"/>
                <a:ea typeface="Courier New" pitchFamily="34" charset="-122"/>
                <a:cs typeface="Courier New" pitchFamily="34" charset="-120"/>
              </a:rPr>
              <a:t>SOLUTION OVERVIEW</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2800" b="1" dirty="0">
                <a:solidFill>
                  <a:srgbClr val="EEF2F6"/>
                </a:solidFill>
                <a:latin typeface="Calibri" pitchFamily="34" charset="0"/>
                <a:ea typeface="Calibri" pitchFamily="34" charset="-122"/>
                <a:cs typeface="Calibri" pitchFamily="34" charset="-120"/>
              </a:rPr>
              <a:t>How it fits together</a:t>
            </a:r>
            <a:endParaRPr lang="en-US" sz="2800" dirty="0"/>
          </a:p>
        </p:txBody>
      </p:sp>
      <p:sp>
        <p:nvSpPr>
          <p:cNvPr id="4" name="Shape 2"/>
          <p:cNvSpPr/>
          <p:nvPr/>
        </p:nvSpPr>
        <p:spPr>
          <a:xfrm>
            <a:off x="548640" y="2194560"/>
            <a:ext cx="914400" cy="914400"/>
          </a:xfrm>
          <a:prstGeom prst="ellipse">
            <a:avLst/>
          </a:prstGeom>
          <a:solidFill>
            <a:srgbClr val="F5A623"/>
          </a:solidFill>
          <a:ln/>
        </p:spPr>
        <p:txBody>
          <a:bodyPr/>
          <a:p/>
        </p:txBody>
      </p:sp>
      <p:pic>
        <p:nvPicPr>
          <p:cNvPr id="5" name="Image 0" descr="/home/claude/assets/icons/database.png">    </p:cNvPr>
          <p:cNvPicPr>
            <a:picLocks noChangeAspect="1"/>
          </p:cNvPicPr>
          <p:nvPr/>
        </p:nvPicPr>
        <p:blipFill>
          <a:blip r:embed="rId1"/>
          <a:stretch>
            <a:fillRect/>
          </a:stretch>
        </p:blipFill>
        <p:spPr>
          <a:xfrm>
            <a:off x="676656" y="2322576"/>
            <a:ext cx="658368" cy="658368"/>
          </a:xfrm>
          <a:prstGeom prst="rect">
            <a:avLst/>
          </a:prstGeom>
        </p:spPr>
      </p:pic>
      <p:sp>
        <p:nvSpPr>
          <p:cNvPr id="6" name="Shape 3"/>
          <p:cNvSpPr/>
          <p:nvPr/>
        </p:nvSpPr>
        <p:spPr>
          <a:xfrm>
            <a:off x="1188720" y="2103120"/>
            <a:ext cx="365760" cy="365760"/>
          </a:xfrm>
          <a:prstGeom prst="ellipse">
            <a:avLst/>
          </a:prstGeom>
          <a:solidFill>
            <a:srgbClr val="0D1117"/>
          </a:solidFill>
          <a:ln w="19050">
            <a:solidFill>
              <a:srgbClr val="F5A623"/>
            </a:solidFill>
            <a:prstDash val="solid"/>
          </a:ln>
        </p:spPr>
        <p:txBody>
          <a:bodyPr/>
          <a:p/>
        </p:txBody>
      </p:sp>
      <p:sp>
        <p:nvSpPr>
          <p:cNvPr id="7" name="Text 4"/>
          <p:cNvSpPr txBox="1"/>
          <p:nvPr/>
        </p:nvSpPr>
        <p:spPr>
          <a:xfrm>
            <a:off x="1188720" y="2103120"/>
            <a:ext cx="365760" cy="365760"/>
          </a:xfrm>
          <a:prstGeom prst="rect">
            <a:avLst/>
          </a:prstGeom>
          <a:noFill/>
          <a:ln/>
        </p:spPr>
        <p:txBody>
          <a:bodyPr wrap="square" lIns="0" tIns="0" rIns="0" bIns="0" rtlCol="0" anchor="ctr"/>
          <a:lstStyle/>
          <a:p>
            <a:pPr algn="ctr" indent="0" marL="0">
              <a:buNone/>
            </a:pPr>
            <a:r>
              <a:rPr lang="en-US" sz="1200" b="1" dirty="0">
                <a:solidFill>
                  <a:srgbClr val="F5A623"/>
                </a:solidFill>
                <a:latin typeface="Courier New" pitchFamily="34" charset="0"/>
                <a:ea typeface="Courier New" pitchFamily="34" charset="-122"/>
                <a:cs typeface="Courier New" pitchFamily="34" charset="-120"/>
              </a:rPr>
              <a:t>1</a:t>
            </a:r>
            <a:endParaRPr lang="en-US" sz="1200" dirty="0"/>
          </a:p>
        </p:txBody>
      </p:sp>
      <p:sp>
        <p:nvSpPr>
          <p:cNvPr id="8" name="Text 5"/>
          <p:cNvSpPr txBox="1"/>
          <p:nvPr/>
        </p:nvSpPr>
        <p:spPr>
          <a:xfrm>
            <a:off x="182880" y="3246120"/>
            <a:ext cx="1645920"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Synthetic</a:t>
            </a:r>
            <a:endParaRPr lang="en-US" sz="1200" dirty="0"/>
          </a:p>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pipeline</a:t>
            </a:r>
            <a:endParaRPr lang="en-US" sz="1200" dirty="0"/>
          </a:p>
        </p:txBody>
      </p:sp>
      <p:sp>
        <p:nvSpPr>
          <p:cNvPr id="9" name="Text 6"/>
          <p:cNvSpPr txBox="1"/>
          <p:nvPr/>
        </p:nvSpPr>
        <p:spPr>
          <a:xfrm>
            <a:off x="91440" y="3886200"/>
            <a:ext cx="1828800" cy="548640"/>
          </a:xfrm>
          <a:prstGeom prst="rect">
            <a:avLst/>
          </a:prstGeom>
          <a:noFill/>
          <a:ln/>
        </p:spPr>
        <p:txBody>
          <a:bodyPr wrap="square" lIns="0" tIns="0" rIns="0" bIns="0" rtlCol="0" anchor="ctr"/>
          <a:lstStyle/>
          <a:p>
            <a:pPr algn="ctr" indent="0" marL="0">
              <a:lnSpc>
                <a:spcPct val="110000"/>
              </a:lnSpc>
              <a:buNone/>
            </a:pPr>
            <a:r>
              <a:rPr lang="en-US" sz="950" dirty="0">
                <a:solidFill>
                  <a:srgbClr val="8A97A6"/>
                </a:solidFill>
                <a:latin typeface="Calibri" pitchFamily="34" charset="0"/>
                <a:ea typeface="Calibri" pitchFamily="34" charset="-122"/>
                <a:cs typeface="Calibri" pitchFamily="34" charset="-120"/>
              </a:rPr>
              <a:t>Postgres + audit ledger</a:t>
            </a:r>
            <a:endParaRPr lang="en-US" sz="950" dirty="0"/>
          </a:p>
        </p:txBody>
      </p:sp>
      <p:sp>
        <p:nvSpPr>
          <p:cNvPr id="10" name="Shape 7"/>
          <p:cNvSpPr/>
          <p:nvPr/>
        </p:nvSpPr>
        <p:spPr>
          <a:xfrm>
            <a:off x="1517904" y="2638044"/>
            <a:ext cx="1011326" cy="27432"/>
          </a:xfrm>
          <a:prstGeom prst="rect">
            <a:avLst/>
          </a:prstGeom>
          <a:solidFill>
            <a:srgbClr val="2A3644"/>
          </a:solidFill>
          <a:ln/>
        </p:spPr>
        <p:txBody>
          <a:bodyPr/>
          <a:p/>
        </p:txBody>
      </p:sp>
      <p:sp>
        <p:nvSpPr>
          <p:cNvPr id="11" name="Shape 8"/>
          <p:cNvSpPr/>
          <p:nvPr/>
        </p:nvSpPr>
        <p:spPr>
          <a:xfrm>
            <a:off x="2584094" y="2194560"/>
            <a:ext cx="914400" cy="914400"/>
          </a:xfrm>
          <a:prstGeom prst="ellipse">
            <a:avLst/>
          </a:prstGeom>
          <a:solidFill>
            <a:srgbClr val="4FD1C5"/>
          </a:solidFill>
          <a:ln/>
        </p:spPr>
        <p:txBody>
          <a:bodyPr/>
          <a:p/>
        </p:txBody>
      </p:sp>
      <p:pic>
        <p:nvPicPr>
          <p:cNvPr id="12" name="Image 1" descr="/home/claude/assets/icons/share.png">    </p:cNvPr>
          <p:cNvPicPr>
            <a:picLocks noChangeAspect="1"/>
          </p:cNvPicPr>
          <p:nvPr/>
        </p:nvPicPr>
        <p:blipFill>
          <a:blip r:embed="rId2"/>
          <a:stretch>
            <a:fillRect/>
          </a:stretch>
        </p:blipFill>
        <p:spPr>
          <a:xfrm>
            <a:off x="2712110" y="2322576"/>
            <a:ext cx="658368" cy="658368"/>
          </a:xfrm>
          <a:prstGeom prst="rect">
            <a:avLst/>
          </a:prstGeom>
        </p:spPr>
      </p:pic>
      <p:sp>
        <p:nvSpPr>
          <p:cNvPr id="13" name="Shape 9"/>
          <p:cNvSpPr/>
          <p:nvPr/>
        </p:nvSpPr>
        <p:spPr>
          <a:xfrm>
            <a:off x="3224174" y="2103120"/>
            <a:ext cx="365760" cy="365760"/>
          </a:xfrm>
          <a:prstGeom prst="ellipse">
            <a:avLst/>
          </a:prstGeom>
          <a:solidFill>
            <a:srgbClr val="0D1117"/>
          </a:solidFill>
          <a:ln w="19050">
            <a:solidFill>
              <a:srgbClr val="4FD1C5"/>
            </a:solidFill>
            <a:prstDash val="solid"/>
          </a:ln>
        </p:spPr>
        <p:txBody>
          <a:bodyPr/>
          <a:p/>
        </p:txBody>
      </p:sp>
      <p:sp>
        <p:nvSpPr>
          <p:cNvPr id="14" name="Text 10"/>
          <p:cNvSpPr txBox="1"/>
          <p:nvPr/>
        </p:nvSpPr>
        <p:spPr>
          <a:xfrm>
            <a:off x="3224174" y="2103120"/>
            <a:ext cx="365760" cy="365760"/>
          </a:xfrm>
          <a:prstGeom prst="rect">
            <a:avLst/>
          </a:prstGeom>
          <a:noFill/>
          <a:ln/>
        </p:spPr>
        <p:txBody>
          <a:bodyPr wrap="square" lIns="0" tIns="0" rIns="0" bIns="0" rtlCol="0" anchor="ctr"/>
          <a:lstStyle/>
          <a:p>
            <a:pPr algn="ctr" indent="0" marL="0">
              <a:buNone/>
            </a:pPr>
            <a:r>
              <a:rPr lang="en-US" sz="1200" b="1" dirty="0">
                <a:solidFill>
                  <a:srgbClr val="4FD1C5"/>
                </a:solidFill>
                <a:latin typeface="Courier New" pitchFamily="34" charset="0"/>
                <a:ea typeface="Courier New" pitchFamily="34" charset="-122"/>
                <a:cs typeface="Courier New" pitchFamily="34" charset="-120"/>
              </a:rPr>
              <a:t>2</a:t>
            </a:r>
            <a:endParaRPr lang="en-US" sz="1200" dirty="0"/>
          </a:p>
        </p:txBody>
      </p:sp>
      <p:sp>
        <p:nvSpPr>
          <p:cNvPr id="15" name="Text 11"/>
          <p:cNvSpPr txBox="1"/>
          <p:nvPr/>
        </p:nvSpPr>
        <p:spPr>
          <a:xfrm>
            <a:off x="2218334" y="3246120"/>
            <a:ext cx="1645920"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MCP servers +</a:t>
            </a:r>
            <a:endParaRPr lang="en-US" sz="1200" dirty="0"/>
          </a:p>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vector store</a:t>
            </a:r>
            <a:endParaRPr lang="en-US" sz="1200" dirty="0"/>
          </a:p>
        </p:txBody>
      </p:sp>
      <p:sp>
        <p:nvSpPr>
          <p:cNvPr id="16" name="Text 12"/>
          <p:cNvSpPr txBox="1"/>
          <p:nvPr/>
        </p:nvSpPr>
        <p:spPr>
          <a:xfrm>
            <a:off x="2126894" y="3886200"/>
            <a:ext cx="1828800" cy="548640"/>
          </a:xfrm>
          <a:prstGeom prst="rect">
            <a:avLst/>
          </a:prstGeom>
          <a:noFill/>
          <a:ln/>
        </p:spPr>
        <p:txBody>
          <a:bodyPr wrap="square" lIns="0" tIns="0" rIns="0" bIns="0" rtlCol="0" anchor="ctr"/>
          <a:lstStyle/>
          <a:p>
            <a:pPr algn="ctr" indent="0" marL="0">
              <a:lnSpc>
                <a:spcPct val="110000"/>
              </a:lnSpc>
              <a:buNone/>
            </a:pPr>
            <a:r>
              <a:rPr lang="en-US" sz="950" dirty="0">
                <a:solidFill>
                  <a:srgbClr val="8A97A6"/>
                </a:solidFill>
                <a:latin typeface="Calibri" pitchFamily="34" charset="0"/>
                <a:ea typeface="Calibri" pitchFamily="34" charset="-122"/>
                <a:cs typeface="Calibri" pitchFamily="34" charset="-120"/>
              </a:rPr>
              <a:t>schema, DAG runs, docs</a:t>
            </a:r>
            <a:endParaRPr lang="en-US" sz="950" dirty="0"/>
          </a:p>
        </p:txBody>
      </p:sp>
      <p:sp>
        <p:nvSpPr>
          <p:cNvPr id="17" name="Shape 13"/>
          <p:cNvSpPr/>
          <p:nvPr/>
        </p:nvSpPr>
        <p:spPr>
          <a:xfrm>
            <a:off x="3553358" y="2638044"/>
            <a:ext cx="1011326" cy="27432"/>
          </a:xfrm>
          <a:prstGeom prst="rect">
            <a:avLst/>
          </a:prstGeom>
          <a:solidFill>
            <a:srgbClr val="2A3644"/>
          </a:solidFill>
          <a:ln/>
        </p:spPr>
        <p:txBody>
          <a:bodyPr/>
          <a:p/>
        </p:txBody>
      </p:sp>
      <p:sp>
        <p:nvSpPr>
          <p:cNvPr id="18" name="Shape 14"/>
          <p:cNvSpPr/>
          <p:nvPr/>
        </p:nvSpPr>
        <p:spPr>
          <a:xfrm>
            <a:off x="4619549" y="2194560"/>
            <a:ext cx="914400" cy="914400"/>
          </a:xfrm>
          <a:prstGeom prst="ellipse">
            <a:avLst/>
          </a:prstGeom>
          <a:solidFill>
            <a:srgbClr val="F5A623"/>
          </a:solidFill>
          <a:ln/>
        </p:spPr>
        <p:txBody>
          <a:bodyPr/>
          <a:p/>
        </p:txBody>
      </p:sp>
      <p:pic>
        <p:nvPicPr>
          <p:cNvPr id="19" name="Image 2" descr="/home/claude/assets/icons/cpu.png">    </p:cNvPr>
          <p:cNvPicPr>
            <a:picLocks noChangeAspect="1"/>
          </p:cNvPicPr>
          <p:nvPr/>
        </p:nvPicPr>
        <p:blipFill>
          <a:blip r:embed="rId3"/>
          <a:stretch>
            <a:fillRect/>
          </a:stretch>
        </p:blipFill>
        <p:spPr>
          <a:xfrm>
            <a:off x="4747565" y="2322576"/>
            <a:ext cx="658368" cy="658368"/>
          </a:xfrm>
          <a:prstGeom prst="rect">
            <a:avLst/>
          </a:prstGeom>
        </p:spPr>
      </p:pic>
      <p:sp>
        <p:nvSpPr>
          <p:cNvPr id="20" name="Shape 15"/>
          <p:cNvSpPr/>
          <p:nvPr/>
        </p:nvSpPr>
        <p:spPr>
          <a:xfrm>
            <a:off x="5259629" y="2103120"/>
            <a:ext cx="365760" cy="365760"/>
          </a:xfrm>
          <a:prstGeom prst="ellipse">
            <a:avLst/>
          </a:prstGeom>
          <a:solidFill>
            <a:srgbClr val="0D1117"/>
          </a:solidFill>
          <a:ln w="19050">
            <a:solidFill>
              <a:srgbClr val="F5A623"/>
            </a:solidFill>
            <a:prstDash val="solid"/>
          </a:ln>
        </p:spPr>
        <p:txBody>
          <a:bodyPr/>
          <a:p/>
        </p:txBody>
      </p:sp>
      <p:sp>
        <p:nvSpPr>
          <p:cNvPr id="21" name="Text 16"/>
          <p:cNvSpPr txBox="1"/>
          <p:nvPr/>
        </p:nvSpPr>
        <p:spPr>
          <a:xfrm>
            <a:off x="5259629" y="2103120"/>
            <a:ext cx="365760" cy="365760"/>
          </a:xfrm>
          <a:prstGeom prst="rect">
            <a:avLst/>
          </a:prstGeom>
          <a:noFill/>
          <a:ln/>
        </p:spPr>
        <p:txBody>
          <a:bodyPr wrap="square" lIns="0" tIns="0" rIns="0" bIns="0" rtlCol="0" anchor="ctr"/>
          <a:lstStyle/>
          <a:p>
            <a:pPr algn="ctr" indent="0" marL="0">
              <a:buNone/>
            </a:pPr>
            <a:r>
              <a:rPr lang="en-US" sz="1200" b="1" dirty="0">
                <a:solidFill>
                  <a:srgbClr val="F5A623"/>
                </a:solidFill>
                <a:latin typeface="Courier New" pitchFamily="34" charset="0"/>
                <a:ea typeface="Courier New" pitchFamily="34" charset="-122"/>
                <a:cs typeface="Courier New" pitchFamily="34" charset="-120"/>
              </a:rPr>
              <a:t>3</a:t>
            </a:r>
            <a:endParaRPr lang="en-US" sz="1200" dirty="0"/>
          </a:p>
        </p:txBody>
      </p:sp>
      <p:sp>
        <p:nvSpPr>
          <p:cNvPr id="22" name="Text 17"/>
          <p:cNvSpPr txBox="1"/>
          <p:nvPr/>
        </p:nvSpPr>
        <p:spPr>
          <a:xfrm>
            <a:off x="4253789" y="3246120"/>
            <a:ext cx="1645920"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LangGraph</a:t>
            </a:r>
            <a:endParaRPr lang="en-US" sz="1200" dirty="0"/>
          </a:p>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4 agents</a:t>
            </a:r>
            <a:endParaRPr lang="en-US" sz="1200" dirty="0"/>
          </a:p>
        </p:txBody>
      </p:sp>
      <p:sp>
        <p:nvSpPr>
          <p:cNvPr id="23" name="Text 18"/>
          <p:cNvSpPr txBox="1"/>
          <p:nvPr/>
        </p:nvSpPr>
        <p:spPr>
          <a:xfrm>
            <a:off x="4162349" y="3886200"/>
            <a:ext cx="1828800" cy="548640"/>
          </a:xfrm>
          <a:prstGeom prst="rect">
            <a:avLst/>
          </a:prstGeom>
          <a:noFill/>
          <a:ln/>
        </p:spPr>
        <p:txBody>
          <a:bodyPr wrap="square" lIns="0" tIns="0" rIns="0" bIns="0" rtlCol="0" anchor="ctr"/>
          <a:lstStyle/>
          <a:p>
            <a:pPr algn="ctr" indent="0" marL="0">
              <a:lnSpc>
                <a:spcPct val="110000"/>
              </a:lnSpc>
              <a:buNone/>
            </a:pPr>
            <a:r>
              <a:rPr lang="en-US" sz="950" dirty="0">
                <a:solidFill>
                  <a:srgbClr val="8A97A6"/>
                </a:solidFill>
                <a:latin typeface="Calibri" pitchFamily="34" charset="0"/>
                <a:ea typeface="Calibri" pitchFamily="34" charset="-122"/>
                <a:cs typeface="Calibri" pitchFamily="34" charset="-120"/>
              </a:rPr>
              <a:t>planner → specialists → reporter</a:t>
            </a:r>
            <a:endParaRPr lang="en-US" sz="950" dirty="0"/>
          </a:p>
        </p:txBody>
      </p:sp>
      <p:sp>
        <p:nvSpPr>
          <p:cNvPr id="24" name="Shape 19"/>
          <p:cNvSpPr/>
          <p:nvPr/>
        </p:nvSpPr>
        <p:spPr>
          <a:xfrm>
            <a:off x="5588813" y="2638044"/>
            <a:ext cx="1011326" cy="27432"/>
          </a:xfrm>
          <a:prstGeom prst="rect">
            <a:avLst/>
          </a:prstGeom>
          <a:solidFill>
            <a:srgbClr val="2A3644"/>
          </a:solidFill>
          <a:ln/>
        </p:spPr>
        <p:txBody>
          <a:bodyPr/>
          <a:p/>
        </p:txBody>
      </p:sp>
      <p:sp>
        <p:nvSpPr>
          <p:cNvPr id="25" name="Shape 20"/>
          <p:cNvSpPr/>
          <p:nvPr/>
        </p:nvSpPr>
        <p:spPr>
          <a:xfrm>
            <a:off x="6655003" y="2194560"/>
            <a:ext cx="914400" cy="914400"/>
          </a:xfrm>
          <a:prstGeom prst="ellipse">
            <a:avLst/>
          </a:prstGeom>
          <a:solidFill>
            <a:srgbClr val="4FD1C5"/>
          </a:solidFill>
          <a:ln/>
        </p:spPr>
        <p:txBody>
          <a:bodyPr/>
          <a:p/>
        </p:txBody>
      </p:sp>
      <p:pic>
        <p:nvPicPr>
          <p:cNvPr id="26" name="Image 3" descr="/home/claude/assets/icons/activity.png">    </p:cNvPr>
          <p:cNvPicPr>
            <a:picLocks noChangeAspect="1"/>
          </p:cNvPicPr>
          <p:nvPr/>
        </p:nvPicPr>
        <p:blipFill>
          <a:blip r:embed="rId4"/>
          <a:stretch>
            <a:fillRect/>
          </a:stretch>
        </p:blipFill>
        <p:spPr>
          <a:xfrm>
            <a:off x="6783019" y="2322576"/>
            <a:ext cx="658368" cy="658368"/>
          </a:xfrm>
          <a:prstGeom prst="rect">
            <a:avLst/>
          </a:prstGeom>
        </p:spPr>
      </p:pic>
      <p:sp>
        <p:nvSpPr>
          <p:cNvPr id="27" name="Shape 21"/>
          <p:cNvSpPr/>
          <p:nvPr/>
        </p:nvSpPr>
        <p:spPr>
          <a:xfrm>
            <a:off x="7295083" y="2103120"/>
            <a:ext cx="365760" cy="365760"/>
          </a:xfrm>
          <a:prstGeom prst="ellipse">
            <a:avLst/>
          </a:prstGeom>
          <a:solidFill>
            <a:srgbClr val="0D1117"/>
          </a:solidFill>
          <a:ln w="19050">
            <a:solidFill>
              <a:srgbClr val="4FD1C5"/>
            </a:solidFill>
            <a:prstDash val="solid"/>
          </a:ln>
        </p:spPr>
        <p:txBody>
          <a:bodyPr/>
          <a:p/>
        </p:txBody>
      </p:sp>
      <p:sp>
        <p:nvSpPr>
          <p:cNvPr id="28" name="Text 22"/>
          <p:cNvSpPr txBox="1"/>
          <p:nvPr/>
        </p:nvSpPr>
        <p:spPr>
          <a:xfrm>
            <a:off x="7295083" y="2103120"/>
            <a:ext cx="365760" cy="365760"/>
          </a:xfrm>
          <a:prstGeom prst="rect">
            <a:avLst/>
          </a:prstGeom>
          <a:noFill/>
          <a:ln/>
        </p:spPr>
        <p:txBody>
          <a:bodyPr wrap="square" lIns="0" tIns="0" rIns="0" bIns="0" rtlCol="0" anchor="ctr"/>
          <a:lstStyle/>
          <a:p>
            <a:pPr algn="ctr" indent="0" marL="0">
              <a:buNone/>
            </a:pPr>
            <a:r>
              <a:rPr lang="en-US" sz="1200" b="1" dirty="0">
                <a:solidFill>
                  <a:srgbClr val="4FD1C5"/>
                </a:solidFill>
                <a:latin typeface="Courier New" pitchFamily="34" charset="0"/>
                <a:ea typeface="Courier New" pitchFamily="34" charset="-122"/>
                <a:cs typeface="Courier New" pitchFamily="34" charset="-120"/>
              </a:rPr>
              <a:t>4</a:t>
            </a:r>
            <a:endParaRPr lang="en-US" sz="1200" dirty="0"/>
          </a:p>
        </p:txBody>
      </p:sp>
      <p:sp>
        <p:nvSpPr>
          <p:cNvPr id="29" name="Text 23"/>
          <p:cNvSpPr txBox="1"/>
          <p:nvPr/>
        </p:nvSpPr>
        <p:spPr>
          <a:xfrm>
            <a:off x="6289243" y="3246120"/>
            <a:ext cx="1645920"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LangFuse</a:t>
            </a:r>
            <a:endParaRPr lang="en-US" sz="1200" dirty="0"/>
          </a:p>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tracing</a:t>
            </a:r>
            <a:endParaRPr lang="en-US" sz="1200" dirty="0"/>
          </a:p>
        </p:txBody>
      </p:sp>
      <p:sp>
        <p:nvSpPr>
          <p:cNvPr id="30" name="Text 24"/>
          <p:cNvSpPr txBox="1"/>
          <p:nvPr/>
        </p:nvSpPr>
        <p:spPr>
          <a:xfrm>
            <a:off x="6197803" y="3886200"/>
            <a:ext cx="1828800" cy="548640"/>
          </a:xfrm>
          <a:prstGeom prst="rect">
            <a:avLst/>
          </a:prstGeom>
          <a:noFill/>
          <a:ln/>
        </p:spPr>
        <p:txBody>
          <a:bodyPr wrap="square" lIns="0" tIns="0" rIns="0" bIns="0" rtlCol="0" anchor="ctr"/>
          <a:lstStyle/>
          <a:p>
            <a:pPr algn="ctr" indent="0" marL="0">
              <a:lnSpc>
                <a:spcPct val="110000"/>
              </a:lnSpc>
              <a:buNone/>
            </a:pPr>
            <a:r>
              <a:rPr lang="en-US" sz="950" dirty="0">
                <a:solidFill>
                  <a:srgbClr val="8A97A6"/>
                </a:solidFill>
                <a:latin typeface="Calibri" pitchFamily="34" charset="0"/>
                <a:ea typeface="Calibri" pitchFamily="34" charset="-122"/>
                <a:cs typeface="Calibri" pitchFamily="34" charset="-120"/>
              </a:rPr>
              <a:t>every call, cost, version</a:t>
            </a:r>
            <a:endParaRPr lang="en-US" sz="950" dirty="0"/>
          </a:p>
        </p:txBody>
      </p:sp>
      <p:sp>
        <p:nvSpPr>
          <p:cNvPr id="31" name="Shape 25"/>
          <p:cNvSpPr/>
          <p:nvPr/>
        </p:nvSpPr>
        <p:spPr>
          <a:xfrm>
            <a:off x="7624267" y="2638044"/>
            <a:ext cx="1011326" cy="27432"/>
          </a:xfrm>
          <a:prstGeom prst="rect">
            <a:avLst/>
          </a:prstGeom>
          <a:solidFill>
            <a:srgbClr val="2A3644"/>
          </a:solidFill>
          <a:ln/>
        </p:spPr>
        <p:txBody>
          <a:bodyPr/>
          <a:p/>
        </p:txBody>
      </p:sp>
      <p:sp>
        <p:nvSpPr>
          <p:cNvPr id="32" name="Shape 26"/>
          <p:cNvSpPr/>
          <p:nvPr/>
        </p:nvSpPr>
        <p:spPr>
          <a:xfrm>
            <a:off x="8690458" y="2194560"/>
            <a:ext cx="914400" cy="914400"/>
          </a:xfrm>
          <a:prstGeom prst="ellipse">
            <a:avLst/>
          </a:prstGeom>
          <a:solidFill>
            <a:srgbClr val="F5A623"/>
          </a:solidFill>
          <a:ln/>
        </p:spPr>
        <p:txBody>
          <a:bodyPr/>
          <a:p/>
        </p:txBody>
      </p:sp>
      <p:pic>
        <p:nvPicPr>
          <p:cNvPr id="33" name="Image 4" descr="/home/claude/assets/icons/server.png">    </p:cNvPr>
          <p:cNvPicPr>
            <a:picLocks noChangeAspect="1"/>
          </p:cNvPicPr>
          <p:nvPr/>
        </p:nvPicPr>
        <p:blipFill>
          <a:blip r:embed="rId5"/>
          <a:stretch>
            <a:fillRect/>
          </a:stretch>
        </p:blipFill>
        <p:spPr>
          <a:xfrm>
            <a:off x="8818474" y="2322576"/>
            <a:ext cx="658368" cy="658368"/>
          </a:xfrm>
          <a:prstGeom prst="rect">
            <a:avLst/>
          </a:prstGeom>
        </p:spPr>
      </p:pic>
      <p:sp>
        <p:nvSpPr>
          <p:cNvPr id="34" name="Shape 27"/>
          <p:cNvSpPr/>
          <p:nvPr/>
        </p:nvSpPr>
        <p:spPr>
          <a:xfrm>
            <a:off x="9330538" y="2103120"/>
            <a:ext cx="365760" cy="365760"/>
          </a:xfrm>
          <a:prstGeom prst="ellipse">
            <a:avLst/>
          </a:prstGeom>
          <a:solidFill>
            <a:srgbClr val="0D1117"/>
          </a:solidFill>
          <a:ln w="19050">
            <a:solidFill>
              <a:srgbClr val="F5A623"/>
            </a:solidFill>
            <a:prstDash val="solid"/>
          </a:ln>
        </p:spPr>
        <p:txBody>
          <a:bodyPr/>
          <a:p/>
        </p:txBody>
      </p:sp>
      <p:sp>
        <p:nvSpPr>
          <p:cNvPr id="35" name="Text 28"/>
          <p:cNvSpPr txBox="1"/>
          <p:nvPr/>
        </p:nvSpPr>
        <p:spPr>
          <a:xfrm>
            <a:off x="9330538" y="2103120"/>
            <a:ext cx="365760" cy="365760"/>
          </a:xfrm>
          <a:prstGeom prst="rect">
            <a:avLst/>
          </a:prstGeom>
          <a:noFill/>
          <a:ln/>
        </p:spPr>
        <p:txBody>
          <a:bodyPr wrap="square" lIns="0" tIns="0" rIns="0" bIns="0" rtlCol="0" anchor="ctr"/>
          <a:lstStyle/>
          <a:p>
            <a:pPr algn="ctr" indent="0" marL="0">
              <a:buNone/>
            </a:pPr>
            <a:r>
              <a:rPr lang="en-US" sz="1200" b="1" dirty="0">
                <a:solidFill>
                  <a:srgbClr val="F5A623"/>
                </a:solidFill>
                <a:latin typeface="Courier New" pitchFamily="34" charset="0"/>
                <a:ea typeface="Courier New" pitchFamily="34" charset="-122"/>
                <a:cs typeface="Courier New" pitchFamily="34" charset="-120"/>
              </a:rPr>
              <a:t>5</a:t>
            </a:r>
            <a:endParaRPr lang="en-US" sz="1200" dirty="0"/>
          </a:p>
        </p:txBody>
      </p:sp>
      <p:sp>
        <p:nvSpPr>
          <p:cNvPr id="36" name="Text 29"/>
          <p:cNvSpPr txBox="1"/>
          <p:nvPr/>
        </p:nvSpPr>
        <p:spPr>
          <a:xfrm>
            <a:off x="8324698" y="3246120"/>
            <a:ext cx="1645920"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FastAPI</a:t>
            </a:r>
            <a:endParaRPr lang="en-US" sz="1200" dirty="0"/>
          </a:p>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backend</a:t>
            </a:r>
            <a:endParaRPr lang="en-US" sz="1200" dirty="0"/>
          </a:p>
        </p:txBody>
      </p:sp>
      <p:sp>
        <p:nvSpPr>
          <p:cNvPr id="37" name="Text 30"/>
          <p:cNvSpPr txBox="1"/>
          <p:nvPr/>
        </p:nvSpPr>
        <p:spPr>
          <a:xfrm>
            <a:off x="8233258" y="3886200"/>
            <a:ext cx="1828800" cy="548640"/>
          </a:xfrm>
          <a:prstGeom prst="rect">
            <a:avLst/>
          </a:prstGeom>
          <a:noFill/>
          <a:ln/>
        </p:spPr>
        <p:txBody>
          <a:bodyPr wrap="square" lIns="0" tIns="0" rIns="0" bIns="0" rtlCol="0" anchor="ctr"/>
          <a:lstStyle/>
          <a:p>
            <a:pPr algn="ctr" indent="0" marL="0">
              <a:lnSpc>
                <a:spcPct val="110000"/>
              </a:lnSpc>
              <a:buNone/>
            </a:pPr>
            <a:r>
              <a:rPr lang="en-US" sz="950" dirty="0">
                <a:solidFill>
                  <a:srgbClr val="8A97A6"/>
                </a:solidFill>
                <a:latin typeface="Calibri" pitchFamily="34" charset="0"/>
                <a:ea typeface="Calibri" pitchFamily="34" charset="-122"/>
                <a:cs typeface="Calibri" pitchFamily="34" charset="-120"/>
              </a:rPr>
              <a:t>REST + SSE streaming</a:t>
            </a:r>
            <a:endParaRPr lang="en-US" sz="950" dirty="0"/>
          </a:p>
        </p:txBody>
      </p:sp>
      <p:sp>
        <p:nvSpPr>
          <p:cNvPr id="38" name="Shape 31"/>
          <p:cNvSpPr/>
          <p:nvPr/>
        </p:nvSpPr>
        <p:spPr>
          <a:xfrm>
            <a:off x="9659722" y="2638044"/>
            <a:ext cx="1011326" cy="27432"/>
          </a:xfrm>
          <a:prstGeom prst="rect">
            <a:avLst/>
          </a:prstGeom>
          <a:solidFill>
            <a:srgbClr val="2A3644"/>
          </a:solidFill>
          <a:ln/>
        </p:spPr>
        <p:txBody>
          <a:bodyPr/>
          <a:p/>
        </p:txBody>
      </p:sp>
      <p:sp>
        <p:nvSpPr>
          <p:cNvPr id="39" name="Shape 32"/>
          <p:cNvSpPr/>
          <p:nvPr/>
        </p:nvSpPr>
        <p:spPr>
          <a:xfrm>
            <a:off x="10725912" y="2194560"/>
            <a:ext cx="914400" cy="914400"/>
          </a:xfrm>
          <a:prstGeom prst="ellipse">
            <a:avLst/>
          </a:prstGeom>
          <a:solidFill>
            <a:srgbClr val="4FD1C5"/>
          </a:solidFill>
          <a:ln/>
        </p:spPr>
        <p:txBody>
          <a:bodyPr/>
          <a:p/>
        </p:txBody>
      </p:sp>
      <p:pic>
        <p:nvPicPr>
          <p:cNvPr id="40" name="Image 5" descr="/home/claude/assets/icons/monitor.png">    </p:cNvPr>
          <p:cNvPicPr>
            <a:picLocks noChangeAspect="1"/>
          </p:cNvPicPr>
          <p:nvPr/>
        </p:nvPicPr>
        <p:blipFill>
          <a:blip r:embed="rId6"/>
          <a:stretch>
            <a:fillRect/>
          </a:stretch>
        </p:blipFill>
        <p:spPr>
          <a:xfrm>
            <a:off x="10853928" y="2322576"/>
            <a:ext cx="658368" cy="658368"/>
          </a:xfrm>
          <a:prstGeom prst="rect">
            <a:avLst/>
          </a:prstGeom>
        </p:spPr>
      </p:pic>
      <p:sp>
        <p:nvSpPr>
          <p:cNvPr id="41" name="Shape 33"/>
          <p:cNvSpPr/>
          <p:nvPr/>
        </p:nvSpPr>
        <p:spPr>
          <a:xfrm>
            <a:off x="11365992" y="2103120"/>
            <a:ext cx="365760" cy="365760"/>
          </a:xfrm>
          <a:prstGeom prst="ellipse">
            <a:avLst/>
          </a:prstGeom>
          <a:solidFill>
            <a:srgbClr val="0D1117"/>
          </a:solidFill>
          <a:ln w="19050">
            <a:solidFill>
              <a:srgbClr val="4FD1C5"/>
            </a:solidFill>
            <a:prstDash val="solid"/>
          </a:ln>
        </p:spPr>
        <p:txBody>
          <a:bodyPr/>
          <a:p/>
        </p:txBody>
      </p:sp>
      <p:sp>
        <p:nvSpPr>
          <p:cNvPr id="42" name="Text 34"/>
          <p:cNvSpPr txBox="1"/>
          <p:nvPr/>
        </p:nvSpPr>
        <p:spPr>
          <a:xfrm>
            <a:off x="11365992" y="2103120"/>
            <a:ext cx="365760" cy="365760"/>
          </a:xfrm>
          <a:prstGeom prst="rect">
            <a:avLst/>
          </a:prstGeom>
          <a:noFill/>
          <a:ln/>
        </p:spPr>
        <p:txBody>
          <a:bodyPr wrap="square" lIns="0" tIns="0" rIns="0" bIns="0" rtlCol="0" anchor="ctr"/>
          <a:lstStyle/>
          <a:p>
            <a:pPr algn="ctr" indent="0" marL="0">
              <a:buNone/>
            </a:pPr>
            <a:r>
              <a:rPr lang="en-US" sz="1200" b="1" dirty="0">
                <a:solidFill>
                  <a:srgbClr val="4FD1C5"/>
                </a:solidFill>
                <a:latin typeface="Courier New" pitchFamily="34" charset="0"/>
                <a:ea typeface="Courier New" pitchFamily="34" charset="-122"/>
                <a:cs typeface="Courier New" pitchFamily="34" charset="-120"/>
              </a:rPr>
              <a:t>6</a:t>
            </a:r>
            <a:endParaRPr lang="en-US" sz="1200" dirty="0"/>
          </a:p>
        </p:txBody>
      </p:sp>
      <p:sp>
        <p:nvSpPr>
          <p:cNvPr id="43" name="Text 35"/>
          <p:cNvSpPr txBox="1"/>
          <p:nvPr/>
        </p:nvSpPr>
        <p:spPr>
          <a:xfrm>
            <a:off x="10360152" y="3246120"/>
            <a:ext cx="1645920"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Next.js</a:t>
            </a:r>
            <a:endParaRPr lang="en-US" sz="1200" dirty="0"/>
          </a:p>
          <a:p>
            <a:pPr algn="ctr" indent="0" marL="0">
              <a:lnSpc>
                <a:spcPct val="105000"/>
              </a:lnSpc>
              <a:buNone/>
            </a:pPr>
            <a:r>
              <a:rPr lang="en-US" sz="1200" b="1" dirty="0">
                <a:solidFill>
                  <a:srgbClr val="EEF2F6"/>
                </a:solidFill>
                <a:latin typeface="Calibri" pitchFamily="34" charset="0"/>
                <a:ea typeface="Calibri" pitchFamily="34" charset="-122"/>
                <a:cs typeface="Calibri" pitchFamily="34" charset="-120"/>
              </a:rPr>
              <a:t>frontend</a:t>
            </a:r>
            <a:endParaRPr lang="en-US" sz="1200" dirty="0"/>
          </a:p>
        </p:txBody>
      </p:sp>
      <p:sp>
        <p:nvSpPr>
          <p:cNvPr id="44" name="Text 36"/>
          <p:cNvSpPr txBox="1"/>
          <p:nvPr/>
        </p:nvSpPr>
        <p:spPr>
          <a:xfrm>
            <a:off x="10268712" y="3886200"/>
            <a:ext cx="1828800" cy="548640"/>
          </a:xfrm>
          <a:prstGeom prst="rect">
            <a:avLst/>
          </a:prstGeom>
          <a:noFill/>
          <a:ln/>
        </p:spPr>
        <p:txBody>
          <a:bodyPr wrap="square" lIns="0" tIns="0" rIns="0" bIns="0" rtlCol="0" anchor="ctr"/>
          <a:lstStyle/>
          <a:p>
            <a:pPr algn="ctr" indent="0" marL="0">
              <a:lnSpc>
                <a:spcPct val="110000"/>
              </a:lnSpc>
              <a:buNone/>
            </a:pPr>
            <a:r>
              <a:rPr lang="en-US" sz="950" dirty="0">
                <a:solidFill>
                  <a:srgbClr val="8A97A6"/>
                </a:solidFill>
                <a:latin typeface="Calibri" pitchFamily="34" charset="0"/>
                <a:ea typeface="Calibri" pitchFamily="34" charset="-122"/>
                <a:cs typeface="Calibri" pitchFamily="34" charset="-120"/>
              </a:rPr>
              <a:t>dashboard, feed, chat, docs</a:t>
            </a:r>
            <a:endParaRPr lang="en-US" sz="950" dirty="0"/>
          </a:p>
        </p:txBody>
      </p:sp>
      <p:sp>
        <p:nvSpPr>
          <p:cNvPr id="45" name="Shape 37"/>
          <p:cNvSpPr/>
          <p:nvPr/>
        </p:nvSpPr>
        <p:spPr>
          <a:xfrm>
            <a:off x="548640" y="4663440"/>
            <a:ext cx="11091672" cy="1463040"/>
          </a:xfrm>
          <a:prstGeom prst="roundRect">
            <a:avLst>
              <a:gd name="adj" fmla="val 5625"/>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46" name="Text 38"/>
          <p:cNvSpPr txBox="1"/>
          <p:nvPr/>
        </p:nvSpPr>
        <p:spPr>
          <a:xfrm>
            <a:off x="868680" y="4663440"/>
            <a:ext cx="10515600" cy="1463040"/>
          </a:xfrm>
          <a:prstGeom prst="rect">
            <a:avLst/>
          </a:prstGeom>
          <a:noFill/>
          <a:ln/>
        </p:spPr>
        <p:txBody>
          <a:bodyPr wrap="square" lIns="0" tIns="0" rIns="0" bIns="0" rtlCol="0" anchor="ctr"/>
          <a:lstStyle/>
          <a:p>
            <a:pPr indent="0" marL="0">
              <a:lnSpc>
                <a:spcPct val="130000"/>
              </a:lnSpc>
              <a:buNone/>
            </a:pPr>
            <a:r>
              <a:rPr lang="en-US" sz="1250" b="1" dirty="0">
                <a:solidFill>
                  <a:srgbClr val="4FD1C5"/>
                </a:solidFill>
                <a:latin typeface="Calibri" pitchFamily="34" charset="0"/>
                <a:ea typeface="Calibri" pitchFamily="34" charset="-122"/>
                <a:cs typeface="Calibri" pitchFamily="34" charset="-120"/>
              </a:rPr>
              <a:t>Put simply: </a:t>
            </a:r>
            <a:pPr indent="0" marL="0">
              <a:lnSpc>
                <a:spcPct val="130000"/>
              </a:lnSpc>
              <a:buNone/>
            </a:pPr>
            <a:r>
              <a:rPr lang="en-US" sz="1250" dirty="0">
                <a:solidFill>
                  <a:srgbClr val="EEF2F6"/>
                </a:solidFill>
                <a:latin typeface="Calibri" pitchFamily="34" charset="0"/>
                <a:ea typeface="Calibri" pitchFamily="34" charset="-122"/>
                <a:cs typeface="Calibri" pitchFamily="34" charset="-120"/>
              </a:rPr>
              <a:t>a question or a scheduled scan enters the graph. The Planner decides who needs to look. The specialists pull evidence through MCP tools and retrieved docs. The Reporter writes the incident report. LangFuse keeps the record of how it got there.</a:t>
            </a:r>
            <a:endParaRPr lang="en-US" sz="1250" dirty="0"/>
          </a:p>
        </p:txBody>
      </p:sp>
      <p:sp>
        <p:nvSpPr>
          <p:cNvPr id="47" name="Text 39"/>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48" name="Text 40"/>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SYSTEM ARCHITECTURE</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Component view</a:t>
            </a:r>
            <a:endParaRPr lang="en-US" sz="3000" dirty="0"/>
          </a:p>
        </p:txBody>
      </p:sp>
      <p:sp>
        <p:nvSpPr>
          <p:cNvPr id="4" name="Shape 2"/>
          <p:cNvSpPr/>
          <p:nvPr/>
        </p:nvSpPr>
        <p:spPr>
          <a:xfrm>
            <a:off x="548640" y="1508760"/>
            <a:ext cx="8503920" cy="502920"/>
          </a:xfrm>
          <a:prstGeom prst="roundRect">
            <a:avLst>
              <a:gd name="adj" fmla="val 10909"/>
            </a:avLst>
          </a:prstGeom>
          <a:solidFill>
            <a:srgbClr val="212C39"/>
          </a:solidFill>
          <a:ln/>
        </p:spPr>
        <p:txBody>
          <a:bodyPr/>
          <a:p/>
        </p:txBody>
      </p:sp>
      <p:sp>
        <p:nvSpPr>
          <p:cNvPr id="5" name="Text 3"/>
          <p:cNvSpPr txBox="1"/>
          <p:nvPr/>
        </p:nvSpPr>
        <p:spPr>
          <a:xfrm>
            <a:off x="548640" y="1508760"/>
            <a:ext cx="8503920" cy="502920"/>
          </a:xfrm>
          <a:prstGeom prst="rect">
            <a:avLst/>
          </a:prstGeom>
          <a:noFill/>
          <a:ln/>
        </p:spPr>
        <p:txBody>
          <a:bodyPr wrap="square" lIns="635" tIns="635" rIns="635" bIns="635" rtlCol="0" anchor="ctr"/>
          <a:lstStyle/>
          <a:p>
            <a:pPr algn="ctr" indent="0" marL="0">
              <a:lnSpc>
                <a:spcPct val="105000"/>
              </a:lnSpc>
              <a:buNone/>
            </a:pPr>
            <a:r>
              <a:rPr lang="en-US" sz="1100" b="1" dirty="0">
                <a:solidFill>
                  <a:srgbClr val="EEF2F6"/>
                </a:solidFill>
                <a:latin typeface="Calibri" pitchFamily="34" charset="0"/>
                <a:ea typeface="Calibri" pitchFamily="34" charset="-122"/>
                <a:cs typeface="Calibri" pitchFamily="34" charset="-120"/>
              </a:rPr>
              <a:t>Next.js + shadcn/ui frontend  ·  Dashboard · Incident feed · Review queue · Ask ReconMind · Docs · Traces</a:t>
            </a:r>
            <a:endParaRPr lang="en-US" sz="1100" dirty="0"/>
          </a:p>
        </p:txBody>
      </p:sp>
      <p:sp>
        <p:nvSpPr>
          <p:cNvPr id="6" name="Shape 4"/>
          <p:cNvSpPr/>
          <p:nvPr/>
        </p:nvSpPr>
        <p:spPr>
          <a:xfrm>
            <a:off x="4786884" y="2011680"/>
            <a:ext cx="27432" cy="182880"/>
          </a:xfrm>
          <a:prstGeom prst="rect">
            <a:avLst/>
          </a:prstGeom>
          <a:solidFill>
            <a:srgbClr val="2A3644"/>
          </a:solidFill>
          <a:ln/>
        </p:spPr>
        <p:txBody>
          <a:bodyPr/>
          <a:p/>
        </p:txBody>
      </p:sp>
      <p:sp>
        <p:nvSpPr>
          <p:cNvPr id="7" name="Shape 5"/>
          <p:cNvSpPr/>
          <p:nvPr/>
        </p:nvSpPr>
        <p:spPr>
          <a:xfrm>
            <a:off x="548640" y="2194560"/>
            <a:ext cx="8503920" cy="502920"/>
          </a:xfrm>
          <a:prstGeom prst="roundRect">
            <a:avLst>
              <a:gd name="adj" fmla="val 10909"/>
            </a:avLst>
          </a:prstGeom>
          <a:solidFill>
            <a:srgbClr val="212C39"/>
          </a:solidFill>
          <a:ln/>
        </p:spPr>
        <p:txBody>
          <a:bodyPr/>
          <a:p/>
        </p:txBody>
      </p:sp>
      <p:sp>
        <p:nvSpPr>
          <p:cNvPr id="8" name="Text 6"/>
          <p:cNvSpPr txBox="1"/>
          <p:nvPr/>
        </p:nvSpPr>
        <p:spPr>
          <a:xfrm>
            <a:off x="548640" y="2194560"/>
            <a:ext cx="8503920" cy="502920"/>
          </a:xfrm>
          <a:prstGeom prst="rect">
            <a:avLst/>
          </a:prstGeom>
          <a:noFill/>
          <a:ln/>
        </p:spPr>
        <p:txBody>
          <a:bodyPr wrap="square" lIns="635" tIns="635" rIns="635" bIns="635" rtlCol="0" anchor="ctr"/>
          <a:lstStyle/>
          <a:p>
            <a:pPr algn="ctr" indent="0" marL="0">
              <a:lnSpc>
                <a:spcPct val="105000"/>
              </a:lnSpc>
              <a:buNone/>
            </a:pPr>
            <a:r>
              <a:rPr lang="en-US" sz="1100" b="1" dirty="0">
                <a:solidFill>
                  <a:srgbClr val="EEF2F6"/>
                </a:solidFill>
                <a:latin typeface="Calibri" pitchFamily="34" charset="0"/>
                <a:ea typeface="Calibri" pitchFamily="34" charset="-122"/>
                <a:cs typeface="Calibri" pitchFamily="34" charset="-120"/>
              </a:rPr>
              <a:t>FastAPI backend  ·  REST + SSE  ·  APScheduler scan  ·  rate limiting  ·  Clerk/Auth.js</a:t>
            </a:r>
            <a:endParaRPr lang="en-US" sz="1100" dirty="0"/>
          </a:p>
        </p:txBody>
      </p:sp>
      <p:sp>
        <p:nvSpPr>
          <p:cNvPr id="9" name="Shape 7"/>
          <p:cNvSpPr/>
          <p:nvPr/>
        </p:nvSpPr>
        <p:spPr>
          <a:xfrm>
            <a:off x="4786884" y="2697480"/>
            <a:ext cx="27432" cy="182880"/>
          </a:xfrm>
          <a:prstGeom prst="rect">
            <a:avLst/>
          </a:prstGeom>
          <a:solidFill>
            <a:srgbClr val="2A3644"/>
          </a:solidFill>
          <a:ln/>
        </p:spPr>
        <p:txBody>
          <a:bodyPr/>
          <a:p/>
        </p:txBody>
      </p:sp>
      <p:sp>
        <p:nvSpPr>
          <p:cNvPr id="10" name="Shape 8"/>
          <p:cNvSpPr/>
          <p:nvPr/>
        </p:nvSpPr>
        <p:spPr>
          <a:xfrm>
            <a:off x="548640" y="2880360"/>
            <a:ext cx="8503920" cy="1371600"/>
          </a:xfrm>
          <a:prstGeom prst="roundRect">
            <a:avLst>
              <a:gd name="adj" fmla="val 5333"/>
            </a:avLst>
          </a:prstGeom>
          <a:solidFill>
            <a:srgbClr val="1B2530"/>
          </a:solidFill>
          <a:ln w="12700">
            <a:solidFill>
              <a:srgbClr val="F5A623"/>
            </a:solidFill>
            <a:prstDash val="solid"/>
          </a:ln>
        </p:spPr>
        <p:txBody>
          <a:bodyPr/>
          <a:p/>
        </p:txBody>
      </p:sp>
      <p:sp>
        <p:nvSpPr>
          <p:cNvPr id="11" name="Text 9"/>
          <p:cNvSpPr txBox="1"/>
          <p:nvPr/>
        </p:nvSpPr>
        <p:spPr>
          <a:xfrm>
            <a:off x="731520" y="2944368"/>
            <a:ext cx="8138160" cy="274320"/>
          </a:xfrm>
          <a:prstGeom prst="rect">
            <a:avLst/>
          </a:prstGeom>
          <a:noFill/>
          <a:ln/>
        </p:spPr>
        <p:txBody>
          <a:bodyPr wrap="square" lIns="0" tIns="0" rIns="0" bIns="0" rtlCol="0" anchor="ctr"/>
          <a:lstStyle/>
          <a:p>
            <a:pPr indent="0" marL="0">
              <a:buNone/>
            </a:pPr>
            <a:r>
              <a:rPr lang="en-US" sz="950" b="1" spc="100" kern="0" dirty="0">
                <a:solidFill>
                  <a:srgbClr val="F5A623"/>
                </a:solidFill>
                <a:latin typeface="Courier New" pitchFamily="34" charset="0"/>
                <a:ea typeface="Courier New" pitchFamily="34" charset="-122"/>
                <a:cs typeface="Courier New" pitchFamily="34" charset="-120"/>
              </a:rPr>
              <a:t>LANGGRAPH ORCHESTRATOR  ·  async, Postgres-checkpointed, human-in-the-loop</a:t>
            </a:r>
            <a:endParaRPr lang="en-US" sz="950" dirty="0"/>
          </a:p>
        </p:txBody>
      </p:sp>
      <p:sp>
        <p:nvSpPr>
          <p:cNvPr id="12" name="Shape 10"/>
          <p:cNvSpPr/>
          <p:nvPr/>
        </p:nvSpPr>
        <p:spPr>
          <a:xfrm>
            <a:off x="731520" y="3291840"/>
            <a:ext cx="1863090" cy="777240"/>
          </a:xfrm>
          <a:prstGeom prst="roundRect">
            <a:avLst>
              <a:gd name="adj" fmla="val 7059"/>
            </a:avLst>
          </a:prstGeom>
          <a:solidFill>
            <a:srgbClr val="0D1117"/>
          </a:solidFill>
          <a:ln/>
        </p:spPr>
        <p:txBody>
          <a:bodyPr/>
          <a:p/>
        </p:txBody>
      </p:sp>
      <p:sp>
        <p:nvSpPr>
          <p:cNvPr id="13" name="Text 11"/>
          <p:cNvSpPr txBox="1"/>
          <p:nvPr/>
        </p:nvSpPr>
        <p:spPr>
          <a:xfrm>
            <a:off x="731520" y="3291840"/>
            <a:ext cx="1863090" cy="777240"/>
          </a:xfrm>
          <a:prstGeom prst="rect">
            <a:avLst/>
          </a:prstGeom>
          <a:noFill/>
          <a:ln/>
        </p:spPr>
        <p:txBody>
          <a:bodyPr wrap="square" lIns="635" tIns="635" rIns="635" bIns="635" rtlCol="0" anchor="ctr"/>
          <a:lstStyle/>
          <a:p>
            <a:pPr algn="ctr" indent="0" marL="0">
              <a:lnSpc>
                <a:spcPct val="105000"/>
              </a:lnSpc>
              <a:buNone/>
            </a:pPr>
            <a:r>
              <a:rPr lang="en-US" sz="1150" b="1" dirty="0">
                <a:solidFill>
                  <a:srgbClr val="EEF2F6"/>
                </a:solidFill>
                <a:latin typeface="Calibri" pitchFamily="34" charset="0"/>
                <a:ea typeface="Calibri" pitchFamily="34" charset="-122"/>
                <a:cs typeface="Calibri" pitchFamily="34" charset="-120"/>
              </a:rPr>
              <a:t>Planner</a:t>
            </a:r>
            <a:endParaRPr lang="en-US" sz="1150" dirty="0"/>
          </a:p>
        </p:txBody>
      </p:sp>
      <p:sp>
        <p:nvSpPr>
          <p:cNvPr id="14" name="Shape 12"/>
          <p:cNvSpPr/>
          <p:nvPr/>
        </p:nvSpPr>
        <p:spPr>
          <a:xfrm>
            <a:off x="2823210" y="3291840"/>
            <a:ext cx="1863090" cy="777240"/>
          </a:xfrm>
          <a:prstGeom prst="roundRect">
            <a:avLst>
              <a:gd name="adj" fmla="val 7059"/>
            </a:avLst>
          </a:prstGeom>
          <a:solidFill>
            <a:srgbClr val="0D1117"/>
          </a:solidFill>
          <a:ln/>
        </p:spPr>
        <p:txBody>
          <a:bodyPr/>
          <a:p/>
        </p:txBody>
      </p:sp>
      <p:sp>
        <p:nvSpPr>
          <p:cNvPr id="15" name="Text 13"/>
          <p:cNvSpPr txBox="1"/>
          <p:nvPr/>
        </p:nvSpPr>
        <p:spPr>
          <a:xfrm>
            <a:off x="2823210" y="3291840"/>
            <a:ext cx="1863090" cy="777240"/>
          </a:xfrm>
          <a:prstGeom prst="rect">
            <a:avLst/>
          </a:prstGeom>
          <a:noFill/>
          <a:ln/>
        </p:spPr>
        <p:txBody>
          <a:bodyPr wrap="square" lIns="635" tIns="635" rIns="635" bIns="635" rtlCol="0" anchor="ctr"/>
          <a:lstStyle/>
          <a:p>
            <a:pPr algn="ctr" indent="0" marL="0">
              <a:lnSpc>
                <a:spcPct val="105000"/>
              </a:lnSpc>
              <a:buNone/>
            </a:pPr>
            <a:r>
              <a:rPr lang="en-US" sz="1150" b="1" dirty="0">
                <a:solidFill>
                  <a:srgbClr val="EEF2F6"/>
                </a:solidFill>
                <a:latin typeface="Calibri" pitchFamily="34" charset="0"/>
                <a:ea typeface="Calibri" pitchFamily="34" charset="-122"/>
                <a:cs typeface="Calibri" pitchFamily="34" charset="-120"/>
              </a:rPr>
              <a:t>Reconciliation</a:t>
            </a:r>
            <a:endParaRPr lang="en-US" sz="1150" dirty="0"/>
          </a:p>
          <a:p>
            <a:pPr algn="ctr" indent="0" marL="0">
              <a:lnSpc>
                <a:spcPct val="105000"/>
              </a:lnSpc>
              <a:buNone/>
            </a:pPr>
            <a:r>
              <a:rPr lang="en-US" sz="1150" b="1" dirty="0">
                <a:solidFill>
                  <a:srgbClr val="EEF2F6"/>
                </a:solidFill>
                <a:latin typeface="Calibri" pitchFamily="34" charset="0"/>
                <a:ea typeface="Calibri" pitchFamily="34" charset="-122"/>
                <a:cs typeface="Calibri" pitchFamily="34" charset="-120"/>
              </a:rPr>
              <a:t>Agent</a:t>
            </a:r>
            <a:endParaRPr lang="en-US" sz="1150" dirty="0"/>
          </a:p>
        </p:txBody>
      </p:sp>
      <p:sp>
        <p:nvSpPr>
          <p:cNvPr id="16" name="Shape 14"/>
          <p:cNvSpPr/>
          <p:nvPr/>
        </p:nvSpPr>
        <p:spPr>
          <a:xfrm>
            <a:off x="4914900" y="3291840"/>
            <a:ext cx="1863090" cy="777240"/>
          </a:xfrm>
          <a:prstGeom prst="roundRect">
            <a:avLst>
              <a:gd name="adj" fmla="val 7059"/>
            </a:avLst>
          </a:prstGeom>
          <a:solidFill>
            <a:srgbClr val="0D1117"/>
          </a:solidFill>
          <a:ln/>
        </p:spPr>
        <p:txBody>
          <a:bodyPr/>
          <a:p/>
        </p:txBody>
      </p:sp>
      <p:sp>
        <p:nvSpPr>
          <p:cNvPr id="17" name="Text 15"/>
          <p:cNvSpPr txBox="1"/>
          <p:nvPr/>
        </p:nvSpPr>
        <p:spPr>
          <a:xfrm>
            <a:off x="4914900" y="3291840"/>
            <a:ext cx="1863090" cy="777240"/>
          </a:xfrm>
          <a:prstGeom prst="rect">
            <a:avLst/>
          </a:prstGeom>
          <a:noFill/>
          <a:ln/>
        </p:spPr>
        <p:txBody>
          <a:bodyPr wrap="square" lIns="635" tIns="635" rIns="635" bIns="635" rtlCol="0" anchor="ctr"/>
          <a:lstStyle/>
          <a:p>
            <a:pPr algn="ctr" indent="0" marL="0">
              <a:lnSpc>
                <a:spcPct val="105000"/>
              </a:lnSpc>
              <a:buNone/>
            </a:pPr>
            <a:r>
              <a:rPr lang="en-US" sz="1150" b="1" dirty="0">
                <a:solidFill>
                  <a:srgbClr val="EEF2F6"/>
                </a:solidFill>
                <a:latin typeface="Calibri" pitchFamily="34" charset="0"/>
                <a:ea typeface="Calibri" pitchFamily="34" charset="-122"/>
                <a:cs typeface="Calibri" pitchFamily="34" charset="-120"/>
              </a:rPr>
              <a:t>Data-Quality</a:t>
            </a:r>
            <a:endParaRPr lang="en-US" sz="1150" dirty="0"/>
          </a:p>
          <a:p>
            <a:pPr algn="ctr" indent="0" marL="0">
              <a:lnSpc>
                <a:spcPct val="105000"/>
              </a:lnSpc>
              <a:buNone/>
            </a:pPr>
            <a:r>
              <a:rPr lang="en-US" sz="1150" b="1" dirty="0">
                <a:solidFill>
                  <a:srgbClr val="EEF2F6"/>
                </a:solidFill>
                <a:latin typeface="Calibri" pitchFamily="34" charset="0"/>
                <a:ea typeface="Calibri" pitchFamily="34" charset="-122"/>
                <a:cs typeface="Calibri" pitchFamily="34" charset="-120"/>
              </a:rPr>
              <a:t>Agent</a:t>
            </a:r>
            <a:endParaRPr lang="en-US" sz="1150" dirty="0"/>
          </a:p>
        </p:txBody>
      </p:sp>
      <p:sp>
        <p:nvSpPr>
          <p:cNvPr id="18" name="Shape 16"/>
          <p:cNvSpPr/>
          <p:nvPr/>
        </p:nvSpPr>
        <p:spPr>
          <a:xfrm>
            <a:off x="7006590" y="3291840"/>
            <a:ext cx="1863090" cy="777240"/>
          </a:xfrm>
          <a:prstGeom prst="roundRect">
            <a:avLst>
              <a:gd name="adj" fmla="val 7059"/>
            </a:avLst>
          </a:prstGeom>
          <a:solidFill>
            <a:srgbClr val="0D1117"/>
          </a:solidFill>
          <a:ln/>
        </p:spPr>
        <p:txBody>
          <a:bodyPr/>
          <a:p/>
        </p:txBody>
      </p:sp>
      <p:sp>
        <p:nvSpPr>
          <p:cNvPr id="19" name="Text 17"/>
          <p:cNvSpPr txBox="1"/>
          <p:nvPr/>
        </p:nvSpPr>
        <p:spPr>
          <a:xfrm>
            <a:off x="7006590" y="3291840"/>
            <a:ext cx="1863090" cy="777240"/>
          </a:xfrm>
          <a:prstGeom prst="rect">
            <a:avLst/>
          </a:prstGeom>
          <a:noFill/>
          <a:ln/>
        </p:spPr>
        <p:txBody>
          <a:bodyPr wrap="square" lIns="635" tIns="635" rIns="635" bIns="635" rtlCol="0" anchor="ctr"/>
          <a:lstStyle/>
          <a:p>
            <a:pPr algn="ctr" indent="0" marL="0">
              <a:lnSpc>
                <a:spcPct val="105000"/>
              </a:lnSpc>
              <a:buNone/>
            </a:pPr>
            <a:r>
              <a:rPr lang="en-US" sz="1150" b="1" dirty="0">
                <a:solidFill>
                  <a:srgbClr val="EEF2F6"/>
                </a:solidFill>
                <a:latin typeface="Calibri" pitchFamily="34" charset="0"/>
                <a:ea typeface="Calibri" pitchFamily="34" charset="-122"/>
                <a:cs typeface="Calibri" pitchFamily="34" charset="-120"/>
              </a:rPr>
              <a:t>Reporter</a:t>
            </a:r>
            <a:endParaRPr lang="en-US" sz="1150" dirty="0"/>
          </a:p>
        </p:txBody>
      </p:sp>
      <p:sp>
        <p:nvSpPr>
          <p:cNvPr id="20" name="Shape 18"/>
          <p:cNvSpPr/>
          <p:nvPr/>
        </p:nvSpPr>
        <p:spPr>
          <a:xfrm>
            <a:off x="2622042" y="3666744"/>
            <a:ext cx="173736" cy="27432"/>
          </a:xfrm>
          <a:prstGeom prst="rect">
            <a:avLst/>
          </a:prstGeom>
          <a:solidFill>
            <a:srgbClr val="2A3644"/>
          </a:solidFill>
          <a:ln/>
        </p:spPr>
        <p:txBody>
          <a:bodyPr/>
          <a:p/>
        </p:txBody>
      </p:sp>
      <p:sp>
        <p:nvSpPr>
          <p:cNvPr id="21" name="Shape 19"/>
          <p:cNvSpPr/>
          <p:nvPr/>
        </p:nvSpPr>
        <p:spPr>
          <a:xfrm>
            <a:off x="4713732" y="3666744"/>
            <a:ext cx="173736" cy="27432"/>
          </a:xfrm>
          <a:prstGeom prst="rect">
            <a:avLst/>
          </a:prstGeom>
          <a:solidFill>
            <a:srgbClr val="2A3644"/>
          </a:solidFill>
          <a:ln/>
        </p:spPr>
        <p:txBody>
          <a:bodyPr/>
          <a:p/>
        </p:txBody>
      </p:sp>
      <p:sp>
        <p:nvSpPr>
          <p:cNvPr id="22" name="Shape 20"/>
          <p:cNvSpPr/>
          <p:nvPr/>
        </p:nvSpPr>
        <p:spPr>
          <a:xfrm>
            <a:off x="6805422" y="3666744"/>
            <a:ext cx="173736" cy="27432"/>
          </a:xfrm>
          <a:prstGeom prst="rect">
            <a:avLst/>
          </a:prstGeom>
          <a:solidFill>
            <a:srgbClr val="2A3644"/>
          </a:solidFill>
          <a:ln/>
        </p:spPr>
        <p:txBody>
          <a:bodyPr/>
          <a:p/>
        </p:txBody>
      </p:sp>
      <p:sp>
        <p:nvSpPr>
          <p:cNvPr id="23" name="Shape 21"/>
          <p:cNvSpPr/>
          <p:nvPr/>
        </p:nvSpPr>
        <p:spPr>
          <a:xfrm>
            <a:off x="4786884" y="4251960"/>
            <a:ext cx="27432" cy="182880"/>
          </a:xfrm>
          <a:prstGeom prst="rect">
            <a:avLst/>
          </a:prstGeom>
          <a:solidFill>
            <a:srgbClr val="2A3644"/>
          </a:solidFill>
          <a:ln/>
        </p:spPr>
        <p:txBody>
          <a:bodyPr/>
          <a:p/>
        </p:txBody>
      </p:sp>
      <p:sp>
        <p:nvSpPr>
          <p:cNvPr id="24" name="Shape 22"/>
          <p:cNvSpPr/>
          <p:nvPr/>
        </p:nvSpPr>
        <p:spPr>
          <a:xfrm>
            <a:off x="548640" y="4434840"/>
            <a:ext cx="2682240" cy="822960"/>
          </a:xfrm>
          <a:prstGeom prst="roundRect">
            <a:avLst>
              <a:gd name="adj" fmla="val 6667"/>
            </a:avLst>
          </a:prstGeom>
          <a:solidFill>
            <a:srgbClr val="212C39"/>
          </a:solidFill>
          <a:ln/>
        </p:spPr>
        <p:txBody>
          <a:bodyPr/>
          <a:p/>
        </p:txBody>
      </p:sp>
      <p:sp>
        <p:nvSpPr>
          <p:cNvPr id="25" name="Text 23"/>
          <p:cNvSpPr txBox="1"/>
          <p:nvPr/>
        </p:nvSpPr>
        <p:spPr>
          <a:xfrm>
            <a:off x="548640" y="4434840"/>
            <a:ext cx="2682240" cy="822960"/>
          </a:xfrm>
          <a:prstGeom prst="rect">
            <a:avLst/>
          </a:prstGeom>
          <a:noFill/>
          <a:ln/>
        </p:spPr>
        <p:txBody>
          <a:bodyPr wrap="square" lIns="635" tIns="635" rIns="635" bIns="635" rtlCol="0" anchor="ctr"/>
          <a:lstStyle/>
          <a:p>
            <a:pPr algn="ctr" indent="0" marL="0">
              <a:lnSpc>
                <a:spcPct val="105000"/>
              </a:lnSpc>
              <a:buNone/>
            </a:pPr>
            <a:r>
              <a:rPr lang="en-US" sz="1050" dirty="0">
                <a:solidFill>
                  <a:srgbClr val="EEF2F6"/>
                </a:solidFill>
                <a:latin typeface="Calibri" pitchFamily="34" charset="0"/>
                <a:ea typeface="Calibri" pitchFamily="34" charset="-122"/>
                <a:cs typeface="Calibri" pitchFamily="34" charset="-120"/>
              </a:rPr>
              <a:t>warehouse-metadata</a:t>
            </a:r>
            <a:endParaRPr lang="en-US" sz="1050" dirty="0"/>
          </a:p>
          <a:p>
            <a:pPr algn="ctr" indent="0" marL="0">
              <a:lnSpc>
                <a:spcPct val="105000"/>
              </a:lnSpc>
              <a:buNone/>
            </a:pPr>
            <a:r>
              <a:rPr lang="en-US" sz="1050" dirty="0">
                <a:solidFill>
                  <a:srgbClr val="EEF2F6"/>
                </a:solidFill>
                <a:latin typeface="Calibri" pitchFamily="34" charset="0"/>
                <a:ea typeface="Calibri" pitchFamily="34" charset="-122"/>
                <a:cs typeface="Calibri" pitchFamily="34" charset="-120"/>
              </a:rPr>
              <a:t>MCP server (read-only)</a:t>
            </a:r>
            <a:endParaRPr lang="en-US" sz="1050" dirty="0"/>
          </a:p>
          <a:p>
            <a:pPr algn="ctr" indent="0" marL="0">
              <a:lnSpc>
                <a:spcPct val="105000"/>
              </a:lnSpc>
              <a:buNone/>
            </a:pPr>
            <a:r>
              <a:rPr lang="en-US" sz="1050" dirty="0">
                <a:solidFill>
                  <a:srgbClr val="EEF2F6"/>
                </a:solidFill>
                <a:latin typeface="Calibri" pitchFamily="34" charset="0"/>
                <a:ea typeface="Calibri" pitchFamily="34" charset="-122"/>
                <a:cs typeface="Calibri" pitchFamily="34" charset="-120"/>
              </a:rPr>
              <a:t>schema · dbt manifest · stats</a:t>
            </a:r>
            <a:endParaRPr lang="en-US" sz="1050" dirty="0"/>
          </a:p>
        </p:txBody>
      </p:sp>
      <p:sp>
        <p:nvSpPr>
          <p:cNvPr id="26" name="Shape 24"/>
          <p:cNvSpPr/>
          <p:nvPr/>
        </p:nvSpPr>
        <p:spPr>
          <a:xfrm>
            <a:off x="3459480" y="4434840"/>
            <a:ext cx="2682240" cy="822960"/>
          </a:xfrm>
          <a:prstGeom prst="roundRect">
            <a:avLst>
              <a:gd name="adj" fmla="val 6667"/>
            </a:avLst>
          </a:prstGeom>
          <a:solidFill>
            <a:srgbClr val="212C39"/>
          </a:solidFill>
          <a:ln/>
        </p:spPr>
        <p:txBody>
          <a:bodyPr/>
          <a:p/>
        </p:txBody>
      </p:sp>
      <p:sp>
        <p:nvSpPr>
          <p:cNvPr id="27" name="Text 25"/>
          <p:cNvSpPr txBox="1"/>
          <p:nvPr/>
        </p:nvSpPr>
        <p:spPr>
          <a:xfrm>
            <a:off x="3459480" y="4434840"/>
            <a:ext cx="2682240" cy="822960"/>
          </a:xfrm>
          <a:prstGeom prst="rect">
            <a:avLst/>
          </a:prstGeom>
          <a:noFill/>
          <a:ln/>
        </p:spPr>
        <p:txBody>
          <a:bodyPr wrap="square" lIns="635" tIns="635" rIns="635" bIns="635" rtlCol="0" anchor="ctr"/>
          <a:lstStyle/>
          <a:p>
            <a:pPr algn="ctr" indent="0" marL="0">
              <a:lnSpc>
                <a:spcPct val="105000"/>
              </a:lnSpc>
              <a:buNone/>
            </a:pPr>
            <a:r>
              <a:rPr lang="en-US" sz="1050" dirty="0">
                <a:solidFill>
                  <a:srgbClr val="EEF2F6"/>
                </a:solidFill>
                <a:latin typeface="Calibri" pitchFamily="34" charset="0"/>
                <a:ea typeface="Calibri" pitchFamily="34" charset="-122"/>
                <a:cs typeface="Calibri" pitchFamily="34" charset="-120"/>
              </a:rPr>
              <a:t>orchestration-metadata</a:t>
            </a:r>
            <a:endParaRPr lang="en-US" sz="1050" dirty="0"/>
          </a:p>
          <a:p>
            <a:pPr algn="ctr" indent="0" marL="0">
              <a:lnSpc>
                <a:spcPct val="105000"/>
              </a:lnSpc>
              <a:buNone/>
            </a:pPr>
            <a:r>
              <a:rPr lang="en-US" sz="1050" dirty="0">
                <a:solidFill>
                  <a:srgbClr val="EEF2F6"/>
                </a:solidFill>
                <a:latin typeface="Calibri" pitchFamily="34" charset="0"/>
                <a:ea typeface="Calibri" pitchFamily="34" charset="-122"/>
                <a:cs typeface="Calibri" pitchFamily="34" charset="-120"/>
              </a:rPr>
              <a:t>MCP server (read-only)</a:t>
            </a:r>
            <a:endParaRPr lang="en-US" sz="1050" dirty="0"/>
          </a:p>
          <a:p>
            <a:pPr algn="ctr" indent="0" marL="0">
              <a:lnSpc>
                <a:spcPct val="105000"/>
              </a:lnSpc>
              <a:buNone/>
            </a:pPr>
            <a:r>
              <a:rPr lang="en-US" sz="1050" dirty="0">
                <a:solidFill>
                  <a:srgbClr val="EEF2F6"/>
                </a:solidFill>
                <a:latin typeface="Calibri" pitchFamily="34" charset="0"/>
                <a:ea typeface="Calibri" pitchFamily="34" charset="-122"/>
                <a:cs typeface="Calibri" pitchFamily="34" charset="-120"/>
              </a:rPr>
              <a:t>DAG runs · task logs · timings</a:t>
            </a:r>
            <a:endParaRPr lang="en-US" sz="1050" dirty="0"/>
          </a:p>
        </p:txBody>
      </p:sp>
      <p:sp>
        <p:nvSpPr>
          <p:cNvPr id="28" name="Shape 26"/>
          <p:cNvSpPr/>
          <p:nvPr/>
        </p:nvSpPr>
        <p:spPr>
          <a:xfrm>
            <a:off x="6370320" y="4434840"/>
            <a:ext cx="2682240" cy="822960"/>
          </a:xfrm>
          <a:prstGeom prst="roundRect">
            <a:avLst>
              <a:gd name="adj" fmla="val 6667"/>
            </a:avLst>
          </a:prstGeom>
          <a:solidFill>
            <a:srgbClr val="212C39"/>
          </a:solidFill>
          <a:ln/>
        </p:spPr>
        <p:txBody>
          <a:bodyPr/>
          <a:p/>
        </p:txBody>
      </p:sp>
      <p:sp>
        <p:nvSpPr>
          <p:cNvPr id="29" name="Text 27"/>
          <p:cNvSpPr txBox="1"/>
          <p:nvPr/>
        </p:nvSpPr>
        <p:spPr>
          <a:xfrm>
            <a:off x="6370320" y="4434840"/>
            <a:ext cx="2682240" cy="822960"/>
          </a:xfrm>
          <a:prstGeom prst="rect">
            <a:avLst/>
          </a:prstGeom>
          <a:noFill/>
          <a:ln/>
        </p:spPr>
        <p:txBody>
          <a:bodyPr wrap="square" lIns="635" tIns="635" rIns="635" bIns="635" rtlCol="0" anchor="ctr"/>
          <a:lstStyle/>
          <a:p>
            <a:pPr algn="ctr" indent="0" marL="0">
              <a:lnSpc>
                <a:spcPct val="105000"/>
              </a:lnSpc>
              <a:buNone/>
            </a:pPr>
            <a:r>
              <a:rPr lang="en-US" sz="1050" dirty="0">
                <a:solidFill>
                  <a:srgbClr val="EEF2F6"/>
                </a:solidFill>
                <a:latin typeface="Calibri" pitchFamily="34" charset="0"/>
                <a:ea typeface="Calibri" pitchFamily="34" charset="-122"/>
                <a:cs typeface="Calibri" pitchFamily="34" charset="-120"/>
              </a:rPr>
              <a:t>Hybrid retriever</a:t>
            </a:r>
            <a:endParaRPr lang="en-US" sz="1050" dirty="0"/>
          </a:p>
          <a:p>
            <a:pPr algn="ctr" indent="0" marL="0">
              <a:lnSpc>
                <a:spcPct val="105000"/>
              </a:lnSpc>
              <a:buNone/>
            </a:pPr>
            <a:r>
              <a:rPr lang="en-US" sz="1050" dirty="0">
                <a:solidFill>
                  <a:srgbClr val="EEF2F6"/>
                </a:solidFill>
                <a:latin typeface="Calibri" pitchFamily="34" charset="0"/>
                <a:ea typeface="Calibri" pitchFamily="34" charset="-122"/>
                <a:cs typeface="Calibri" pitchFamily="34" charset="-120"/>
              </a:rPr>
              <a:t>BM25 + FAISS/Pinecone, RRF</a:t>
            </a:r>
            <a:endParaRPr lang="en-US" sz="1050" dirty="0"/>
          </a:p>
          <a:p>
            <a:pPr algn="ctr" indent="0" marL="0">
              <a:lnSpc>
                <a:spcPct val="105000"/>
              </a:lnSpc>
              <a:buNone/>
            </a:pPr>
            <a:r>
              <a:rPr lang="en-US" sz="1050" dirty="0">
                <a:solidFill>
                  <a:srgbClr val="EEF2F6"/>
                </a:solidFill>
                <a:latin typeface="Calibri" pitchFamily="34" charset="0"/>
                <a:ea typeface="Calibri" pitchFamily="34" charset="-122"/>
                <a:cs typeface="Calibri" pitchFamily="34" charset="-120"/>
              </a:rPr>
              <a:t>runbooks · YAML · incidents</a:t>
            </a:r>
            <a:endParaRPr lang="en-US" sz="1050" dirty="0"/>
          </a:p>
        </p:txBody>
      </p:sp>
      <p:sp>
        <p:nvSpPr>
          <p:cNvPr id="30" name="Shape 28"/>
          <p:cNvSpPr/>
          <p:nvPr/>
        </p:nvSpPr>
        <p:spPr>
          <a:xfrm>
            <a:off x="4786884" y="5257800"/>
            <a:ext cx="27432" cy="182880"/>
          </a:xfrm>
          <a:prstGeom prst="rect">
            <a:avLst/>
          </a:prstGeom>
          <a:solidFill>
            <a:srgbClr val="2A3644"/>
          </a:solidFill>
          <a:ln/>
        </p:spPr>
        <p:txBody>
          <a:bodyPr/>
          <a:p/>
        </p:txBody>
      </p:sp>
      <p:sp>
        <p:nvSpPr>
          <p:cNvPr id="31" name="Shape 29"/>
          <p:cNvSpPr/>
          <p:nvPr/>
        </p:nvSpPr>
        <p:spPr>
          <a:xfrm>
            <a:off x="548640" y="5440680"/>
            <a:ext cx="8503920" cy="502920"/>
          </a:xfrm>
          <a:prstGeom prst="roundRect">
            <a:avLst>
              <a:gd name="adj" fmla="val 10909"/>
            </a:avLst>
          </a:prstGeom>
          <a:solidFill>
            <a:srgbClr val="212C39"/>
          </a:solidFill>
          <a:ln/>
        </p:spPr>
        <p:txBody>
          <a:bodyPr/>
          <a:p/>
        </p:txBody>
      </p:sp>
      <p:sp>
        <p:nvSpPr>
          <p:cNvPr id="32" name="Text 30"/>
          <p:cNvSpPr txBox="1"/>
          <p:nvPr/>
        </p:nvSpPr>
        <p:spPr>
          <a:xfrm>
            <a:off x="548640" y="5440680"/>
            <a:ext cx="8503920" cy="502920"/>
          </a:xfrm>
          <a:prstGeom prst="rect">
            <a:avLst/>
          </a:prstGeom>
          <a:noFill/>
          <a:ln/>
        </p:spPr>
        <p:txBody>
          <a:bodyPr wrap="square" lIns="635" tIns="635" rIns="635" bIns="635" rtlCol="0" anchor="ctr"/>
          <a:lstStyle/>
          <a:p>
            <a:pPr algn="ctr" indent="0" marL="0">
              <a:lnSpc>
                <a:spcPct val="105000"/>
              </a:lnSpc>
              <a:buNone/>
            </a:pPr>
            <a:r>
              <a:rPr lang="en-US" sz="1050" dirty="0">
                <a:solidFill>
                  <a:srgbClr val="EEF2F6"/>
                </a:solidFill>
                <a:latin typeface="Calibri" pitchFamily="34" charset="0"/>
                <a:ea typeface="Calibri" pitchFamily="34" charset="-122"/>
                <a:cs typeface="Calibri" pitchFamily="34" charset="-120"/>
              </a:rPr>
              <a:t>Postgres  ·  raw transactions  ·  append-only audit ledger (DB trigger)  ·  agent-run history   ⟵   seeded synthetic generator</a:t>
            </a:r>
            <a:endParaRPr lang="en-US" sz="1050" dirty="0"/>
          </a:p>
        </p:txBody>
      </p:sp>
      <p:sp>
        <p:nvSpPr>
          <p:cNvPr id="33" name="Shape 31"/>
          <p:cNvSpPr/>
          <p:nvPr/>
        </p:nvSpPr>
        <p:spPr>
          <a:xfrm>
            <a:off x="9372600" y="1508760"/>
            <a:ext cx="2267712" cy="2103120"/>
          </a:xfrm>
          <a:prstGeom prst="roundRect">
            <a:avLst>
              <a:gd name="adj" fmla="val 3478"/>
            </a:avLst>
          </a:prstGeom>
          <a:solidFill>
            <a:srgbClr val="1B2530"/>
          </a:solidFill>
          <a:ln w="12700">
            <a:solidFill>
              <a:srgbClr val="4FD1C5"/>
            </a:solidFill>
            <a:prstDash val="solid"/>
          </a:ln>
        </p:spPr>
        <p:txBody>
          <a:bodyPr/>
          <a:p/>
        </p:txBody>
      </p:sp>
      <p:sp>
        <p:nvSpPr>
          <p:cNvPr id="34" name="Shape 32"/>
          <p:cNvSpPr/>
          <p:nvPr/>
        </p:nvSpPr>
        <p:spPr>
          <a:xfrm>
            <a:off x="9555480" y="1691640"/>
            <a:ext cx="457200" cy="457200"/>
          </a:xfrm>
          <a:prstGeom prst="ellipse">
            <a:avLst/>
          </a:prstGeom>
          <a:solidFill>
            <a:srgbClr val="4FD1C5"/>
          </a:solidFill>
          <a:ln/>
        </p:spPr>
        <p:txBody>
          <a:bodyPr/>
          <a:p/>
        </p:txBody>
      </p:sp>
      <p:pic>
        <p:nvPicPr>
          <p:cNvPr id="35" name="Image 0" descr="/home/claude/assets/icons/activity.png">    </p:cNvPr>
          <p:cNvPicPr>
            <a:picLocks noChangeAspect="1"/>
          </p:cNvPicPr>
          <p:nvPr/>
        </p:nvPicPr>
        <p:blipFill>
          <a:blip r:embed="rId1"/>
          <a:stretch>
            <a:fillRect/>
          </a:stretch>
        </p:blipFill>
        <p:spPr>
          <a:xfrm>
            <a:off x="9619488" y="1755648"/>
            <a:ext cx="329184" cy="329184"/>
          </a:xfrm>
          <a:prstGeom prst="rect">
            <a:avLst/>
          </a:prstGeom>
        </p:spPr>
      </p:pic>
      <p:sp>
        <p:nvSpPr>
          <p:cNvPr id="36" name="Text 33"/>
          <p:cNvSpPr txBox="1"/>
          <p:nvPr/>
        </p:nvSpPr>
        <p:spPr>
          <a:xfrm>
            <a:off x="10104120" y="1691640"/>
            <a:ext cx="1444752" cy="457200"/>
          </a:xfrm>
          <a:prstGeom prst="rect">
            <a:avLst/>
          </a:prstGeom>
          <a:noFill/>
          <a:ln/>
        </p:spPr>
        <p:txBody>
          <a:bodyPr wrap="square" lIns="0" tIns="0" rIns="0" bIns="0" rtlCol="0" anchor="ctr"/>
          <a:lstStyle/>
          <a:p>
            <a:pPr indent="0" marL="0">
              <a:buNone/>
            </a:pPr>
            <a:r>
              <a:rPr lang="en-US" sz="1400" b="1" dirty="0">
                <a:solidFill>
                  <a:srgbClr val="EEF2F6"/>
                </a:solidFill>
                <a:latin typeface="Calibri" pitchFamily="34" charset="0"/>
                <a:ea typeface="Calibri" pitchFamily="34" charset="-122"/>
                <a:cs typeface="Calibri" pitchFamily="34" charset="-120"/>
              </a:rPr>
              <a:t>LangFuse</a:t>
            </a:r>
            <a:endParaRPr lang="en-US" sz="1400" dirty="0"/>
          </a:p>
        </p:txBody>
      </p:sp>
      <p:sp>
        <p:nvSpPr>
          <p:cNvPr id="37" name="Text 34"/>
          <p:cNvSpPr txBox="1"/>
          <p:nvPr/>
        </p:nvSpPr>
        <p:spPr>
          <a:xfrm>
            <a:off x="9555480" y="2240280"/>
            <a:ext cx="1901952" cy="1280160"/>
          </a:xfrm>
          <a:prstGeom prst="rect">
            <a:avLst/>
          </a:prstGeom>
          <a:noFill/>
          <a:ln/>
        </p:spPr>
        <p:txBody>
          <a:bodyPr wrap="square" lIns="0" tIns="0" rIns="0" bIns="0" rtlCol="0" anchor="ctr"/>
          <a:lstStyle/>
          <a:p>
            <a:pPr indent="0" marL="0">
              <a:lnSpc>
                <a:spcPct val="120000"/>
              </a:lnSpc>
              <a:buNone/>
            </a:pPr>
            <a:r>
              <a:rPr lang="en-US" sz="1050" dirty="0">
                <a:solidFill>
                  <a:srgbClr val="8A97A6"/>
                </a:solidFill>
                <a:latin typeface="Calibri" pitchFamily="34" charset="0"/>
                <a:ea typeface="Calibri" pitchFamily="34" charset="-122"/>
                <a:cs typeface="Calibri" pitchFamily="34" charset="-120"/>
              </a:rPr>
              <a:t>Every agent step, tool call, prompt version, latency, and token cost. Each incident links straight to its trace.</a:t>
            </a:r>
            <a:endParaRPr lang="en-US" sz="1050" dirty="0"/>
          </a:p>
        </p:txBody>
      </p:sp>
      <p:sp>
        <p:nvSpPr>
          <p:cNvPr id="38" name="Shape 35"/>
          <p:cNvSpPr/>
          <p:nvPr/>
        </p:nvSpPr>
        <p:spPr>
          <a:xfrm>
            <a:off x="9372600" y="3794760"/>
            <a:ext cx="2267712" cy="2148840"/>
          </a:xfrm>
          <a:prstGeom prst="roundRect">
            <a:avLst>
              <a:gd name="adj" fmla="val 3404"/>
            </a:avLst>
          </a:prstGeom>
          <a:solidFill>
            <a:srgbClr val="1B2530"/>
          </a:solidFill>
          <a:ln/>
        </p:spPr>
        <p:txBody>
          <a:bodyPr/>
          <a:p/>
        </p:txBody>
      </p:sp>
      <p:sp>
        <p:nvSpPr>
          <p:cNvPr id="39" name="Shape 36"/>
          <p:cNvSpPr/>
          <p:nvPr/>
        </p:nvSpPr>
        <p:spPr>
          <a:xfrm>
            <a:off x="9555480" y="3977640"/>
            <a:ext cx="457200" cy="457200"/>
          </a:xfrm>
          <a:prstGeom prst="ellipse">
            <a:avLst/>
          </a:prstGeom>
          <a:solidFill>
            <a:srgbClr val="F5A623"/>
          </a:solidFill>
          <a:ln/>
        </p:spPr>
        <p:txBody>
          <a:bodyPr/>
          <a:p/>
        </p:txBody>
      </p:sp>
      <p:pic>
        <p:nvPicPr>
          <p:cNvPr id="40" name="Image 1" descr="/home/claude/assets/icons/cpu.png">    </p:cNvPr>
          <p:cNvPicPr>
            <a:picLocks noChangeAspect="1"/>
          </p:cNvPicPr>
          <p:nvPr/>
        </p:nvPicPr>
        <p:blipFill>
          <a:blip r:embed="rId2"/>
          <a:stretch>
            <a:fillRect/>
          </a:stretch>
        </p:blipFill>
        <p:spPr>
          <a:xfrm>
            <a:off x="9619488" y="4041648"/>
            <a:ext cx="329184" cy="329184"/>
          </a:xfrm>
          <a:prstGeom prst="rect">
            <a:avLst/>
          </a:prstGeom>
        </p:spPr>
      </p:pic>
      <p:sp>
        <p:nvSpPr>
          <p:cNvPr id="41" name="Text 37"/>
          <p:cNvSpPr txBox="1"/>
          <p:nvPr/>
        </p:nvSpPr>
        <p:spPr>
          <a:xfrm>
            <a:off x="10104120" y="3977640"/>
            <a:ext cx="1444752" cy="457200"/>
          </a:xfrm>
          <a:prstGeom prst="rect">
            <a:avLst/>
          </a:prstGeom>
          <a:noFill/>
          <a:ln/>
        </p:spPr>
        <p:txBody>
          <a:bodyPr wrap="square" lIns="0" tIns="0" rIns="0" bIns="0" rtlCol="0" anchor="ctr"/>
          <a:lstStyle/>
          <a:p>
            <a:pPr indent="0" marL="0">
              <a:buNone/>
            </a:pPr>
            <a:r>
              <a:rPr lang="en-US" sz="1400" b="1" dirty="0">
                <a:solidFill>
                  <a:srgbClr val="EEF2F6"/>
                </a:solidFill>
                <a:latin typeface="Calibri" pitchFamily="34" charset="0"/>
                <a:ea typeface="Calibri" pitchFamily="34" charset="-122"/>
                <a:cs typeface="Calibri" pitchFamily="34" charset="-120"/>
              </a:rPr>
              <a:t>LLM providers</a:t>
            </a:r>
            <a:endParaRPr lang="en-US" sz="1400" dirty="0"/>
          </a:p>
        </p:txBody>
      </p:sp>
      <p:sp>
        <p:nvSpPr>
          <p:cNvPr id="42" name="Text 38"/>
          <p:cNvSpPr txBox="1"/>
          <p:nvPr/>
        </p:nvSpPr>
        <p:spPr>
          <a:xfrm>
            <a:off x="9555480" y="4526280"/>
            <a:ext cx="1901952" cy="1325880"/>
          </a:xfrm>
          <a:prstGeom prst="rect">
            <a:avLst/>
          </a:prstGeom>
          <a:noFill/>
          <a:ln/>
        </p:spPr>
        <p:txBody>
          <a:bodyPr wrap="square" lIns="0" tIns="0" rIns="0" bIns="0" rtlCol="0" anchor="ctr"/>
          <a:lstStyle/>
          <a:p>
            <a:pPr indent="0" marL="0">
              <a:lnSpc>
                <a:spcPct val="120000"/>
              </a:lnSpc>
              <a:buNone/>
            </a:pPr>
            <a:r>
              <a:rPr lang="en-US" sz="1000" dirty="0">
                <a:solidFill>
                  <a:srgbClr val="8A97A6"/>
                </a:solidFill>
                <a:latin typeface="Calibri" pitchFamily="34" charset="0"/>
                <a:ea typeface="Calibri" pitchFamily="34" charset="-122"/>
                <a:cs typeface="Calibri" pitchFamily="34" charset="-120"/>
              </a:rPr>
              <a:t>Runs fully locally with Ollama, or on the OpenAI API. Embeddings: OpenAI or local sentence-transformers. If no LLM is available at all, it still returns the most relevant passages with citations.</a:t>
            </a:r>
            <a:endParaRPr lang="en-US" sz="1000" dirty="0"/>
          </a:p>
        </p:txBody>
      </p:sp>
      <p:sp>
        <p:nvSpPr>
          <p:cNvPr id="43" name="Text 39"/>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44" name="Text 40"/>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4FD1C5"/>
                </a:solidFill>
                <a:latin typeface="Courier New" pitchFamily="34" charset="0"/>
                <a:ea typeface="Courier New" pitchFamily="34" charset="-122"/>
                <a:cs typeface="Courier New" pitchFamily="34" charset="-120"/>
              </a:rPr>
              <a:t>SYNTHETIC DATASET</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The data: a seeded generator with four bugs planted on purpose</a:t>
            </a:r>
            <a:endParaRPr lang="en-US" sz="3000" dirty="0"/>
          </a:p>
        </p:txBody>
      </p:sp>
      <p:sp>
        <p:nvSpPr>
          <p:cNvPr id="4" name="Shape 2"/>
          <p:cNvSpPr/>
          <p:nvPr/>
        </p:nvSpPr>
        <p:spPr>
          <a:xfrm>
            <a:off x="548640" y="1554480"/>
            <a:ext cx="4937760" cy="4617720"/>
          </a:xfrm>
          <a:prstGeom prst="roundRect">
            <a:avLst>
              <a:gd name="adj" fmla="val 1782"/>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5" name="Text 3"/>
          <p:cNvSpPr txBox="1"/>
          <p:nvPr/>
        </p:nvSpPr>
        <p:spPr>
          <a:xfrm>
            <a:off x="822960" y="1783080"/>
            <a:ext cx="4572000" cy="274320"/>
          </a:xfrm>
          <a:prstGeom prst="rect">
            <a:avLst/>
          </a:prstGeom>
          <a:noFill/>
          <a:ln/>
        </p:spPr>
        <p:txBody>
          <a:bodyPr wrap="square" lIns="0" tIns="0" rIns="0" bIns="0" rtlCol="0" anchor="ctr"/>
          <a:lstStyle/>
          <a:p>
            <a:pPr indent="0" marL="0">
              <a:buNone/>
            </a:pPr>
            <a:r>
              <a:rPr lang="en-US" sz="1050" b="1" spc="150" kern="0" dirty="0">
                <a:solidFill>
                  <a:srgbClr val="F5A623"/>
                </a:solidFill>
                <a:latin typeface="Courier New" pitchFamily="34" charset="0"/>
                <a:ea typeface="Courier New" pitchFamily="34" charset="-122"/>
                <a:cs typeface="Courier New" pitchFamily="34" charset="-120"/>
              </a:rPr>
              <a:t>TRANSACTIONS TABLE</a:t>
            </a:r>
            <a:endParaRPr lang="en-US" sz="1050" dirty="0"/>
          </a:p>
        </p:txBody>
      </p:sp>
      <p:sp>
        <p:nvSpPr>
          <p:cNvPr id="6" name="Text 4"/>
          <p:cNvSpPr txBox="1"/>
          <p:nvPr/>
        </p:nvSpPr>
        <p:spPr>
          <a:xfrm>
            <a:off x="822960" y="2148840"/>
            <a:ext cx="4389120" cy="1097280"/>
          </a:xfrm>
          <a:prstGeom prst="rect">
            <a:avLst/>
          </a:prstGeom>
          <a:noFill/>
          <a:ln/>
        </p:spPr>
        <p:txBody>
          <a:bodyPr wrap="square" lIns="0" tIns="0" rIns="0" bIns="0" rtlCol="0" anchor="ctr"/>
          <a:lstStyle/>
          <a:p>
            <a:pPr indent="0" marL="0">
              <a:lnSpc>
                <a:spcPct val="140000"/>
              </a:lnSpc>
              <a:buNone/>
            </a:pPr>
            <a:r>
              <a:rPr lang="en-US" sz="1100" dirty="0">
                <a:solidFill>
                  <a:srgbClr val="EEF2F6"/>
                </a:solidFill>
                <a:latin typeface="Courier New" pitchFamily="34" charset="0"/>
                <a:ea typeface="Courier New" pitchFamily="34" charset="-122"/>
                <a:cs typeface="Courier New" pitchFamily="34" charset="-120"/>
              </a:rPr>
              <a:t>outlet_id  ·  location_id  ·  transaction_id</a:t>
            </a:r>
            <a:endParaRPr lang="en-US" sz="1100" dirty="0"/>
          </a:p>
          <a:p>
            <a:pPr indent="0" marL="0">
              <a:lnSpc>
                <a:spcPct val="140000"/>
              </a:lnSpc>
              <a:buNone/>
            </a:pPr>
            <a:r>
              <a:rPr lang="en-US" sz="1100" dirty="0">
                <a:solidFill>
                  <a:srgbClr val="EEF2F6"/>
                </a:solidFill>
                <a:latin typeface="Courier New" pitchFamily="34" charset="0"/>
                <a:ea typeface="Courier New" pitchFamily="34" charset="-122"/>
                <a:cs typeface="Courier New" pitchFamily="34" charset="-120"/>
              </a:rPr>
              <a:t>upc_code  ·  channel_basket_id</a:t>
            </a:r>
            <a:endParaRPr lang="en-US" sz="1100" dirty="0"/>
          </a:p>
          <a:p>
            <a:pPr indent="0" marL="0">
              <a:lnSpc>
                <a:spcPct val="140000"/>
              </a:lnSpc>
              <a:buNone/>
            </a:pPr>
            <a:r>
              <a:rPr lang="en-US" sz="1100" dirty="0">
                <a:solidFill>
                  <a:srgbClr val="EEF2F6"/>
                </a:solidFill>
                <a:latin typeface="Courier New" pitchFamily="34" charset="0"/>
                <a:ea typeface="Courier New" pitchFamily="34" charset="-122"/>
                <a:cs typeface="Courier New" pitchFamily="34" charset="-120"/>
              </a:rPr>
              <a:t>submitter_file_name  ·  qty  ·  amount  ·  event_ts</a:t>
            </a:r>
            <a:endParaRPr lang="en-US" sz="1100" dirty="0"/>
          </a:p>
        </p:txBody>
      </p:sp>
      <p:sp>
        <p:nvSpPr>
          <p:cNvPr id="7" name="Text 5"/>
          <p:cNvSpPr txBox="1"/>
          <p:nvPr/>
        </p:nvSpPr>
        <p:spPr>
          <a:xfrm>
            <a:off x="822960" y="3337560"/>
            <a:ext cx="4572000"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FILE NAMING</a:t>
            </a:r>
            <a:endParaRPr lang="en-US" sz="1050" dirty="0"/>
          </a:p>
        </p:txBody>
      </p:sp>
      <p:sp>
        <p:nvSpPr>
          <p:cNvPr id="8" name="Text 6"/>
          <p:cNvSpPr txBox="1"/>
          <p:nvPr/>
        </p:nvSpPr>
        <p:spPr>
          <a:xfrm>
            <a:off x="822960" y="3611880"/>
            <a:ext cx="4389120" cy="320040"/>
          </a:xfrm>
          <a:prstGeom prst="rect">
            <a:avLst/>
          </a:prstGeom>
          <a:noFill/>
          <a:ln/>
        </p:spPr>
        <p:txBody>
          <a:bodyPr wrap="square" lIns="0" tIns="0" rIns="0" bIns="0" rtlCol="0" anchor="ctr"/>
          <a:lstStyle/>
          <a:p>
            <a:pPr indent="0" marL="0">
              <a:buNone/>
            </a:pPr>
            <a:r>
              <a:rPr lang="en-US" sz="1100" dirty="0">
                <a:solidFill>
                  <a:srgbClr val="EEF2F6"/>
                </a:solidFill>
                <a:latin typeface="Courier New" pitchFamily="34" charset="0"/>
                <a:ea typeface="Courier New" pitchFamily="34" charset="-122"/>
                <a:cs typeface="Courier New" pitchFamily="34" charset="-120"/>
              </a:rPr>
              <a:t>SUBMITTERID_YYYYMMDD_HHMM_NAME.txt</a:t>
            </a:r>
            <a:endParaRPr lang="en-US" sz="1100" dirty="0"/>
          </a:p>
        </p:txBody>
      </p:sp>
      <p:sp>
        <p:nvSpPr>
          <p:cNvPr id="9" name="Text 7"/>
          <p:cNvSpPr txBox="1"/>
          <p:nvPr/>
        </p:nvSpPr>
        <p:spPr>
          <a:xfrm>
            <a:off x="822960" y="4114800"/>
            <a:ext cx="4572000"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ALSO GENERATED</a:t>
            </a:r>
            <a:endParaRPr lang="en-US" sz="1050" dirty="0"/>
          </a:p>
        </p:txBody>
      </p:sp>
      <p:sp>
        <p:nvSpPr>
          <p:cNvPr id="10" name="Text 8"/>
          <p:cNvSpPr txBox="1"/>
          <p:nvPr/>
        </p:nvSpPr>
        <p:spPr>
          <a:xfrm>
            <a:off x="822960" y="4389120"/>
            <a:ext cx="4389120" cy="169164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050" dirty="0">
                <a:solidFill>
                  <a:srgbClr val="8A97A6"/>
                </a:solidFill>
                <a:latin typeface="Calibri" pitchFamily="34" charset="0"/>
                <a:ea typeface="Calibri" pitchFamily="34" charset="-122"/>
                <a:cs typeface="Calibri" pitchFamily="34" charset="-120"/>
              </a:rPr>
              <a:t>dbt-style model YAML + fake manifest.json</a:t>
            </a:r>
            <a:endParaRPr lang="en-US" sz="1050" dirty="0"/>
          </a:p>
          <a:p>
            <a:pPr marL="177800" indent="-177800">
              <a:lnSpc>
                <a:spcPct val="115000"/>
              </a:lnSpc>
              <a:spcAft>
                <a:spcPts val="400"/>
              </a:spcAft>
              <a:buSzPct val="100000"/>
              <a:buChar char="•"/>
            </a:pPr>
            <a:r>
              <a:rPr lang="en-US" sz="1050" dirty="0">
                <a:solidFill>
                  <a:srgbClr val="8A97A6"/>
                </a:solidFill>
                <a:latin typeface="Calibri" pitchFamily="34" charset="0"/>
                <a:ea typeface="Calibri" pitchFamily="34" charset="-122"/>
                <a:cs typeface="Calibri" pitchFamily="34" charset="-120"/>
              </a:rPr>
              <a:t>Airflow-style DAG run log (JSON) with one failed task</a:t>
            </a:r>
            <a:endParaRPr lang="en-US" sz="1050" dirty="0"/>
          </a:p>
          <a:p>
            <a:pPr marL="177800" indent="-177800">
              <a:lnSpc>
                <a:spcPct val="115000"/>
              </a:lnSpc>
              <a:spcAft>
                <a:spcPts val="400"/>
              </a:spcAft>
              <a:buSzPct val="100000"/>
              <a:buChar char="•"/>
            </a:pPr>
            <a:r>
              <a:rPr lang="en-US" sz="1050" dirty="0">
                <a:solidFill>
                  <a:srgbClr val="8A97A6"/>
                </a:solidFill>
                <a:latin typeface="Calibri" pitchFamily="34" charset="0"/>
                <a:ea typeface="Calibri" pitchFamily="34" charset="-122"/>
                <a:cs typeface="Calibri" pitchFamily="34" charset="-120"/>
              </a:rPr>
              <a:t>DATA_DICTIONARY.md documenting every column and anomaly</a:t>
            </a:r>
            <a:endParaRPr lang="en-US" sz="1050" dirty="0"/>
          </a:p>
          <a:p>
            <a:pPr marL="177800" indent="-177800">
              <a:lnSpc>
                <a:spcPct val="115000"/>
              </a:lnSpc>
              <a:spcAft>
                <a:spcPts val="400"/>
              </a:spcAft>
              <a:buSzPct val="100000"/>
              <a:buChar char="•"/>
            </a:pPr>
            <a:r>
              <a:rPr lang="en-US" sz="1050" dirty="0">
                <a:solidFill>
                  <a:srgbClr val="8A97A6"/>
                </a:solidFill>
                <a:latin typeface="Calibri" pitchFamily="34" charset="0"/>
                <a:ea typeface="Calibri" pitchFamily="34" charset="-122"/>
                <a:cs typeface="Calibri" pitchFamily="34" charset="-120"/>
              </a:rPr>
              <a:t>--seed 42 default → byte-for-byte reproducible; sample under data/sample/</a:t>
            </a:r>
            <a:endParaRPr lang="en-US" sz="1050" dirty="0"/>
          </a:p>
        </p:txBody>
      </p:sp>
      <p:sp>
        <p:nvSpPr>
          <p:cNvPr id="11" name="Shape 9"/>
          <p:cNvSpPr/>
          <p:nvPr/>
        </p:nvSpPr>
        <p:spPr>
          <a:xfrm>
            <a:off x="5760720" y="1554480"/>
            <a:ext cx="5879592" cy="1024128"/>
          </a:xfrm>
          <a:prstGeom prst="roundRect">
            <a:avLst>
              <a:gd name="adj" fmla="val 8036"/>
            </a:avLst>
          </a:prstGeom>
          <a:solidFill>
            <a:srgbClr val="212C39"/>
          </a:solidFill>
          <a:ln/>
        </p:spPr>
        <p:txBody>
          <a:bodyPr/>
          <a:p/>
        </p:txBody>
      </p:sp>
      <p:sp>
        <p:nvSpPr>
          <p:cNvPr id="12" name="Shape 10"/>
          <p:cNvSpPr/>
          <p:nvPr/>
        </p:nvSpPr>
        <p:spPr>
          <a:xfrm>
            <a:off x="5989320" y="1810512"/>
            <a:ext cx="512064" cy="512064"/>
          </a:xfrm>
          <a:prstGeom prst="ellipse">
            <a:avLst/>
          </a:prstGeom>
          <a:solidFill>
            <a:srgbClr val="F5A623"/>
          </a:solidFill>
          <a:ln/>
        </p:spPr>
        <p:txBody>
          <a:bodyPr/>
          <a:p/>
        </p:txBody>
      </p:sp>
      <p:pic>
        <p:nvPicPr>
          <p:cNvPr id="13" name="Image 0" descr="/home/claude/assets/icons/gitbranch.png">    </p:cNvPr>
          <p:cNvPicPr>
            <a:picLocks noChangeAspect="1"/>
          </p:cNvPicPr>
          <p:nvPr/>
        </p:nvPicPr>
        <p:blipFill>
          <a:blip r:embed="rId1"/>
          <a:stretch>
            <a:fillRect/>
          </a:stretch>
        </p:blipFill>
        <p:spPr>
          <a:xfrm>
            <a:off x="6061009" y="1882201"/>
            <a:ext cx="368686" cy="368686"/>
          </a:xfrm>
          <a:prstGeom prst="rect">
            <a:avLst/>
          </a:prstGeom>
        </p:spPr>
      </p:pic>
      <p:sp>
        <p:nvSpPr>
          <p:cNvPr id="14" name="Text 11"/>
          <p:cNvSpPr txBox="1"/>
          <p:nvPr/>
        </p:nvSpPr>
        <p:spPr>
          <a:xfrm>
            <a:off x="6720840" y="1691640"/>
            <a:ext cx="4690872" cy="365760"/>
          </a:xfrm>
          <a:prstGeom prst="rect">
            <a:avLst/>
          </a:prstGeom>
          <a:noFill/>
          <a:ln/>
        </p:spPr>
        <p:txBody>
          <a:bodyPr wrap="square" lIns="0" tIns="0" rIns="0" bIns="0" rtlCol="0" anchor="ctr"/>
          <a:lstStyle/>
          <a:p>
            <a:pPr indent="0" marL="0">
              <a:buNone/>
            </a:pPr>
            <a:r>
              <a:rPr lang="en-US" sz="1350" b="1" dirty="0">
                <a:solidFill>
                  <a:srgbClr val="EEF2F6"/>
                </a:solidFill>
                <a:latin typeface="Calibri" pitchFamily="34" charset="0"/>
                <a:ea typeface="Calibri" pitchFamily="34" charset="-122"/>
                <a:cs typeface="Calibri" pitchFamily="34" charset="-120"/>
              </a:rPr>
              <a:t>Key drift</a:t>
            </a:r>
            <a:endParaRPr lang="en-US" sz="1350" dirty="0"/>
          </a:p>
        </p:txBody>
      </p:sp>
      <p:sp>
        <p:nvSpPr>
          <p:cNvPr id="15" name="Text 12"/>
          <p:cNvSpPr txBox="1"/>
          <p:nvPr/>
        </p:nvSpPr>
        <p:spPr>
          <a:xfrm>
            <a:off x="6720840" y="2057400"/>
            <a:ext cx="4690872" cy="457200"/>
          </a:xfrm>
          <a:prstGeom prst="rect">
            <a:avLst/>
          </a:prstGeom>
          <a:noFill/>
          <a:ln/>
        </p:spPr>
        <p:txBody>
          <a:bodyPr wrap="square" lIns="0" tIns="0" rIns="0" bIns="0" rtlCol="0" anchor="ctr"/>
          <a:lstStyle/>
          <a:p>
            <a:pPr indent="0" marL="0">
              <a:lnSpc>
                <a:spcPct val="115000"/>
              </a:lnSpc>
              <a:buNone/>
            </a:pPr>
            <a:r>
              <a:rPr lang="en-US" sz="1100" dirty="0">
                <a:solidFill>
                  <a:srgbClr val="8A97A6"/>
                </a:solidFill>
                <a:latin typeface="Calibri" pitchFamily="34" charset="0"/>
                <a:ea typeface="Calibri" pitchFamily="34" charset="-122"/>
                <a:cs typeface="Calibri" pitchFamily="34" charset="-120"/>
              </a:rPr>
              <a:t>~3% of rows: one location reporting under two outlet_ids</a:t>
            </a:r>
            <a:endParaRPr lang="en-US" sz="1100" dirty="0"/>
          </a:p>
        </p:txBody>
      </p:sp>
      <p:sp>
        <p:nvSpPr>
          <p:cNvPr id="16" name="Shape 13"/>
          <p:cNvSpPr/>
          <p:nvPr/>
        </p:nvSpPr>
        <p:spPr>
          <a:xfrm>
            <a:off x="5760720" y="2752344"/>
            <a:ext cx="5879592" cy="1024128"/>
          </a:xfrm>
          <a:prstGeom prst="roundRect">
            <a:avLst>
              <a:gd name="adj" fmla="val 8036"/>
            </a:avLst>
          </a:prstGeom>
          <a:solidFill>
            <a:srgbClr val="212C39"/>
          </a:solidFill>
          <a:ln/>
        </p:spPr>
        <p:txBody>
          <a:bodyPr/>
          <a:p/>
        </p:txBody>
      </p:sp>
      <p:sp>
        <p:nvSpPr>
          <p:cNvPr id="17" name="Shape 14"/>
          <p:cNvSpPr/>
          <p:nvPr/>
        </p:nvSpPr>
        <p:spPr>
          <a:xfrm>
            <a:off x="5989320" y="3008376"/>
            <a:ext cx="512064" cy="512064"/>
          </a:xfrm>
          <a:prstGeom prst="ellipse">
            <a:avLst/>
          </a:prstGeom>
          <a:solidFill>
            <a:srgbClr val="4FD1C5"/>
          </a:solidFill>
          <a:ln/>
        </p:spPr>
        <p:txBody>
          <a:bodyPr/>
          <a:p/>
        </p:txBody>
      </p:sp>
      <p:pic>
        <p:nvPicPr>
          <p:cNvPr id="18" name="Image 1" descr="/home/claude/assets/icons/refresh.png">    </p:cNvPr>
          <p:cNvPicPr>
            <a:picLocks noChangeAspect="1"/>
          </p:cNvPicPr>
          <p:nvPr/>
        </p:nvPicPr>
        <p:blipFill>
          <a:blip r:embed="rId2"/>
          <a:stretch>
            <a:fillRect/>
          </a:stretch>
        </p:blipFill>
        <p:spPr>
          <a:xfrm>
            <a:off x="6061009" y="3080065"/>
            <a:ext cx="368686" cy="368686"/>
          </a:xfrm>
          <a:prstGeom prst="rect">
            <a:avLst/>
          </a:prstGeom>
        </p:spPr>
      </p:pic>
      <p:sp>
        <p:nvSpPr>
          <p:cNvPr id="19" name="Text 15"/>
          <p:cNvSpPr txBox="1"/>
          <p:nvPr/>
        </p:nvSpPr>
        <p:spPr>
          <a:xfrm>
            <a:off x="6720840" y="2889504"/>
            <a:ext cx="4690872" cy="365760"/>
          </a:xfrm>
          <a:prstGeom prst="rect">
            <a:avLst/>
          </a:prstGeom>
          <a:noFill/>
          <a:ln/>
        </p:spPr>
        <p:txBody>
          <a:bodyPr wrap="square" lIns="0" tIns="0" rIns="0" bIns="0" rtlCol="0" anchor="ctr"/>
          <a:lstStyle/>
          <a:p>
            <a:pPr indent="0" marL="0">
              <a:buNone/>
            </a:pPr>
            <a:r>
              <a:rPr lang="en-US" sz="1350" b="1" dirty="0">
                <a:solidFill>
                  <a:srgbClr val="EEF2F6"/>
                </a:solidFill>
                <a:latin typeface="Calibri" pitchFamily="34" charset="0"/>
                <a:ea typeface="Calibri" pitchFamily="34" charset="-122"/>
                <a:cs typeface="Calibri" pitchFamily="34" charset="-120"/>
              </a:rPr>
              <a:t>Duplicates</a:t>
            </a:r>
            <a:endParaRPr lang="en-US" sz="1350" dirty="0"/>
          </a:p>
        </p:txBody>
      </p:sp>
      <p:sp>
        <p:nvSpPr>
          <p:cNvPr id="20" name="Text 16"/>
          <p:cNvSpPr txBox="1"/>
          <p:nvPr/>
        </p:nvSpPr>
        <p:spPr>
          <a:xfrm>
            <a:off x="6720840" y="3255264"/>
            <a:ext cx="4690872" cy="457200"/>
          </a:xfrm>
          <a:prstGeom prst="rect">
            <a:avLst/>
          </a:prstGeom>
          <a:noFill/>
          <a:ln/>
        </p:spPr>
        <p:txBody>
          <a:bodyPr wrap="square" lIns="0" tIns="0" rIns="0" bIns="0" rtlCol="0" anchor="ctr"/>
          <a:lstStyle/>
          <a:p>
            <a:pPr indent="0" marL="0">
              <a:lnSpc>
                <a:spcPct val="115000"/>
              </a:lnSpc>
              <a:buNone/>
            </a:pPr>
            <a:r>
              <a:rPr lang="en-US" sz="1100" dirty="0">
                <a:solidFill>
                  <a:srgbClr val="8A97A6"/>
                </a:solidFill>
                <a:latin typeface="Calibri" pitchFamily="34" charset="0"/>
                <a:ea typeface="Calibri" pitchFamily="34" charset="-122"/>
                <a:cs typeface="Calibri" pitchFamily="34" charset="-120"/>
              </a:rPr>
              <a:t>Same transaction_id + channel_basket_id + upc_code in two files; the later file should win</a:t>
            </a:r>
            <a:endParaRPr lang="en-US" sz="1100" dirty="0"/>
          </a:p>
        </p:txBody>
      </p:sp>
      <p:sp>
        <p:nvSpPr>
          <p:cNvPr id="21" name="Shape 17"/>
          <p:cNvSpPr/>
          <p:nvPr/>
        </p:nvSpPr>
        <p:spPr>
          <a:xfrm>
            <a:off x="5760720" y="3950208"/>
            <a:ext cx="5879592" cy="1024128"/>
          </a:xfrm>
          <a:prstGeom prst="roundRect">
            <a:avLst>
              <a:gd name="adj" fmla="val 8036"/>
            </a:avLst>
          </a:prstGeom>
          <a:solidFill>
            <a:srgbClr val="212C39"/>
          </a:solidFill>
          <a:ln/>
        </p:spPr>
        <p:txBody>
          <a:bodyPr/>
          <a:p/>
        </p:txBody>
      </p:sp>
      <p:sp>
        <p:nvSpPr>
          <p:cNvPr id="22" name="Shape 18"/>
          <p:cNvSpPr/>
          <p:nvPr/>
        </p:nvSpPr>
        <p:spPr>
          <a:xfrm>
            <a:off x="5989320" y="4206240"/>
            <a:ext cx="512064" cy="512064"/>
          </a:xfrm>
          <a:prstGeom prst="ellipse">
            <a:avLst/>
          </a:prstGeom>
          <a:solidFill>
            <a:srgbClr val="F5A623"/>
          </a:solidFill>
          <a:ln/>
        </p:spPr>
        <p:txBody>
          <a:bodyPr/>
          <a:p/>
        </p:txBody>
      </p:sp>
      <p:pic>
        <p:nvPicPr>
          <p:cNvPr id="23" name="Image 2" descr="/home/claude/assets/icons/alert.png">    </p:cNvPr>
          <p:cNvPicPr>
            <a:picLocks noChangeAspect="1"/>
          </p:cNvPicPr>
          <p:nvPr/>
        </p:nvPicPr>
        <p:blipFill>
          <a:blip r:embed="rId3"/>
          <a:stretch>
            <a:fillRect/>
          </a:stretch>
        </p:blipFill>
        <p:spPr>
          <a:xfrm>
            <a:off x="6061009" y="4277929"/>
            <a:ext cx="368686" cy="368686"/>
          </a:xfrm>
          <a:prstGeom prst="rect">
            <a:avLst/>
          </a:prstGeom>
        </p:spPr>
      </p:pic>
      <p:sp>
        <p:nvSpPr>
          <p:cNvPr id="24" name="Text 19"/>
          <p:cNvSpPr txBox="1"/>
          <p:nvPr/>
        </p:nvSpPr>
        <p:spPr>
          <a:xfrm>
            <a:off x="6720840" y="4087368"/>
            <a:ext cx="4690872" cy="365760"/>
          </a:xfrm>
          <a:prstGeom prst="rect">
            <a:avLst/>
          </a:prstGeom>
          <a:noFill/>
          <a:ln/>
        </p:spPr>
        <p:txBody>
          <a:bodyPr wrap="square" lIns="0" tIns="0" rIns="0" bIns="0" rtlCol="0" anchor="ctr"/>
          <a:lstStyle/>
          <a:p>
            <a:pPr indent="0" marL="0">
              <a:buNone/>
            </a:pPr>
            <a:r>
              <a:rPr lang="en-US" sz="1350" b="1" dirty="0">
                <a:solidFill>
                  <a:srgbClr val="EEF2F6"/>
                </a:solidFill>
                <a:latin typeface="Calibri" pitchFamily="34" charset="0"/>
                <a:ea typeface="Calibri" pitchFamily="34" charset="-122"/>
                <a:cs typeface="Calibri" pitchFamily="34" charset="-120"/>
              </a:rPr>
              <a:t>Schema drift</a:t>
            </a:r>
            <a:endParaRPr lang="en-US" sz="1350" dirty="0"/>
          </a:p>
        </p:txBody>
      </p:sp>
      <p:sp>
        <p:nvSpPr>
          <p:cNvPr id="25" name="Text 20"/>
          <p:cNvSpPr txBox="1"/>
          <p:nvPr/>
        </p:nvSpPr>
        <p:spPr>
          <a:xfrm>
            <a:off x="6720840" y="4453128"/>
            <a:ext cx="4690872" cy="457200"/>
          </a:xfrm>
          <a:prstGeom prst="rect">
            <a:avLst/>
          </a:prstGeom>
          <a:noFill/>
          <a:ln/>
        </p:spPr>
        <p:txBody>
          <a:bodyPr wrap="square" lIns="0" tIns="0" rIns="0" bIns="0" rtlCol="0" anchor="ctr"/>
          <a:lstStyle/>
          <a:p>
            <a:pPr indent="0" marL="0">
              <a:lnSpc>
                <a:spcPct val="115000"/>
              </a:lnSpc>
              <a:buNone/>
            </a:pPr>
            <a:r>
              <a:rPr lang="en-US" sz="1100" dirty="0">
                <a:solidFill>
                  <a:srgbClr val="8A97A6"/>
                </a:solidFill>
                <a:latin typeface="Calibri" pitchFamily="34" charset="0"/>
                <a:ea typeface="Calibri" pitchFamily="34" charset="-122"/>
                <a:cs typeface="Calibri" pitchFamily="34" charset="-120"/>
              </a:rPr>
              <a:t>One batch drops or renames a column</a:t>
            </a:r>
            <a:endParaRPr lang="en-US" sz="1100" dirty="0"/>
          </a:p>
        </p:txBody>
      </p:sp>
      <p:sp>
        <p:nvSpPr>
          <p:cNvPr id="26" name="Shape 21"/>
          <p:cNvSpPr/>
          <p:nvPr/>
        </p:nvSpPr>
        <p:spPr>
          <a:xfrm>
            <a:off x="5760720" y="5148072"/>
            <a:ext cx="5879592" cy="1024128"/>
          </a:xfrm>
          <a:prstGeom prst="roundRect">
            <a:avLst>
              <a:gd name="adj" fmla="val 8036"/>
            </a:avLst>
          </a:prstGeom>
          <a:solidFill>
            <a:srgbClr val="212C39"/>
          </a:solidFill>
          <a:ln/>
        </p:spPr>
        <p:txBody>
          <a:bodyPr/>
          <a:p/>
        </p:txBody>
      </p:sp>
      <p:sp>
        <p:nvSpPr>
          <p:cNvPr id="27" name="Shape 22"/>
          <p:cNvSpPr/>
          <p:nvPr/>
        </p:nvSpPr>
        <p:spPr>
          <a:xfrm>
            <a:off x="5989320" y="5404104"/>
            <a:ext cx="512064" cy="512064"/>
          </a:xfrm>
          <a:prstGeom prst="ellipse">
            <a:avLst/>
          </a:prstGeom>
          <a:solidFill>
            <a:srgbClr val="4FD1C5"/>
          </a:solidFill>
          <a:ln/>
        </p:spPr>
        <p:txBody>
          <a:bodyPr/>
          <a:p/>
        </p:txBody>
      </p:sp>
      <p:pic>
        <p:nvPicPr>
          <p:cNvPr id="28" name="Image 3" descr="/home/claude/assets/icons/trenddown.png">    </p:cNvPr>
          <p:cNvPicPr>
            <a:picLocks noChangeAspect="1"/>
          </p:cNvPicPr>
          <p:nvPr/>
        </p:nvPicPr>
        <p:blipFill>
          <a:blip r:embed="rId4"/>
          <a:stretch>
            <a:fillRect/>
          </a:stretch>
        </p:blipFill>
        <p:spPr>
          <a:xfrm>
            <a:off x="6061009" y="5475793"/>
            <a:ext cx="368686" cy="368686"/>
          </a:xfrm>
          <a:prstGeom prst="rect">
            <a:avLst/>
          </a:prstGeom>
        </p:spPr>
      </p:pic>
      <p:sp>
        <p:nvSpPr>
          <p:cNvPr id="29" name="Text 23"/>
          <p:cNvSpPr txBox="1"/>
          <p:nvPr/>
        </p:nvSpPr>
        <p:spPr>
          <a:xfrm>
            <a:off x="6720840" y="5285232"/>
            <a:ext cx="4690872" cy="365760"/>
          </a:xfrm>
          <a:prstGeom prst="rect">
            <a:avLst/>
          </a:prstGeom>
          <a:noFill/>
          <a:ln/>
        </p:spPr>
        <p:txBody>
          <a:bodyPr wrap="square" lIns="0" tIns="0" rIns="0" bIns="0" rtlCol="0" anchor="ctr"/>
          <a:lstStyle/>
          <a:p>
            <a:pPr indent="0" marL="0">
              <a:buNone/>
            </a:pPr>
            <a:r>
              <a:rPr lang="en-US" sz="1350" b="1" dirty="0">
                <a:solidFill>
                  <a:srgbClr val="EEF2F6"/>
                </a:solidFill>
                <a:latin typeface="Calibri" pitchFamily="34" charset="0"/>
                <a:ea typeface="Calibri" pitchFamily="34" charset="-122"/>
                <a:cs typeface="Calibri" pitchFamily="34" charset="-120"/>
              </a:rPr>
              <a:t>Volume anomaly</a:t>
            </a:r>
            <a:endParaRPr lang="en-US" sz="1350" dirty="0"/>
          </a:p>
        </p:txBody>
      </p:sp>
      <p:sp>
        <p:nvSpPr>
          <p:cNvPr id="30" name="Text 24"/>
          <p:cNvSpPr txBox="1"/>
          <p:nvPr/>
        </p:nvSpPr>
        <p:spPr>
          <a:xfrm>
            <a:off x="6720840" y="5650992"/>
            <a:ext cx="4690872" cy="457200"/>
          </a:xfrm>
          <a:prstGeom prst="rect">
            <a:avLst/>
          </a:prstGeom>
          <a:noFill/>
          <a:ln/>
        </p:spPr>
        <p:txBody>
          <a:bodyPr wrap="square" lIns="0" tIns="0" rIns="0" bIns="0" rtlCol="0" anchor="ctr"/>
          <a:lstStyle/>
          <a:p>
            <a:pPr indent="0" marL="0">
              <a:lnSpc>
                <a:spcPct val="115000"/>
              </a:lnSpc>
              <a:buNone/>
            </a:pPr>
            <a:r>
              <a:rPr lang="en-US" sz="1100" dirty="0">
                <a:solidFill>
                  <a:srgbClr val="8A97A6"/>
                </a:solidFill>
                <a:latin typeface="Calibri" pitchFamily="34" charset="0"/>
                <a:ea typeface="Calibri" pitchFamily="34" charset="-122"/>
                <a:cs typeface="Calibri" pitchFamily="34" charset="-120"/>
              </a:rPr>
              <a:t>One day's file comes in 40% under trailing average</a:t>
            </a:r>
            <a:endParaRPr lang="en-US" sz="1100" dirty="0"/>
          </a:p>
        </p:txBody>
      </p:sp>
      <p:sp>
        <p:nvSpPr>
          <p:cNvPr id="31" name="Text 25"/>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32" name="Text 26"/>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RETRIEVAL LAYER</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Retrieval: why I use BM25 and embeddings together</a:t>
            </a:r>
            <a:endParaRPr lang="en-US" sz="3000" dirty="0"/>
          </a:p>
        </p:txBody>
      </p:sp>
      <p:sp>
        <p:nvSpPr>
          <p:cNvPr id="4" name="Shape 2"/>
          <p:cNvSpPr/>
          <p:nvPr/>
        </p:nvSpPr>
        <p:spPr>
          <a:xfrm>
            <a:off x="548640" y="1600200"/>
            <a:ext cx="2651760" cy="306324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5" name="Shape 3"/>
          <p:cNvSpPr/>
          <p:nvPr/>
        </p:nvSpPr>
        <p:spPr>
          <a:xfrm>
            <a:off x="804672" y="1856232"/>
            <a:ext cx="548640" cy="548640"/>
          </a:xfrm>
          <a:prstGeom prst="ellipse">
            <a:avLst/>
          </a:prstGeom>
          <a:solidFill>
            <a:srgbClr val="F5A623"/>
          </a:solidFill>
          <a:ln/>
        </p:spPr>
        <p:txBody>
          <a:bodyPr/>
          <a:p/>
        </p:txBody>
      </p:sp>
      <p:pic>
        <p:nvPicPr>
          <p:cNvPr id="6" name="Image 0" descr="/home/claude/assets/icons/book.png">    </p:cNvPr>
          <p:cNvPicPr>
            <a:picLocks noChangeAspect="1"/>
          </p:cNvPicPr>
          <p:nvPr/>
        </p:nvPicPr>
        <p:blipFill>
          <a:blip r:embed="rId1"/>
          <a:stretch>
            <a:fillRect/>
          </a:stretch>
        </p:blipFill>
        <p:spPr>
          <a:xfrm>
            <a:off x="881482" y="1933042"/>
            <a:ext cx="395021" cy="395021"/>
          </a:xfrm>
          <a:prstGeom prst="rect">
            <a:avLst/>
          </a:prstGeom>
        </p:spPr>
      </p:pic>
      <p:sp>
        <p:nvSpPr>
          <p:cNvPr id="7" name="Text 4"/>
          <p:cNvSpPr txBox="1"/>
          <p:nvPr/>
        </p:nvSpPr>
        <p:spPr>
          <a:xfrm>
            <a:off x="804672" y="2532888"/>
            <a:ext cx="2194560" cy="384048"/>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1  Ingest</a:t>
            </a:r>
            <a:endParaRPr lang="en-US" sz="1450" dirty="0"/>
          </a:p>
        </p:txBody>
      </p:sp>
      <p:sp>
        <p:nvSpPr>
          <p:cNvPr id="8" name="Text 5"/>
          <p:cNvSpPr txBox="1"/>
          <p:nvPr/>
        </p:nvSpPr>
        <p:spPr>
          <a:xfrm>
            <a:off x="804672" y="2971800"/>
            <a:ext cx="2148840" cy="155448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Runbooks, schema docs, dbt YAML, and past incident write-ups, chunked with overlap. The chunking choice is written up as an ADR.</a:t>
            </a:r>
            <a:endParaRPr lang="en-US" sz="1100" dirty="0"/>
          </a:p>
        </p:txBody>
      </p:sp>
      <p:sp>
        <p:nvSpPr>
          <p:cNvPr id="9" name="Shape 6"/>
          <p:cNvSpPr/>
          <p:nvPr/>
        </p:nvSpPr>
        <p:spPr>
          <a:xfrm>
            <a:off x="3364992" y="1600200"/>
            <a:ext cx="2651760" cy="306324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0" name="Shape 7"/>
          <p:cNvSpPr/>
          <p:nvPr/>
        </p:nvSpPr>
        <p:spPr>
          <a:xfrm>
            <a:off x="3621024" y="1856232"/>
            <a:ext cx="548640" cy="548640"/>
          </a:xfrm>
          <a:prstGeom prst="ellipse">
            <a:avLst/>
          </a:prstGeom>
          <a:solidFill>
            <a:srgbClr val="4FD1C5"/>
          </a:solidFill>
          <a:ln/>
        </p:spPr>
        <p:txBody>
          <a:bodyPr/>
          <a:p/>
        </p:txBody>
      </p:sp>
      <p:pic>
        <p:nvPicPr>
          <p:cNvPr id="11" name="Image 1" descr="/home/claude/assets/icons/search.png">    </p:cNvPr>
          <p:cNvPicPr>
            <a:picLocks noChangeAspect="1"/>
          </p:cNvPicPr>
          <p:nvPr/>
        </p:nvPicPr>
        <p:blipFill>
          <a:blip r:embed="rId2"/>
          <a:stretch>
            <a:fillRect/>
          </a:stretch>
        </p:blipFill>
        <p:spPr>
          <a:xfrm>
            <a:off x="3697834" y="1933042"/>
            <a:ext cx="395021" cy="395021"/>
          </a:xfrm>
          <a:prstGeom prst="rect">
            <a:avLst/>
          </a:prstGeom>
        </p:spPr>
      </p:pic>
      <p:sp>
        <p:nvSpPr>
          <p:cNvPr id="12" name="Text 8"/>
          <p:cNvSpPr txBox="1"/>
          <p:nvPr/>
        </p:nvSpPr>
        <p:spPr>
          <a:xfrm>
            <a:off x="3621024" y="2532888"/>
            <a:ext cx="2194560" cy="384048"/>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2  Retrieve twice</a:t>
            </a:r>
            <a:endParaRPr lang="en-US" sz="1450" dirty="0"/>
          </a:p>
        </p:txBody>
      </p:sp>
      <p:sp>
        <p:nvSpPr>
          <p:cNvPr id="13" name="Text 9"/>
          <p:cNvSpPr txBox="1"/>
          <p:nvPr/>
        </p:nvSpPr>
        <p:spPr>
          <a:xfrm>
            <a:off x="3621024" y="2971800"/>
            <a:ext cx="2148840" cy="155448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BM25 nails exact table names, column names, and error codes. Dense search (FAISS locally, Pinecone behind a flag) handles the "why would this happen" questions.</a:t>
            </a:r>
            <a:endParaRPr lang="en-US" sz="1100" dirty="0"/>
          </a:p>
        </p:txBody>
      </p:sp>
      <p:sp>
        <p:nvSpPr>
          <p:cNvPr id="14" name="Shape 10"/>
          <p:cNvSpPr/>
          <p:nvPr/>
        </p:nvSpPr>
        <p:spPr>
          <a:xfrm>
            <a:off x="6181344" y="1600200"/>
            <a:ext cx="2651760" cy="306324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5" name="Shape 11"/>
          <p:cNvSpPr/>
          <p:nvPr/>
        </p:nvSpPr>
        <p:spPr>
          <a:xfrm>
            <a:off x="6437376" y="1856232"/>
            <a:ext cx="548640" cy="548640"/>
          </a:xfrm>
          <a:prstGeom prst="ellipse">
            <a:avLst/>
          </a:prstGeom>
          <a:solidFill>
            <a:srgbClr val="F5A623"/>
          </a:solidFill>
          <a:ln/>
        </p:spPr>
        <p:txBody>
          <a:bodyPr/>
          <a:p/>
        </p:txBody>
      </p:sp>
      <p:pic>
        <p:nvPicPr>
          <p:cNvPr id="16" name="Image 2" descr="/home/claude/assets/icons/share.png">    </p:cNvPr>
          <p:cNvPicPr>
            <a:picLocks noChangeAspect="1"/>
          </p:cNvPicPr>
          <p:nvPr/>
        </p:nvPicPr>
        <p:blipFill>
          <a:blip r:embed="rId3"/>
          <a:stretch>
            <a:fillRect/>
          </a:stretch>
        </p:blipFill>
        <p:spPr>
          <a:xfrm>
            <a:off x="6514186" y="1933042"/>
            <a:ext cx="395021" cy="395021"/>
          </a:xfrm>
          <a:prstGeom prst="rect">
            <a:avLst/>
          </a:prstGeom>
        </p:spPr>
      </p:pic>
      <p:sp>
        <p:nvSpPr>
          <p:cNvPr id="17" name="Text 12"/>
          <p:cNvSpPr txBox="1"/>
          <p:nvPr/>
        </p:nvSpPr>
        <p:spPr>
          <a:xfrm>
            <a:off x="6437376" y="2532888"/>
            <a:ext cx="2194560" cy="384048"/>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3  Fuse</a:t>
            </a:r>
            <a:endParaRPr lang="en-US" sz="1450" dirty="0"/>
          </a:p>
        </p:txBody>
      </p:sp>
      <p:sp>
        <p:nvSpPr>
          <p:cNvPr id="18" name="Text 13"/>
          <p:cNvSpPr txBox="1"/>
          <p:nvPr/>
        </p:nvSpPr>
        <p:spPr>
          <a:xfrm>
            <a:off x="6437376" y="2971800"/>
            <a:ext cx="2148840" cy="155448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Reciprocal rank fusion merges the two lists so neither one's blind spot wins.</a:t>
            </a:r>
            <a:endParaRPr lang="en-US" sz="1100" dirty="0"/>
          </a:p>
        </p:txBody>
      </p:sp>
      <p:sp>
        <p:nvSpPr>
          <p:cNvPr id="19" name="Shape 14"/>
          <p:cNvSpPr/>
          <p:nvPr/>
        </p:nvSpPr>
        <p:spPr>
          <a:xfrm>
            <a:off x="8997696" y="1600200"/>
            <a:ext cx="2651760" cy="306324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20" name="Shape 15"/>
          <p:cNvSpPr/>
          <p:nvPr/>
        </p:nvSpPr>
        <p:spPr>
          <a:xfrm>
            <a:off x="9253728" y="1856232"/>
            <a:ext cx="548640" cy="548640"/>
          </a:xfrm>
          <a:prstGeom prst="ellipse">
            <a:avLst/>
          </a:prstGeom>
          <a:solidFill>
            <a:srgbClr val="4FD1C5"/>
          </a:solidFill>
          <a:ln/>
        </p:spPr>
        <p:txBody>
          <a:bodyPr/>
          <a:p/>
        </p:txBody>
      </p:sp>
      <p:pic>
        <p:nvPicPr>
          <p:cNvPr id="21" name="Image 3" descr="/home/claude/assets/icons/shield.png">    </p:cNvPr>
          <p:cNvPicPr>
            <a:picLocks noChangeAspect="1"/>
          </p:cNvPicPr>
          <p:nvPr/>
        </p:nvPicPr>
        <p:blipFill>
          <a:blip r:embed="rId4"/>
          <a:stretch>
            <a:fillRect/>
          </a:stretch>
        </p:blipFill>
        <p:spPr>
          <a:xfrm>
            <a:off x="9330538" y="1933042"/>
            <a:ext cx="395021" cy="395021"/>
          </a:xfrm>
          <a:prstGeom prst="rect">
            <a:avLst/>
          </a:prstGeom>
        </p:spPr>
      </p:pic>
      <p:sp>
        <p:nvSpPr>
          <p:cNvPr id="22" name="Text 16"/>
          <p:cNvSpPr txBox="1"/>
          <p:nvPr/>
        </p:nvSpPr>
        <p:spPr>
          <a:xfrm>
            <a:off x="9253728" y="2532888"/>
            <a:ext cx="2194560" cy="384048"/>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4  Guard</a:t>
            </a:r>
            <a:endParaRPr lang="en-US" sz="1450" dirty="0"/>
          </a:p>
        </p:txBody>
      </p:sp>
      <p:sp>
        <p:nvSpPr>
          <p:cNvPr id="23" name="Text 17"/>
          <p:cNvSpPr txBox="1"/>
          <p:nvPr/>
        </p:nvSpPr>
        <p:spPr>
          <a:xfrm>
            <a:off x="9253728" y="2971800"/>
            <a:ext cx="2148840" cy="155448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Retrieved text is untrusted. It is wrapped in delimiters, and a test plants an instruction inside a runbook to make sure the agents ignore it.</a:t>
            </a:r>
            <a:endParaRPr lang="en-US" sz="1100" dirty="0"/>
          </a:p>
        </p:txBody>
      </p:sp>
      <p:sp>
        <p:nvSpPr>
          <p:cNvPr id="24" name="Shape 18"/>
          <p:cNvSpPr/>
          <p:nvPr/>
        </p:nvSpPr>
        <p:spPr>
          <a:xfrm>
            <a:off x="548640" y="4892040"/>
            <a:ext cx="11091672" cy="1280160"/>
          </a:xfrm>
          <a:prstGeom prst="roundRect">
            <a:avLst>
              <a:gd name="adj" fmla="val 6429"/>
            </a:avLst>
          </a:prstGeom>
          <a:solidFill>
            <a:srgbClr val="212C39"/>
          </a:solidFill>
          <a:ln/>
        </p:spPr>
        <p:txBody>
          <a:bodyPr/>
          <a:p/>
        </p:txBody>
      </p:sp>
      <p:sp>
        <p:nvSpPr>
          <p:cNvPr id="25" name="Text 19"/>
          <p:cNvSpPr txBox="1"/>
          <p:nvPr/>
        </p:nvSpPr>
        <p:spPr>
          <a:xfrm>
            <a:off x="822960" y="5074920"/>
            <a:ext cx="4572000"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HOW I KNOW IT WORKS</a:t>
            </a:r>
            <a:endParaRPr lang="en-US" sz="1050" dirty="0"/>
          </a:p>
        </p:txBody>
      </p:sp>
      <p:sp>
        <p:nvSpPr>
          <p:cNvPr id="26" name="Text 20"/>
          <p:cNvSpPr txBox="1"/>
          <p:nvPr/>
        </p:nvSpPr>
        <p:spPr>
          <a:xfrm>
            <a:off x="822960" y="5349240"/>
            <a:ext cx="10515600" cy="777240"/>
          </a:xfrm>
          <a:prstGeom prst="rect">
            <a:avLst/>
          </a:prstGeom>
          <a:noFill/>
          <a:ln/>
        </p:spPr>
        <p:txBody>
          <a:bodyPr wrap="square" lIns="0" tIns="0" rIns="0" bIns="0" rtlCol="0" anchor="ctr"/>
          <a:lstStyle/>
          <a:p>
            <a:pPr indent="0" marL="0">
              <a:lnSpc>
                <a:spcPct val="120000"/>
              </a:lnSpc>
              <a:buNone/>
            </a:pPr>
            <a:r>
              <a:rPr lang="en-US" sz="1150" dirty="0">
                <a:solidFill>
                  <a:srgbClr val="EEF2F6"/>
                </a:solidFill>
                <a:latin typeface="Calibri" pitchFamily="34" charset="0"/>
                <a:ea typeface="Calibri" pitchFamily="34" charset="-122"/>
                <a:cs typeface="Calibri" pitchFamily="34" charset="-120"/>
              </a:rPr>
              <a:t>I wrote a golden set of 40+ question / answer / context triples covering every anomaly type. RAGAS scores faithfulness, answer relevancy, context precision, and context recall on every commit, and CI fails below the thresholds in evals/thresholds.yaml (0.75 to start, raised in the last phase). Phase B has to beat Phase A on this set before I add any agents.</a:t>
            </a:r>
            <a:endParaRPr lang="en-US" sz="1150" dirty="0"/>
          </a:p>
        </p:txBody>
      </p:sp>
      <p:sp>
        <p:nvSpPr>
          <p:cNvPr id="27" name="Text 21"/>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28" name="Text 22"/>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4FD1C5"/>
                </a:solidFill>
                <a:latin typeface="Courier New" pitchFamily="34" charset="0"/>
                <a:ea typeface="Courier New" pitchFamily="34" charset="-122"/>
                <a:cs typeface="Courier New" pitchFamily="34" charset="-120"/>
              </a:rPr>
              <a:t>MULTI-AGENT DESIGN</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The agents: four narrow jobs instead of one big prompt</a:t>
            </a:r>
            <a:endParaRPr lang="en-US" sz="3000" dirty="0"/>
          </a:p>
        </p:txBody>
      </p:sp>
      <p:sp>
        <p:nvSpPr>
          <p:cNvPr id="4" name="Shape 2"/>
          <p:cNvSpPr/>
          <p:nvPr/>
        </p:nvSpPr>
        <p:spPr>
          <a:xfrm>
            <a:off x="548640" y="1600200"/>
            <a:ext cx="2651760" cy="278892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5" name="Shape 3"/>
          <p:cNvSpPr/>
          <p:nvPr/>
        </p:nvSpPr>
        <p:spPr>
          <a:xfrm>
            <a:off x="804672" y="1856232"/>
            <a:ext cx="548640" cy="548640"/>
          </a:xfrm>
          <a:prstGeom prst="ellipse">
            <a:avLst/>
          </a:prstGeom>
          <a:solidFill>
            <a:srgbClr val="F5A623"/>
          </a:solidFill>
          <a:ln/>
        </p:spPr>
        <p:txBody>
          <a:bodyPr/>
          <a:p/>
        </p:txBody>
      </p:sp>
      <p:pic>
        <p:nvPicPr>
          <p:cNvPr id="6" name="Image 0" descr="/home/claude/assets/icons/compass.png">    </p:cNvPr>
          <p:cNvPicPr>
            <a:picLocks noChangeAspect="1"/>
          </p:cNvPicPr>
          <p:nvPr/>
        </p:nvPicPr>
        <p:blipFill>
          <a:blip r:embed="rId1"/>
          <a:stretch>
            <a:fillRect/>
          </a:stretch>
        </p:blipFill>
        <p:spPr>
          <a:xfrm>
            <a:off x="881482" y="1933042"/>
            <a:ext cx="395021" cy="395021"/>
          </a:xfrm>
          <a:prstGeom prst="rect">
            <a:avLst/>
          </a:prstGeom>
        </p:spPr>
      </p:pic>
      <p:sp>
        <p:nvSpPr>
          <p:cNvPr id="7" name="Text 4"/>
          <p:cNvSpPr txBox="1"/>
          <p:nvPr/>
        </p:nvSpPr>
        <p:spPr>
          <a:xfrm>
            <a:off x="1463040" y="1856232"/>
            <a:ext cx="1554480" cy="54864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Planner</a:t>
            </a:r>
            <a:endParaRPr lang="en-US" sz="1500" dirty="0"/>
          </a:p>
        </p:txBody>
      </p:sp>
      <p:sp>
        <p:nvSpPr>
          <p:cNvPr id="8" name="Text 5"/>
          <p:cNvSpPr txBox="1"/>
          <p:nvPr/>
        </p:nvSpPr>
        <p:spPr>
          <a:xfrm>
            <a:off x="804672" y="2560320"/>
            <a:ext cx="2148840" cy="169164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Takes the question or scan trigger and decides which specialists to run. If confidence is low, it routes to me instead of guessing.</a:t>
            </a:r>
            <a:endParaRPr lang="en-US" sz="1100" dirty="0"/>
          </a:p>
        </p:txBody>
      </p:sp>
      <p:sp>
        <p:nvSpPr>
          <p:cNvPr id="9" name="Shape 6"/>
          <p:cNvSpPr/>
          <p:nvPr/>
        </p:nvSpPr>
        <p:spPr>
          <a:xfrm>
            <a:off x="3364992" y="1600200"/>
            <a:ext cx="2651760" cy="278892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0" name="Shape 7"/>
          <p:cNvSpPr/>
          <p:nvPr/>
        </p:nvSpPr>
        <p:spPr>
          <a:xfrm>
            <a:off x="3621024" y="1856232"/>
            <a:ext cx="548640" cy="548640"/>
          </a:xfrm>
          <a:prstGeom prst="ellipse">
            <a:avLst/>
          </a:prstGeom>
          <a:solidFill>
            <a:srgbClr val="4FD1C5"/>
          </a:solidFill>
          <a:ln/>
        </p:spPr>
        <p:txBody>
          <a:bodyPr/>
          <a:p/>
        </p:txBody>
      </p:sp>
      <p:pic>
        <p:nvPicPr>
          <p:cNvPr id="11" name="Image 1" descr="/home/claude/assets/icons/gitbranch.png">    </p:cNvPr>
          <p:cNvPicPr>
            <a:picLocks noChangeAspect="1"/>
          </p:cNvPicPr>
          <p:nvPr/>
        </p:nvPicPr>
        <p:blipFill>
          <a:blip r:embed="rId2"/>
          <a:stretch>
            <a:fillRect/>
          </a:stretch>
        </p:blipFill>
        <p:spPr>
          <a:xfrm>
            <a:off x="3697834" y="1933042"/>
            <a:ext cx="395021" cy="395021"/>
          </a:xfrm>
          <a:prstGeom prst="rect">
            <a:avLst/>
          </a:prstGeom>
        </p:spPr>
      </p:pic>
      <p:sp>
        <p:nvSpPr>
          <p:cNvPr id="12" name="Text 8"/>
          <p:cNvSpPr txBox="1"/>
          <p:nvPr/>
        </p:nvSpPr>
        <p:spPr>
          <a:xfrm>
            <a:off x="4279392" y="1856232"/>
            <a:ext cx="1554480" cy="54864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Reconciliation</a:t>
            </a:r>
            <a:endParaRPr lang="en-US" sz="1500" dirty="0"/>
          </a:p>
        </p:txBody>
      </p:sp>
      <p:sp>
        <p:nvSpPr>
          <p:cNvPr id="13" name="Text 9"/>
          <p:cNvSpPr txBox="1"/>
          <p:nvPr/>
        </p:nvSpPr>
        <p:spPr>
          <a:xfrm>
            <a:off x="3621024" y="2560320"/>
            <a:ext cx="2148840" cy="169164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Applies the dedup keys and latest-file-wins rule from the domain adapter. Flags key drift as its own finding type.</a:t>
            </a:r>
            <a:endParaRPr lang="en-US" sz="1100" dirty="0"/>
          </a:p>
        </p:txBody>
      </p:sp>
      <p:sp>
        <p:nvSpPr>
          <p:cNvPr id="14" name="Shape 10"/>
          <p:cNvSpPr/>
          <p:nvPr/>
        </p:nvSpPr>
        <p:spPr>
          <a:xfrm>
            <a:off x="6181344" y="1600200"/>
            <a:ext cx="2651760" cy="278892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5" name="Shape 11"/>
          <p:cNvSpPr/>
          <p:nvPr/>
        </p:nvSpPr>
        <p:spPr>
          <a:xfrm>
            <a:off x="6437376" y="1856232"/>
            <a:ext cx="548640" cy="548640"/>
          </a:xfrm>
          <a:prstGeom prst="ellipse">
            <a:avLst/>
          </a:prstGeom>
          <a:solidFill>
            <a:srgbClr val="F5A623"/>
          </a:solidFill>
          <a:ln/>
        </p:spPr>
        <p:txBody>
          <a:bodyPr/>
          <a:p/>
        </p:txBody>
      </p:sp>
      <p:pic>
        <p:nvPicPr>
          <p:cNvPr id="16" name="Image 2" descr="/home/claude/assets/icons/alert.png">    </p:cNvPr>
          <p:cNvPicPr>
            <a:picLocks noChangeAspect="1"/>
          </p:cNvPicPr>
          <p:nvPr/>
        </p:nvPicPr>
        <p:blipFill>
          <a:blip r:embed="rId3"/>
          <a:stretch>
            <a:fillRect/>
          </a:stretch>
        </p:blipFill>
        <p:spPr>
          <a:xfrm>
            <a:off x="6514186" y="1933042"/>
            <a:ext cx="395021" cy="395021"/>
          </a:xfrm>
          <a:prstGeom prst="rect">
            <a:avLst/>
          </a:prstGeom>
        </p:spPr>
      </p:pic>
      <p:sp>
        <p:nvSpPr>
          <p:cNvPr id="17" name="Text 12"/>
          <p:cNvSpPr txBox="1"/>
          <p:nvPr/>
        </p:nvSpPr>
        <p:spPr>
          <a:xfrm>
            <a:off x="7095744" y="1856232"/>
            <a:ext cx="1554480" cy="54864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Data-Quality</a:t>
            </a:r>
            <a:endParaRPr lang="en-US" sz="1500" dirty="0"/>
          </a:p>
        </p:txBody>
      </p:sp>
      <p:sp>
        <p:nvSpPr>
          <p:cNvPr id="18" name="Text 13"/>
          <p:cNvSpPr txBox="1"/>
          <p:nvPr/>
        </p:nvSpPr>
        <p:spPr>
          <a:xfrm>
            <a:off x="6437376" y="2560320"/>
            <a:ext cx="2148840" cy="169164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Diffs live schema against the dbt manifest and checks volume and timing against DAG history, all through MCP tools.</a:t>
            </a:r>
            <a:endParaRPr lang="en-US" sz="1100" dirty="0"/>
          </a:p>
        </p:txBody>
      </p:sp>
      <p:sp>
        <p:nvSpPr>
          <p:cNvPr id="19" name="Shape 14"/>
          <p:cNvSpPr/>
          <p:nvPr/>
        </p:nvSpPr>
        <p:spPr>
          <a:xfrm>
            <a:off x="8997696" y="1600200"/>
            <a:ext cx="2651760" cy="2788920"/>
          </a:xfrm>
          <a:prstGeom prst="roundRect">
            <a:avLst>
              <a:gd name="adj" fmla="val 310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20" name="Shape 15"/>
          <p:cNvSpPr/>
          <p:nvPr/>
        </p:nvSpPr>
        <p:spPr>
          <a:xfrm>
            <a:off x="9253728" y="1856232"/>
            <a:ext cx="548640" cy="548640"/>
          </a:xfrm>
          <a:prstGeom prst="ellipse">
            <a:avLst/>
          </a:prstGeom>
          <a:solidFill>
            <a:srgbClr val="4FD1C5"/>
          </a:solidFill>
          <a:ln/>
        </p:spPr>
        <p:txBody>
          <a:bodyPr/>
          <a:p/>
        </p:txBody>
      </p:sp>
      <p:pic>
        <p:nvPicPr>
          <p:cNvPr id="21" name="Image 3" descr="/home/claude/assets/icons/message.png">    </p:cNvPr>
          <p:cNvPicPr>
            <a:picLocks noChangeAspect="1"/>
          </p:cNvPicPr>
          <p:nvPr/>
        </p:nvPicPr>
        <p:blipFill>
          <a:blip r:embed="rId4"/>
          <a:stretch>
            <a:fillRect/>
          </a:stretch>
        </p:blipFill>
        <p:spPr>
          <a:xfrm>
            <a:off x="9330538" y="1933042"/>
            <a:ext cx="395021" cy="395021"/>
          </a:xfrm>
          <a:prstGeom prst="rect">
            <a:avLst/>
          </a:prstGeom>
        </p:spPr>
      </p:pic>
      <p:sp>
        <p:nvSpPr>
          <p:cNvPr id="22" name="Text 16"/>
          <p:cNvSpPr txBox="1"/>
          <p:nvPr/>
        </p:nvSpPr>
        <p:spPr>
          <a:xfrm>
            <a:off x="9912096" y="1856232"/>
            <a:ext cx="1554480" cy="54864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Reporter</a:t>
            </a:r>
            <a:endParaRPr lang="en-US" sz="1500" dirty="0"/>
          </a:p>
        </p:txBody>
      </p:sp>
      <p:sp>
        <p:nvSpPr>
          <p:cNvPr id="23" name="Text 17"/>
          <p:cNvSpPr txBox="1"/>
          <p:nvPr/>
        </p:nvSpPr>
        <p:spPr>
          <a:xfrm>
            <a:off x="9253728" y="2560320"/>
            <a:ext cx="2148840" cy="169164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Turns the findings into a Pydantic IncidentReport: problem, affected records, root-cause hypothesis, fix, confidence, open questions, trace link.</a:t>
            </a:r>
            <a:endParaRPr lang="en-US" sz="1100" dirty="0"/>
          </a:p>
        </p:txBody>
      </p:sp>
      <p:sp>
        <p:nvSpPr>
          <p:cNvPr id="24" name="Shape 18"/>
          <p:cNvSpPr/>
          <p:nvPr/>
        </p:nvSpPr>
        <p:spPr>
          <a:xfrm>
            <a:off x="548640" y="4617720"/>
            <a:ext cx="3544824" cy="1554480"/>
          </a:xfrm>
          <a:prstGeom prst="roundRect">
            <a:avLst>
              <a:gd name="adj" fmla="val 5294"/>
            </a:avLst>
          </a:prstGeom>
          <a:solidFill>
            <a:srgbClr val="212C39"/>
          </a:solidFill>
          <a:ln/>
        </p:spPr>
        <p:txBody>
          <a:bodyPr/>
          <a:p/>
        </p:txBody>
      </p:sp>
      <p:sp>
        <p:nvSpPr>
          <p:cNvPr id="25" name="Text 19"/>
          <p:cNvSpPr txBox="1"/>
          <p:nvPr/>
        </p:nvSpPr>
        <p:spPr>
          <a:xfrm>
            <a:off x="777240" y="4800600"/>
            <a:ext cx="3087624"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CONCURRENCY</a:t>
            </a:r>
            <a:endParaRPr lang="en-US" sz="1050" dirty="0"/>
          </a:p>
        </p:txBody>
      </p:sp>
      <p:sp>
        <p:nvSpPr>
          <p:cNvPr id="26" name="Text 20"/>
          <p:cNvSpPr txBox="1"/>
          <p:nvPr/>
        </p:nvSpPr>
        <p:spPr>
          <a:xfrm>
            <a:off x="777240" y="5120640"/>
            <a:ext cx="3087624" cy="960120"/>
          </a:xfrm>
          <a:prstGeom prst="rect">
            <a:avLst/>
          </a:prstGeom>
          <a:noFill/>
          <a:ln/>
        </p:spPr>
        <p:txBody>
          <a:bodyPr wrap="square" lIns="0" tIns="0" rIns="0" bIns="0" rtlCol="0" anchor="ctr"/>
          <a:lstStyle/>
          <a:p>
            <a:pPr indent="0" marL="0">
              <a:lnSpc>
                <a:spcPct val="120000"/>
              </a:lnSpc>
              <a:buNone/>
            </a:pPr>
            <a:r>
              <a:rPr lang="en-US" sz="1100" dirty="0">
                <a:solidFill>
                  <a:srgbClr val="EEF2F6"/>
                </a:solidFill>
                <a:latin typeface="Calibri" pitchFamily="34" charset="0"/>
                <a:ea typeface="Calibri" pitchFamily="34" charset="-122"/>
                <a:cs typeface="Calibri" pitchFamily="34" charset="-120"/>
              </a:rPr>
              <a:t>Reconciliation and Data-Quality run in parallel with asyncio.gather when the Planner picks both. No reason to serialize work that does not depend on itself.</a:t>
            </a:r>
            <a:endParaRPr lang="en-US" sz="1100" dirty="0"/>
          </a:p>
        </p:txBody>
      </p:sp>
      <p:sp>
        <p:nvSpPr>
          <p:cNvPr id="27" name="Shape 21"/>
          <p:cNvSpPr/>
          <p:nvPr/>
        </p:nvSpPr>
        <p:spPr>
          <a:xfrm>
            <a:off x="4322064" y="4617720"/>
            <a:ext cx="3544824" cy="1554480"/>
          </a:xfrm>
          <a:prstGeom prst="roundRect">
            <a:avLst>
              <a:gd name="adj" fmla="val 5294"/>
            </a:avLst>
          </a:prstGeom>
          <a:solidFill>
            <a:srgbClr val="212C39"/>
          </a:solidFill>
          <a:ln/>
        </p:spPr>
        <p:txBody>
          <a:bodyPr/>
          <a:p/>
        </p:txBody>
      </p:sp>
      <p:sp>
        <p:nvSpPr>
          <p:cNvPr id="28" name="Text 22"/>
          <p:cNvSpPr txBox="1"/>
          <p:nvPr/>
        </p:nvSpPr>
        <p:spPr>
          <a:xfrm>
            <a:off x="4550664" y="4800600"/>
            <a:ext cx="3087624"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HUMAN-IN-THE-LOOP</a:t>
            </a:r>
            <a:endParaRPr lang="en-US" sz="1050" dirty="0"/>
          </a:p>
        </p:txBody>
      </p:sp>
      <p:sp>
        <p:nvSpPr>
          <p:cNvPr id="29" name="Text 23"/>
          <p:cNvSpPr txBox="1"/>
          <p:nvPr/>
        </p:nvSpPr>
        <p:spPr>
          <a:xfrm>
            <a:off x="4550664" y="5120640"/>
            <a:ext cx="3087624" cy="960120"/>
          </a:xfrm>
          <a:prstGeom prst="rect">
            <a:avLst/>
          </a:prstGeom>
          <a:noFill/>
          <a:ln/>
        </p:spPr>
        <p:txBody>
          <a:bodyPr wrap="square" lIns="0" tIns="0" rIns="0" bIns="0" rtlCol="0" anchor="ctr"/>
          <a:lstStyle/>
          <a:p>
            <a:pPr indent="0" marL="0">
              <a:lnSpc>
                <a:spcPct val="120000"/>
              </a:lnSpc>
              <a:buNone/>
            </a:pPr>
            <a:r>
              <a:rPr lang="en-US" sz="1100" dirty="0">
                <a:solidFill>
                  <a:srgbClr val="EEF2F6"/>
                </a:solidFill>
                <a:latin typeface="Calibri" pitchFamily="34" charset="0"/>
                <a:ea typeface="Calibri" pitchFamily="34" charset="-122"/>
                <a:cs typeface="Calibri" pitchFamily="34" charset="-120"/>
              </a:rPr>
              <a:t>Postgres-backed checkpointing pauses the graph. The Review queue lets me approve, reject, or annotate, and the graph picks back up.</a:t>
            </a:r>
            <a:endParaRPr lang="en-US" sz="1100" dirty="0"/>
          </a:p>
        </p:txBody>
      </p:sp>
      <p:sp>
        <p:nvSpPr>
          <p:cNvPr id="30" name="Shape 24"/>
          <p:cNvSpPr/>
          <p:nvPr/>
        </p:nvSpPr>
        <p:spPr>
          <a:xfrm>
            <a:off x="8095488" y="4617720"/>
            <a:ext cx="3544824" cy="1554480"/>
          </a:xfrm>
          <a:prstGeom prst="roundRect">
            <a:avLst>
              <a:gd name="adj" fmla="val 5294"/>
            </a:avLst>
          </a:prstGeom>
          <a:solidFill>
            <a:srgbClr val="212C39"/>
          </a:solidFill>
          <a:ln/>
        </p:spPr>
        <p:txBody>
          <a:bodyPr/>
          <a:p/>
        </p:txBody>
      </p:sp>
      <p:sp>
        <p:nvSpPr>
          <p:cNvPr id="31" name="Text 25"/>
          <p:cNvSpPr txBox="1"/>
          <p:nvPr/>
        </p:nvSpPr>
        <p:spPr>
          <a:xfrm>
            <a:off x="8324088" y="4800600"/>
            <a:ext cx="3087624"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VALIDATED OUTPUT</a:t>
            </a:r>
            <a:endParaRPr lang="en-US" sz="1050" dirty="0"/>
          </a:p>
        </p:txBody>
      </p:sp>
      <p:sp>
        <p:nvSpPr>
          <p:cNvPr id="32" name="Text 26"/>
          <p:cNvSpPr txBox="1"/>
          <p:nvPr/>
        </p:nvSpPr>
        <p:spPr>
          <a:xfrm>
            <a:off x="8324088" y="5120640"/>
            <a:ext cx="3087624" cy="960120"/>
          </a:xfrm>
          <a:prstGeom prst="rect">
            <a:avLst/>
          </a:prstGeom>
          <a:noFill/>
          <a:ln/>
        </p:spPr>
        <p:txBody>
          <a:bodyPr wrap="square" lIns="0" tIns="0" rIns="0" bIns="0" rtlCol="0" anchor="ctr"/>
          <a:lstStyle/>
          <a:p>
            <a:pPr indent="0" marL="0">
              <a:lnSpc>
                <a:spcPct val="120000"/>
              </a:lnSpc>
              <a:buNone/>
            </a:pPr>
            <a:r>
              <a:rPr lang="en-US" sz="1100" dirty="0">
                <a:solidFill>
                  <a:srgbClr val="EEF2F6"/>
                </a:solidFill>
                <a:latin typeface="Calibri" pitchFamily="34" charset="0"/>
                <a:ea typeface="Calibri" pitchFamily="34" charset="-122"/>
                <a:cs typeface="Calibri" pitchFamily="34" charset="-120"/>
              </a:rPr>
              <a:t>Every node returns a Pydantic model. A validation error re-prompts, capped at two retries.</a:t>
            </a:r>
            <a:endParaRPr lang="en-US" sz="1100" dirty="0"/>
          </a:p>
        </p:txBody>
      </p:sp>
      <p:sp>
        <p:nvSpPr>
          <p:cNvPr id="33" name="Text 27"/>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34" name="Text 28"/>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MCP TOOL SERVERS</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Tool access: two read-only MCP servers</a:t>
            </a:r>
            <a:endParaRPr lang="en-US" sz="3000" dirty="0"/>
          </a:p>
        </p:txBody>
      </p:sp>
      <p:sp>
        <p:nvSpPr>
          <p:cNvPr id="4" name="Shape 2"/>
          <p:cNvSpPr/>
          <p:nvPr/>
        </p:nvSpPr>
        <p:spPr>
          <a:xfrm>
            <a:off x="548640" y="1600200"/>
            <a:ext cx="5422392" cy="3154680"/>
          </a:xfrm>
          <a:prstGeom prst="roundRect">
            <a:avLst>
              <a:gd name="adj" fmla="val 2609"/>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5" name="Shape 3"/>
          <p:cNvSpPr/>
          <p:nvPr/>
        </p:nvSpPr>
        <p:spPr>
          <a:xfrm>
            <a:off x="822960" y="1828800"/>
            <a:ext cx="548640" cy="548640"/>
          </a:xfrm>
          <a:prstGeom prst="ellipse">
            <a:avLst/>
          </a:prstGeom>
          <a:solidFill>
            <a:srgbClr val="F5A623"/>
          </a:solidFill>
          <a:ln/>
        </p:spPr>
        <p:txBody>
          <a:bodyPr/>
          <a:p/>
        </p:txBody>
      </p:sp>
      <p:pic>
        <p:nvPicPr>
          <p:cNvPr id="6" name="Image 0" descr="/home/claude/assets/icons/database.png">    </p:cNvPr>
          <p:cNvPicPr>
            <a:picLocks noChangeAspect="1"/>
          </p:cNvPicPr>
          <p:nvPr/>
        </p:nvPicPr>
        <p:blipFill>
          <a:blip r:embed="rId1"/>
          <a:stretch>
            <a:fillRect/>
          </a:stretch>
        </p:blipFill>
        <p:spPr>
          <a:xfrm>
            <a:off x="899770" y="1905610"/>
            <a:ext cx="395021" cy="395021"/>
          </a:xfrm>
          <a:prstGeom prst="rect">
            <a:avLst/>
          </a:prstGeom>
        </p:spPr>
      </p:pic>
      <p:sp>
        <p:nvSpPr>
          <p:cNvPr id="7" name="Text 4"/>
          <p:cNvSpPr txBox="1"/>
          <p:nvPr/>
        </p:nvSpPr>
        <p:spPr>
          <a:xfrm>
            <a:off x="1508760" y="1828800"/>
            <a:ext cx="4233672" cy="548640"/>
          </a:xfrm>
          <a:prstGeom prst="rect">
            <a:avLst/>
          </a:prstGeom>
          <a:noFill/>
          <a:ln/>
        </p:spPr>
        <p:txBody>
          <a:bodyPr wrap="square" lIns="0" tIns="0" rIns="0" bIns="0" rtlCol="0" anchor="ctr"/>
          <a:lstStyle/>
          <a:p>
            <a:pPr indent="0" marL="0">
              <a:buNone/>
            </a:pPr>
            <a:r>
              <a:rPr lang="en-US" sz="1300" b="1" dirty="0">
                <a:solidFill>
                  <a:srgbClr val="EEF2F6"/>
                </a:solidFill>
                <a:latin typeface="Courier New" pitchFamily="34" charset="0"/>
                <a:ea typeface="Courier New" pitchFamily="34" charset="-122"/>
                <a:cs typeface="Courier New" pitchFamily="34" charset="-120"/>
              </a:rPr>
              <a:t>warehouse-metadata-server</a:t>
            </a:r>
            <a:endParaRPr lang="en-US" sz="1300" dirty="0"/>
          </a:p>
        </p:txBody>
      </p:sp>
      <p:sp>
        <p:nvSpPr>
          <p:cNvPr id="8" name="Text 5"/>
          <p:cNvSpPr txBox="1"/>
          <p:nvPr/>
        </p:nvSpPr>
        <p:spPr>
          <a:xfrm>
            <a:off x="822960" y="2514600"/>
            <a:ext cx="4873752" cy="77724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Serves the dbt-style manifest and table stats so the Data-Quality agent can diff what was declared against what actually landed.</a:t>
            </a:r>
            <a:endParaRPr lang="en-US" sz="1100" dirty="0"/>
          </a:p>
        </p:txBody>
      </p:sp>
      <p:sp>
        <p:nvSpPr>
          <p:cNvPr id="9" name="Text 6"/>
          <p:cNvSpPr txBox="1"/>
          <p:nvPr/>
        </p:nvSpPr>
        <p:spPr>
          <a:xfrm>
            <a:off x="822960" y="3337560"/>
            <a:ext cx="2743200" cy="274320"/>
          </a:xfrm>
          <a:prstGeom prst="rect">
            <a:avLst/>
          </a:prstGeom>
          <a:noFill/>
          <a:ln/>
        </p:spPr>
        <p:txBody>
          <a:bodyPr wrap="square" lIns="0" tIns="0" rIns="0" bIns="0" rtlCol="0" anchor="ctr"/>
          <a:lstStyle/>
          <a:p>
            <a:pPr indent="0" marL="0">
              <a:buNone/>
            </a:pPr>
            <a:r>
              <a:rPr lang="en-US" sz="1050" b="1" spc="150" kern="0" dirty="0">
                <a:solidFill>
                  <a:srgbClr val="F5A623"/>
                </a:solidFill>
                <a:latin typeface="Courier New" pitchFamily="34" charset="0"/>
                <a:ea typeface="Courier New" pitchFamily="34" charset="-122"/>
                <a:cs typeface="Courier New" pitchFamily="34" charset="-120"/>
              </a:rPr>
              <a:t>TOOLS EXPOSED</a:t>
            </a:r>
            <a:endParaRPr lang="en-US" sz="1050" dirty="0"/>
          </a:p>
        </p:txBody>
      </p:sp>
      <p:sp>
        <p:nvSpPr>
          <p:cNvPr id="10" name="Text 7"/>
          <p:cNvSpPr txBox="1"/>
          <p:nvPr/>
        </p:nvSpPr>
        <p:spPr>
          <a:xfrm>
            <a:off x="822960" y="3611880"/>
            <a:ext cx="4873752" cy="1051560"/>
          </a:xfrm>
          <a:prstGeom prst="rect">
            <a:avLst/>
          </a:prstGeom>
          <a:noFill/>
          <a:ln/>
        </p:spPr>
        <p:txBody>
          <a:bodyPr wrap="square" lIns="0" tIns="0" rIns="0" bIns="0" rtlCol="0" anchor="ctr"/>
          <a:lstStyle/>
          <a:p>
            <a:pPr indent="0" marL="0">
              <a:lnSpc>
                <a:spcPct val="130000"/>
              </a:lnSpc>
              <a:buNone/>
            </a:pPr>
            <a:r>
              <a:rPr lang="en-US" sz="1050" dirty="0">
                <a:solidFill>
                  <a:srgbClr val="EEF2F6"/>
                </a:solidFill>
                <a:latin typeface="Courier New" pitchFamily="34" charset="0"/>
                <a:ea typeface="Courier New" pitchFamily="34" charset="-122"/>
                <a:cs typeface="Courier New" pitchFamily="34" charset="-120"/>
              </a:rPr>
              <a:t>get_table_schema(table)</a:t>
            </a:r>
            <a:endParaRPr lang="en-US" sz="1050" dirty="0"/>
          </a:p>
          <a:p>
            <a:pPr indent="0" marL="0">
              <a:lnSpc>
                <a:spcPct val="130000"/>
              </a:lnSpc>
              <a:buNone/>
            </a:pPr>
            <a:r>
              <a:rPr lang="en-US" sz="1050" dirty="0">
                <a:solidFill>
                  <a:srgbClr val="EEF2F6"/>
                </a:solidFill>
                <a:latin typeface="Courier New" pitchFamily="34" charset="0"/>
                <a:ea typeface="Courier New" pitchFamily="34" charset="-122"/>
                <a:cs typeface="Courier New" pitchFamily="34" charset="-120"/>
              </a:rPr>
              <a:t>get_dbt_manifest()</a:t>
            </a:r>
            <a:endParaRPr lang="en-US" sz="1050" dirty="0"/>
          </a:p>
          <a:p>
            <a:pPr indent="0" marL="0">
              <a:lnSpc>
                <a:spcPct val="130000"/>
              </a:lnSpc>
              <a:buNone/>
            </a:pPr>
            <a:r>
              <a:rPr lang="en-US" sz="1050" dirty="0">
                <a:solidFill>
                  <a:srgbClr val="EEF2F6"/>
                </a:solidFill>
                <a:latin typeface="Courier New" pitchFamily="34" charset="0"/>
                <a:ea typeface="Courier New" pitchFamily="34" charset="-122"/>
                <a:cs typeface="Courier New" pitchFamily="34" charset="-120"/>
              </a:rPr>
              <a:t>get_table_stats(table, date)</a:t>
            </a:r>
            <a:endParaRPr lang="en-US" sz="1050" dirty="0"/>
          </a:p>
          <a:p>
            <a:pPr indent="0" marL="0">
              <a:lnSpc>
                <a:spcPct val="130000"/>
              </a:lnSpc>
              <a:buNone/>
            </a:pPr>
            <a:r>
              <a:rPr lang="en-US" sz="1050" dirty="0">
                <a:solidFill>
                  <a:srgbClr val="EEF2F6"/>
                </a:solidFill>
                <a:latin typeface="Courier New" pitchFamily="34" charset="0"/>
                <a:ea typeface="Courier New" pitchFamily="34" charset="-122"/>
                <a:cs typeface="Courier New" pitchFamily="34" charset="-120"/>
              </a:rPr>
              <a:t>list_tables()</a:t>
            </a:r>
            <a:endParaRPr lang="en-US" sz="1050" dirty="0"/>
          </a:p>
        </p:txBody>
      </p:sp>
      <p:sp>
        <p:nvSpPr>
          <p:cNvPr id="11" name="Shape 8"/>
          <p:cNvSpPr/>
          <p:nvPr/>
        </p:nvSpPr>
        <p:spPr>
          <a:xfrm>
            <a:off x="6217920" y="1600200"/>
            <a:ext cx="5422392" cy="3154680"/>
          </a:xfrm>
          <a:prstGeom prst="roundRect">
            <a:avLst>
              <a:gd name="adj" fmla="val 2609"/>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2" name="Shape 9"/>
          <p:cNvSpPr/>
          <p:nvPr/>
        </p:nvSpPr>
        <p:spPr>
          <a:xfrm>
            <a:off x="6492240" y="1828800"/>
            <a:ext cx="548640" cy="548640"/>
          </a:xfrm>
          <a:prstGeom prst="ellipse">
            <a:avLst/>
          </a:prstGeom>
          <a:solidFill>
            <a:srgbClr val="4FD1C5"/>
          </a:solidFill>
          <a:ln/>
        </p:spPr>
        <p:txBody>
          <a:bodyPr/>
          <a:p/>
        </p:txBody>
      </p:sp>
      <p:pic>
        <p:nvPicPr>
          <p:cNvPr id="13" name="Image 1" descr="/home/claude/assets/icons/clock.png">    </p:cNvPr>
          <p:cNvPicPr>
            <a:picLocks noChangeAspect="1"/>
          </p:cNvPicPr>
          <p:nvPr/>
        </p:nvPicPr>
        <p:blipFill>
          <a:blip r:embed="rId2"/>
          <a:stretch>
            <a:fillRect/>
          </a:stretch>
        </p:blipFill>
        <p:spPr>
          <a:xfrm>
            <a:off x="6569050" y="1905610"/>
            <a:ext cx="395021" cy="395021"/>
          </a:xfrm>
          <a:prstGeom prst="rect">
            <a:avLst/>
          </a:prstGeom>
        </p:spPr>
      </p:pic>
      <p:sp>
        <p:nvSpPr>
          <p:cNvPr id="14" name="Text 10"/>
          <p:cNvSpPr txBox="1"/>
          <p:nvPr/>
        </p:nvSpPr>
        <p:spPr>
          <a:xfrm>
            <a:off x="7178040" y="1828800"/>
            <a:ext cx="4233672" cy="548640"/>
          </a:xfrm>
          <a:prstGeom prst="rect">
            <a:avLst/>
          </a:prstGeom>
          <a:noFill/>
          <a:ln/>
        </p:spPr>
        <p:txBody>
          <a:bodyPr wrap="square" lIns="0" tIns="0" rIns="0" bIns="0" rtlCol="0" anchor="ctr"/>
          <a:lstStyle/>
          <a:p>
            <a:pPr indent="0" marL="0">
              <a:buNone/>
            </a:pPr>
            <a:r>
              <a:rPr lang="en-US" sz="1300" b="1" dirty="0">
                <a:solidFill>
                  <a:srgbClr val="EEF2F6"/>
                </a:solidFill>
                <a:latin typeface="Courier New" pitchFamily="34" charset="0"/>
                <a:ea typeface="Courier New" pitchFamily="34" charset="-122"/>
                <a:cs typeface="Courier New" pitchFamily="34" charset="-120"/>
              </a:rPr>
              <a:t>orchestration-metadata-server</a:t>
            </a:r>
            <a:endParaRPr lang="en-US" sz="1300" dirty="0"/>
          </a:p>
        </p:txBody>
      </p:sp>
      <p:sp>
        <p:nvSpPr>
          <p:cNvPr id="15" name="Text 11"/>
          <p:cNvSpPr txBox="1"/>
          <p:nvPr/>
        </p:nvSpPr>
        <p:spPr>
          <a:xfrm>
            <a:off x="6492240" y="2514600"/>
            <a:ext cx="4873752" cy="77724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Serves Airflow-style run history so the agents can tie a light file to a late or failed upstream task.</a:t>
            </a:r>
            <a:endParaRPr lang="en-US" sz="1100" dirty="0"/>
          </a:p>
        </p:txBody>
      </p:sp>
      <p:sp>
        <p:nvSpPr>
          <p:cNvPr id="16" name="Text 12"/>
          <p:cNvSpPr txBox="1"/>
          <p:nvPr/>
        </p:nvSpPr>
        <p:spPr>
          <a:xfrm>
            <a:off x="6492240" y="3337560"/>
            <a:ext cx="2743200"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TOOLS EXPOSED</a:t>
            </a:r>
            <a:endParaRPr lang="en-US" sz="1050" dirty="0"/>
          </a:p>
        </p:txBody>
      </p:sp>
      <p:sp>
        <p:nvSpPr>
          <p:cNvPr id="17" name="Text 13"/>
          <p:cNvSpPr txBox="1"/>
          <p:nvPr/>
        </p:nvSpPr>
        <p:spPr>
          <a:xfrm>
            <a:off x="6492240" y="3611880"/>
            <a:ext cx="4873752" cy="1051560"/>
          </a:xfrm>
          <a:prstGeom prst="rect">
            <a:avLst/>
          </a:prstGeom>
          <a:noFill/>
          <a:ln/>
        </p:spPr>
        <p:txBody>
          <a:bodyPr wrap="square" lIns="0" tIns="0" rIns="0" bIns="0" rtlCol="0" anchor="ctr"/>
          <a:lstStyle/>
          <a:p>
            <a:pPr indent="0" marL="0">
              <a:lnSpc>
                <a:spcPct val="130000"/>
              </a:lnSpc>
              <a:buNone/>
            </a:pPr>
            <a:r>
              <a:rPr lang="en-US" sz="1050" dirty="0">
                <a:solidFill>
                  <a:srgbClr val="EEF2F6"/>
                </a:solidFill>
                <a:latin typeface="Courier New" pitchFamily="34" charset="0"/>
                <a:ea typeface="Courier New" pitchFamily="34" charset="-122"/>
                <a:cs typeface="Courier New" pitchFamily="34" charset="-120"/>
              </a:rPr>
              <a:t>list_dag_runs(dag_id, since)</a:t>
            </a:r>
            <a:endParaRPr lang="en-US" sz="1050" dirty="0"/>
          </a:p>
          <a:p>
            <a:pPr indent="0" marL="0">
              <a:lnSpc>
                <a:spcPct val="130000"/>
              </a:lnSpc>
              <a:buNone/>
            </a:pPr>
            <a:r>
              <a:rPr lang="en-US" sz="1050" dirty="0">
                <a:solidFill>
                  <a:srgbClr val="EEF2F6"/>
                </a:solidFill>
                <a:latin typeface="Courier New" pitchFamily="34" charset="0"/>
                <a:ea typeface="Courier New" pitchFamily="34" charset="-122"/>
                <a:cs typeface="Courier New" pitchFamily="34" charset="-120"/>
              </a:rPr>
              <a:t>get_task_log(run_id, task_id)</a:t>
            </a:r>
            <a:endParaRPr lang="en-US" sz="1050" dirty="0"/>
          </a:p>
          <a:p>
            <a:pPr indent="0" marL="0">
              <a:lnSpc>
                <a:spcPct val="130000"/>
              </a:lnSpc>
              <a:buNone/>
            </a:pPr>
            <a:r>
              <a:rPr lang="en-US" sz="1050" dirty="0">
                <a:solidFill>
                  <a:srgbClr val="EEF2F6"/>
                </a:solidFill>
                <a:latin typeface="Courier New" pitchFamily="34" charset="0"/>
                <a:ea typeface="Courier New" pitchFamily="34" charset="-122"/>
                <a:cs typeface="Courier New" pitchFamily="34" charset="-120"/>
              </a:rPr>
              <a:t>get_timing_history(dag_id)</a:t>
            </a:r>
            <a:endParaRPr lang="en-US" sz="1050" dirty="0"/>
          </a:p>
          <a:p>
            <a:pPr indent="0" marL="0">
              <a:lnSpc>
                <a:spcPct val="130000"/>
              </a:lnSpc>
              <a:buNone/>
            </a:pPr>
            <a:r>
              <a:rPr lang="en-US" sz="1050" dirty="0">
                <a:solidFill>
                  <a:srgbClr val="EEF2F6"/>
                </a:solidFill>
                <a:latin typeface="Courier New" pitchFamily="34" charset="0"/>
                <a:ea typeface="Courier New" pitchFamily="34" charset="-122"/>
                <a:cs typeface="Courier New" pitchFamily="34" charset="-120"/>
              </a:rPr>
              <a:t>get_failed_tasks(since)</a:t>
            </a:r>
            <a:endParaRPr lang="en-US" sz="1050" dirty="0"/>
          </a:p>
        </p:txBody>
      </p:sp>
      <p:sp>
        <p:nvSpPr>
          <p:cNvPr id="18" name="Shape 14"/>
          <p:cNvSpPr/>
          <p:nvPr/>
        </p:nvSpPr>
        <p:spPr>
          <a:xfrm>
            <a:off x="548640" y="4983480"/>
            <a:ext cx="2635758" cy="1188720"/>
          </a:xfrm>
          <a:prstGeom prst="roundRect">
            <a:avLst>
              <a:gd name="adj" fmla="val 6923"/>
            </a:avLst>
          </a:prstGeom>
          <a:solidFill>
            <a:srgbClr val="212C39"/>
          </a:solidFill>
          <a:ln/>
        </p:spPr>
        <p:txBody>
          <a:bodyPr/>
          <a:p/>
        </p:txBody>
      </p:sp>
      <p:sp>
        <p:nvSpPr>
          <p:cNvPr id="19" name="Text 15"/>
          <p:cNvSpPr txBox="1"/>
          <p:nvPr/>
        </p:nvSpPr>
        <p:spPr>
          <a:xfrm>
            <a:off x="749808" y="5138928"/>
            <a:ext cx="2269998"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PROTOCOL</a:t>
            </a:r>
            <a:endParaRPr lang="en-US" sz="1050" dirty="0"/>
          </a:p>
        </p:txBody>
      </p:sp>
      <p:sp>
        <p:nvSpPr>
          <p:cNvPr id="20" name="Text 16"/>
          <p:cNvSpPr txBox="1"/>
          <p:nvPr/>
        </p:nvSpPr>
        <p:spPr>
          <a:xfrm>
            <a:off x="749808" y="5440680"/>
            <a:ext cx="2233422" cy="685800"/>
          </a:xfrm>
          <a:prstGeom prst="rect">
            <a:avLst/>
          </a:prstGeom>
          <a:noFill/>
          <a:ln/>
        </p:spPr>
        <p:txBody>
          <a:bodyPr wrap="square" lIns="0" tIns="0" rIns="0" bIns="0" rtlCol="0" anchor="ctr"/>
          <a:lstStyle/>
          <a:p>
            <a:pPr indent="0" marL="0">
              <a:lnSpc>
                <a:spcPct val="120000"/>
              </a:lnSpc>
              <a:buNone/>
            </a:pPr>
            <a:r>
              <a:rPr lang="en-US" sz="1050" dirty="0">
                <a:solidFill>
                  <a:srgbClr val="EEF2F6"/>
                </a:solidFill>
                <a:latin typeface="Calibri" pitchFamily="34" charset="0"/>
                <a:ea typeface="Calibri" pitchFamily="34" charset="-122"/>
                <a:cs typeface="Calibri" pitchFamily="34" charset="-120"/>
              </a:rPr>
              <a:t>JSON-RPC 2.0 · initialize → discover → invoke lifecycle</a:t>
            </a:r>
            <a:endParaRPr lang="en-US" sz="1050" dirty="0"/>
          </a:p>
        </p:txBody>
      </p:sp>
      <p:sp>
        <p:nvSpPr>
          <p:cNvPr id="21" name="Shape 17"/>
          <p:cNvSpPr/>
          <p:nvPr/>
        </p:nvSpPr>
        <p:spPr>
          <a:xfrm>
            <a:off x="3367278" y="4983480"/>
            <a:ext cx="2635758" cy="1188720"/>
          </a:xfrm>
          <a:prstGeom prst="roundRect">
            <a:avLst>
              <a:gd name="adj" fmla="val 6923"/>
            </a:avLst>
          </a:prstGeom>
          <a:solidFill>
            <a:srgbClr val="212C39"/>
          </a:solidFill>
          <a:ln/>
        </p:spPr>
        <p:txBody>
          <a:bodyPr/>
          <a:p/>
        </p:txBody>
      </p:sp>
      <p:sp>
        <p:nvSpPr>
          <p:cNvPr id="22" name="Text 18"/>
          <p:cNvSpPr txBox="1"/>
          <p:nvPr/>
        </p:nvSpPr>
        <p:spPr>
          <a:xfrm>
            <a:off x="3568446" y="5138928"/>
            <a:ext cx="2269998"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TRANSPORT</a:t>
            </a:r>
            <a:endParaRPr lang="en-US" sz="1050" dirty="0"/>
          </a:p>
        </p:txBody>
      </p:sp>
      <p:sp>
        <p:nvSpPr>
          <p:cNvPr id="23" name="Text 19"/>
          <p:cNvSpPr txBox="1"/>
          <p:nvPr/>
        </p:nvSpPr>
        <p:spPr>
          <a:xfrm>
            <a:off x="3568446" y="5440680"/>
            <a:ext cx="2233422" cy="685800"/>
          </a:xfrm>
          <a:prstGeom prst="rect">
            <a:avLst/>
          </a:prstGeom>
          <a:noFill/>
          <a:ln/>
        </p:spPr>
        <p:txBody>
          <a:bodyPr wrap="square" lIns="0" tIns="0" rIns="0" bIns="0" rtlCol="0" anchor="ctr"/>
          <a:lstStyle/>
          <a:p>
            <a:pPr indent="0" marL="0">
              <a:lnSpc>
                <a:spcPct val="120000"/>
              </a:lnSpc>
              <a:buNone/>
            </a:pPr>
            <a:r>
              <a:rPr lang="en-US" sz="1050" dirty="0">
                <a:solidFill>
                  <a:srgbClr val="EEF2F6"/>
                </a:solidFill>
                <a:latin typeface="Calibri" pitchFamily="34" charset="0"/>
                <a:ea typeface="Calibri" pitchFamily="34" charset="-122"/>
                <a:cs typeface="Calibri" pitchFamily="34" charset="-120"/>
              </a:rPr>
              <a:t>stdio for local dev · HTTP for containerized prod</a:t>
            </a:r>
            <a:endParaRPr lang="en-US" sz="1050" dirty="0"/>
          </a:p>
        </p:txBody>
      </p:sp>
      <p:sp>
        <p:nvSpPr>
          <p:cNvPr id="24" name="Shape 20"/>
          <p:cNvSpPr/>
          <p:nvPr/>
        </p:nvSpPr>
        <p:spPr>
          <a:xfrm>
            <a:off x="6185916" y="4983480"/>
            <a:ext cx="2635758" cy="1188720"/>
          </a:xfrm>
          <a:prstGeom prst="roundRect">
            <a:avLst>
              <a:gd name="adj" fmla="val 6923"/>
            </a:avLst>
          </a:prstGeom>
          <a:solidFill>
            <a:srgbClr val="212C39"/>
          </a:solidFill>
          <a:ln/>
        </p:spPr>
        <p:txBody>
          <a:bodyPr/>
          <a:p/>
        </p:txBody>
      </p:sp>
      <p:sp>
        <p:nvSpPr>
          <p:cNvPr id="25" name="Text 21"/>
          <p:cNvSpPr txBox="1"/>
          <p:nvPr/>
        </p:nvSpPr>
        <p:spPr>
          <a:xfrm>
            <a:off x="6387084" y="5138928"/>
            <a:ext cx="2269998"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SAFETY</a:t>
            </a:r>
            <a:endParaRPr lang="en-US" sz="1050" dirty="0"/>
          </a:p>
        </p:txBody>
      </p:sp>
      <p:sp>
        <p:nvSpPr>
          <p:cNvPr id="26" name="Text 22"/>
          <p:cNvSpPr txBox="1"/>
          <p:nvPr/>
        </p:nvSpPr>
        <p:spPr>
          <a:xfrm>
            <a:off x="6387084" y="5440680"/>
            <a:ext cx="2233422" cy="685800"/>
          </a:xfrm>
          <a:prstGeom prst="rect">
            <a:avLst/>
          </a:prstGeom>
          <a:noFill/>
          <a:ln/>
        </p:spPr>
        <p:txBody>
          <a:bodyPr wrap="square" lIns="0" tIns="0" rIns="0" bIns="0" rtlCol="0" anchor="ctr"/>
          <a:lstStyle/>
          <a:p>
            <a:pPr indent="0" marL="0">
              <a:lnSpc>
                <a:spcPct val="120000"/>
              </a:lnSpc>
              <a:buNone/>
            </a:pPr>
            <a:r>
              <a:rPr lang="en-US" sz="1050" dirty="0">
                <a:solidFill>
                  <a:srgbClr val="EEF2F6"/>
                </a:solidFill>
                <a:latin typeface="Calibri" pitchFamily="34" charset="0"/>
                <a:ea typeface="Calibri" pitchFamily="34" charset="-122"/>
                <a:cs typeface="Calibri" pitchFamily="34" charset="-120"/>
              </a:rPr>
              <a:t>Read-only tools · Pydantic-validated inputs · no write paths</a:t>
            </a:r>
            <a:endParaRPr lang="en-US" sz="1050" dirty="0"/>
          </a:p>
        </p:txBody>
      </p:sp>
      <p:sp>
        <p:nvSpPr>
          <p:cNvPr id="27" name="Shape 23"/>
          <p:cNvSpPr/>
          <p:nvPr/>
        </p:nvSpPr>
        <p:spPr>
          <a:xfrm>
            <a:off x="9004554" y="4983480"/>
            <a:ext cx="2635758" cy="1188720"/>
          </a:xfrm>
          <a:prstGeom prst="roundRect">
            <a:avLst>
              <a:gd name="adj" fmla="val 6923"/>
            </a:avLst>
          </a:prstGeom>
          <a:solidFill>
            <a:srgbClr val="212C39"/>
          </a:solidFill>
          <a:ln/>
        </p:spPr>
        <p:txBody>
          <a:bodyPr/>
          <a:p/>
        </p:txBody>
      </p:sp>
      <p:sp>
        <p:nvSpPr>
          <p:cNvPr id="28" name="Text 24"/>
          <p:cNvSpPr txBox="1"/>
          <p:nvPr/>
        </p:nvSpPr>
        <p:spPr>
          <a:xfrm>
            <a:off x="9205722" y="5138928"/>
            <a:ext cx="2269998"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REUSE</a:t>
            </a:r>
            <a:endParaRPr lang="en-US" sz="1050" dirty="0"/>
          </a:p>
        </p:txBody>
      </p:sp>
      <p:sp>
        <p:nvSpPr>
          <p:cNvPr id="29" name="Text 25"/>
          <p:cNvSpPr txBox="1"/>
          <p:nvPr/>
        </p:nvSpPr>
        <p:spPr>
          <a:xfrm>
            <a:off x="9205722" y="5440680"/>
            <a:ext cx="2233422" cy="685800"/>
          </a:xfrm>
          <a:prstGeom prst="rect">
            <a:avLst/>
          </a:prstGeom>
          <a:noFill/>
          <a:ln/>
        </p:spPr>
        <p:txBody>
          <a:bodyPr wrap="square" lIns="0" tIns="0" rIns="0" bIns="0" rtlCol="0" anchor="ctr"/>
          <a:lstStyle/>
          <a:p>
            <a:pPr indent="0" marL="0">
              <a:lnSpc>
                <a:spcPct val="120000"/>
              </a:lnSpc>
              <a:buNone/>
            </a:pPr>
            <a:r>
              <a:rPr lang="en-US" sz="1050" dirty="0">
                <a:solidFill>
                  <a:srgbClr val="EEF2F6"/>
                </a:solidFill>
                <a:latin typeface="Calibri" pitchFamily="34" charset="0"/>
                <a:ea typeface="Calibri" pitchFamily="34" charset="-122"/>
                <a:cs typeface="Calibri" pitchFamily="34" charset="-120"/>
              </a:rPr>
              <a:t>Point both servers at a different backend and the agents do not change</a:t>
            </a:r>
            <a:endParaRPr lang="en-US" sz="1050" dirty="0"/>
          </a:p>
        </p:txBody>
      </p:sp>
      <p:sp>
        <p:nvSpPr>
          <p:cNvPr id="30" name="Text 26"/>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31" name="Text 27"/>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4FD1C5"/>
                </a:solidFill>
                <a:latin typeface="Courier New" pitchFamily="34" charset="0"/>
                <a:ea typeface="Courier New" pitchFamily="34" charset="-122"/>
                <a:cs typeface="Courier New" pitchFamily="34" charset="-120"/>
              </a:rPr>
              <a:t>OBSERVABILITY &amp; EVALUATION</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Observability and evaluation: how I trust what it says</a:t>
            </a:r>
            <a:endParaRPr lang="en-US" sz="3000" dirty="0"/>
          </a:p>
        </p:txBody>
      </p:sp>
      <p:sp>
        <p:nvSpPr>
          <p:cNvPr id="4" name="Shape 2"/>
          <p:cNvSpPr/>
          <p:nvPr/>
        </p:nvSpPr>
        <p:spPr>
          <a:xfrm>
            <a:off x="548640" y="1600200"/>
            <a:ext cx="3514344" cy="3246120"/>
          </a:xfrm>
          <a:prstGeom prst="roundRect">
            <a:avLst>
              <a:gd name="adj" fmla="val 2535"/>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5" name="Shape 3"/>
          <p:cNvSpPr/>
          <p:nvPr/>
        </p:nvSpPr>
        <p:spPr>
          <a:xfrm>
            <a:off x="822960" y="1828800"/>
            <a:ext cx="548640" cy="548640"/>
          </a:xfrm>
          <a:prstGeom prst="ellipse">
            <a:avLst/>
          </a:prstGeom>
          <a:solidFill>
            <a:srgbClr val="F5A623"/>
          </a:solidFill>
          <a:ln/>
        </p:spPr>
        <p:txBody>
          <a:bodyPr/>
          <a:p/>
        </p:txBody>
      </p:sp>
      <p:pic>
        <p:nvPicPr>
          <p:cNvPr id="6" name="Image 0" descr="/home/claude/assets/icons/activity.png">    </p:cNvPr>
          <p:cNvPicPr>
            <a:picLocks noChangeAspect="1"/>
          </p:cNvPicPr>
          <p:nvPr/>
        </p:nvPicPr>
        <p:blipFill>
          <a:blip r:embed="rId1"/>
          <a:stretch>
            <a:fillRect/>
          </a:stretch>
        </p:blipFill>
        <p:spPr>
          <a:xfrm>
            <a:off x="899770" y="1905610"/>
            <a:ext cx="395021" cy="395021"/>
          </a:xfrm>
          <a:prstGeom prst="rect">
            <a:avLst/>
          </a:prstGeom>
        </p:spPr>
      </p:pic>
      <p:sp>
        <p:nvSpPr>
          <p:cNvPr id="7" name="Text 4"/>
          <p:cNvSpPr txBox="1"/>
          <p:nvPr/>
        </p:nvSpPr>
        <p:spPr>
          <a:xfrm>
            <a:off x="1508760" y="1828800"/>
            <a:ext cx="2325624" cy="54864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LangFuse tracing</a:t>
            </a:r>
            <a:endParaRPr lang="en-US" sz="1500" dirty="0"/>
          </a:p>
        </p:txBody>
      </p:sp>
      <p:sp>
        <p:nvSpPr>
          <p:cNvPr id="8" name="Text 5"/>
          <p:cNvSpPr txBox="1"/>
          <p:nvPr/>
        </p:nvSpPr>
        <p:spPr>
          <a:xfrm>
            <a:off x="822960" y="2560320"/>
            <a:ext cx="3011424" cy="219456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Every agent call, tool call, prompt version, latency, provider, and token cost</a:t>
            </a:r>
            <a:endParaRPr lang="en-US" sz="1150" dirty="0"/>
          </a:p>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Each incident deep-links to its trace; a /traces screen lists recent runs</a:t>
            </a:r>
            <a:endParaRPr lang="en-US" sz="1150" dirty="0"/>
          </a:p>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Definition of done: no untraced LLM calls, anywhere</a:t>
            </a:r>
            <a:endParaRPr lang="en-US" sz="1150" dirty="0"/>
          </a:p>
        </p:txBody>
      </p:sp>
      <p:sp>
        <p:nvSpPr>
          <p:cNvPr id="9" name="Shape 6"/>
          <p:cNvSpPr/>
          <p:nvPr/>
        </p:nvSpPr>
        <p:spPr>
          <a:xfrm>
            <a:off x="4337304" y="1600200"/>
            <a:ext cx="3514344" cy="3246120"/>
          </a:xfrm>
          <a:prstGeom prst="roundRect">
            <a:avLst>
              <a:gd name="adj" fmla="val 2535"/>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0" name="Shape 7"/>
          <p:cNvSpPr/>
          <p:nvPr/>
        </p:nvSpPr>
        <p:spPr>
          <a:xfrm>
            <a:off x="4611624" y="1828800"/>
            <a:ext cx="548640" cy="548640"/>
          </a:xfrm>
          <a:prstGeom prst="ellipse">
            <a:avLst/>
          </a:prstGeom>
          <a:solidFill>
            <a:srgbClr val="4FD1C5"/>
          </a:solidFill>
          <a:ln/>
        </p:spPr>
        <p:txBody>
          <a:bodyPr/>
          <a:p/>
        </p:txBody>
      </p:sp>
      <p:pic>
        <p:nvPicPr>
          <p:cNvPr id="11" name="Image 1" descr="/home/claude/assets/icons/barchart.png">    </p:cNvPr>
          <p:cNvPicPr>
            <a:picLocks noChangeAspect="1"/>
          </p:cNvPicPr>
          <p:nvPr/>
        </p:nvPicPr>
        <p:blipFill>
          <a:blip r:embed="rId2"/>
          <a:stretch>
            <a:fillRect/>
          </a:stretch>
        </p:blipFill>
        <p:spPr>
          <a:xfrm>
            <a:off x="4688434" y="1905610"/>
            <a:ext cx="395021" cy="395021"/>
          </a:xfrm>
          <a:prstGeom prst="rect">
            <a:avLst/>
          </a:prstGeom>
        </p:spPr>
      </p:pic>
      <p:sp>
        <p:nvSpPr>
          <p:cNvPr id="12" name="Text 8"/>
          <p:cNvSpPr txBox="1"/>
          <p:nvPr/>
        </p:nvSpPr>
        <p:spPr>
          <a:xfrm>
            <a:off x="5297424" y="1828800"/>
            <a:ext cx="2325624" cy="54864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RAGAS evaluation</a:t>
            </a:r>
            <a:endParaRPr lang="en-US" sz="1500" dirty="0"/>
          </a:p>
        </p:txBody>
      </p:sp>
      <p:sp>
        <p:nvSpPr>
          <p:cNvPr id="13" name="Text 9"/>
          <p:cNvSpPr txBox="1"/>
          <p:nvPr/>
        </p:nvSpPr>
        <p:spPr>
          <a:xfrm>
            <a:off x="4611624" y="2560320"/>
            <a:ext cx="3011424" cy="219456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40+ golden-set items across all anomaly types</a:t>
            </a:r>
            <a:endParaRPr lang="en-US" sz="1150" dirty="0"/>
          </a:p>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Faithfulness, answer relevancy, context precision, context recall</a:t>
            </a:r>
            <a:endParaRPr lang="en-US" sz="1150" dirty="0"/>
          </a:p>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CI fails below threshold; scores logged per commit</a:t>
            </a:r>
            <a:endParaRPr lang="en-US" sz="1150" dirty="0"/>
          </a:p>
        </p:txBody>
      </p:sp>
      <p:sp>
        <p:nvSpPr>
          <p:cNvPr id="14" name="Shape 10"/>
          <p:cNvSpPr/>
          <p:nvPr/>
        </p:nvSpPr>
        <p:spPr>
          <a:xfrm>
            <a:off x="8125968" y="1600200"/>
            <a:ext cx="3514344" cy="3246120"/>
          </a:xfrm>
          <a:prstGeom prst="roundRect">
            <a:avLst>
              <a:gd name="adj" fmla="val 2535"/>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5" name="Shape 11"/>
          <p:cNvSpPr/>
          <p:nvPr/>
        </p:nvSpPr>
        <p:spPr>
          <a:xfrm>
            <a:off x="8400288" y="1828800"/>
            <a:ext cx="548640" cy="548640"/>
          </a:xfrm>
          <a:prstGeom prst="ellipse">
            <a:avLst/>
          </a:prstGeom>
          <a:solidFill>
            <a:srgbClr val="F5A623"/>
          </a:solidFill>
          <a:ln/>
        </p:spPr>
        <p:txBody>
          <a:bodyPr/>
          <a:p/>
        </p:txBody>
      </p:sp>
      <p:pic>
        <p:nvPicPr>
          <p:cNvPr id="16" name="Image 2" descr="/home/claude/assets/icons/shield.png">    </p:cNvPr>
          <p:cNvPicPr>
            <a:picLocks noChangeAspect="1"/>
          </p:cNvPicPr>
          <p:nvPr/>
        </p:nvPicPr>
        <p:blipFill>
          <a:blip r:embed="rId3"/>
          <a:stretch>
            <a:fillRect/>
          </a:stretch>
        </p:blipFill>
        <p:spPr>
          <a:xfrm>
            <a:off x="8477098" y="1905610"/>
            <a:ext cx="395021" cy="395021"/>
          </a:xfrm>
          <a:prstGeom prst="rect">
            <a:avLst/>
          </a:prstGeom>
        </p:spPr>
      </p:pic>
      <p:sp>
        <p:nvSpPr>
          <p:cNvPr id="17" name="Text 12"/>
          <p:cNvSpPr txBox="1"/>
          <p:nvPr/>
        </p:nvSpPr>
        <p:spPr>
          <a:xfrm>
            <a:off x="9086088" y="1828800"/>
            <a:ext cx="2325624" cy="548640"/>
          </a:xfrm>
          <a:prstGeom prst="rect">
            <a:avLst/>
          </a:prstGeom>
          <a:noFill/>
          <a:ln/>
        </p:spPr>
        <p:txBody>
          <a:bodyPr wrap="square" lIns="0" tIns="0" rIns="0" bIns="0" rtlCol="0" anchor="ctr"/>
          <a:lstStyle/>
          <a:p>
            <a:pPr indent="0" marL="0">
              <a:buNone/>
            </a:pPr>
            <a:r>
              <a:rPr lang="en-US" sz="1500" b="1" dirty="0">
                <a:solidFill>
                  <a:srgbClr val="EEF2F6"/>
                </a:solidFill>
                <a:latin typeface="Calibri" pitchFamily="34" charset="0"/>
                <a:ea typeface="Calibri" pitchFamily="34" charset="-122"/>
                <a:cs typeface="Calibri" pitchFamily="34" charset="-120"/>
              </a:rPr>
              <a:t>Chaos &amp; safety tests</a:t>
            </a:r>
            <a:endParaRPr lang="en-US" sz="1500" dirty="0"/>
          </a:p>
        </p:txBody>
      </p:sp>
      <p:sp>
        <p:nvSpPr>
          <p:cNvPr id="18" name="Text 13"/>
          <p:cNvSpPr txBox="1"/>
          <p:nvPr/>
        </p:nvSpPr>
        <p:spPr>
          <a:xfrm>
            <a:off x="8400288" y="2560320"/>
            <a:ext cx="3011424" cy="219456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Every planted anomaly must be caught and typed correctly</a:t>
            </a:r>
            <a:endParaRPr lang="en-US" sz="1150" dirty="0"/>
          </a:p>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Prompt-injection test against a poisoned runbook</a:t>
            </a:r>
            <a:endParaRPr lang="en-US" sz="1150" dirty="0"/>
          </a:p>
          <a:p>
            <a:pPr marL="177800" indent="-177800">
              <a:lnSpc>
                <a:spcPct val="115000"/>
              </a:lnSpc>
              <a:spcAft>
                <a:spcPts val="800"/>
              </a:spcAft>
              <a:buSzPct val="100000"/>
              <a:buChar char="•"/>
            </a:pPr>
            <a:r>
              <a:rPr lang="en-US" sz="1150" dirty="0">
                <a:solidFill>
                  <a:srgbClr val="8A97A6"/>
                </a:solidFill>
                <a:latin typeface="Calibri" pitchFamily="34" charset="0"/>
                <a:ea typeface="Calibri" pitchFamily="34" charset="-122"/>
                <a:cs typeface="Calibri" pitchFamily="34" charset="-120"/>
              </a:rPr>
              <a:t>Full investigation under 30 s in demo mode</a:t>
            </a:r>
            <a:endParaRPr lang="en-US" sz="1150" dirty="0"/>
          </a:p>
        </p:txBody>
      </p:sp>
      <p:sp>
        <p:nvSpPr>
          <p:cNvPr id="19" name="Shape 14"/>
          <p:cNvSpPr/>
          <p:nvPr/>
        </p:nvSpPr>
        <p:spPr>
          <a:xfrm>
            <a:off x="548640" y="5074920"/>
            <a:ext cx="11091672" cy="1097280"/>
          </a:xfrm>
          <a:prstGeom prst="roundRect">
            <a:avLst>
              <a:gd name="adj" fmla="val 7500"/>
            </a:avLst>
          </a:prstGeom>
          <a:solidFill>
            <a:srgbClr val="212C39"/>
          </a:solidFill>
          <a:ln/>
        </p:spPr>
        <p:txBody>
          <a:bodyPr/>
          <a:p/>
        </p:txBody>
      </p:sp>
      <p:sp>
        <p:nvSpPr>
          <p:cNvPr id="20" name="Text 15"/>
          <p:cNvSpPr txBox="1"/>
          <p:nvPr/>
        </p:nvSpPr>
        <p:spPr>
          <a:xfrm>
            <a:off x="822960" y="5230368"/>
            <a:ext cx="3657600" cy="274320"/>
          </a:xfrm>
          <a:prstGeom prst="rect">
            <a:avLst/>
          </a:prstGeom>
          <a:noFill/>
          <a:ln/>
        </p:spPr>
        <p:txBody>
          <a:bodyPr wrap="square" lIns="0" tIns="0" rIns="0" bIns="0" rtlCol="0" anchor="ctr"/>
          <a:lstStyle/>
          <a:p>
            <a:pPr indent="0" marL="0">
              <a:buNone/>
            </a:pPr>
            <a:r>
              <a:rPr lang="en-US" sz="1050" b="1" spc="150" kern="0" dirty="0">
                <a:solidFill>
                  <a:srgbClr val="F5A623"/>
                </a:solidFill>
                <a:latin typeface="Courier New" pitchFamily="34" charset="0"/>
                <a:ea typeface="Courier New" pitchFamily="34" charset="-122"/>
                <a:cs typeface="Courier New" pitchFamily="34" charset="-120"/>
              </a:rPr>
              <a:t>WHAT I AM HOLDING IT TO</a:t>
            </a:r>
            <a:endParaRPr lang="en-US" sz="1050" dirty="0"/>
          </a:p>
        </p:txBody>
      </p:sp>
      <p:sp>
        <p:nvSpPr>
          <p:cNvPr id="21" name="Shape 16"/>
          <p:cNvSpPr/>
          <p:nvPr/>
        </p:nvSpPr>
        <p:spPr>
          <a:xfrm>
            <a:off x="822960" y="5532120"/>
            <a:ext cx="2057400" cy="457200"/>
          </a:xfrm>
          <a:prstGeom prst="roundRect">
            <a:avLst>
              <a:gd name="adj" fmla="val 16000"/>
            </a:avLst>
          </a:prstGeom>
          <a:solidFill>
            <a:srgbClr val="0D1117"/>
          </a:solidFill>
          <a:ln w="9525">
            <a:solidFill>
              <a:srgbClr val="4FD1C5"/>
            </a:solidFill>
            <a:prstDash val="solid"/>
          </a:ln>
        </p:spPr>
        <p:txBody>
          <a:bodyPr/>
          <a:p/>
        </p:txBody>
      </p:sp>
      <p:sp>
        <p:nvSpPr>
          <p:cNvPr id="22" name="Text 17"/>
          <p:cNvSpPr txBox="1"/>
          <p:nvPr/>
        </p:nvSpPr>
        <p:spPr>
          <a:xfrm>
            <a:off x="822960" y="5532120"/>
            <a:ext cx="2057400" cy="457200"/>
          </a:xfrm>
          <a:prstGeom prst="rect">
            <a:avLst/>
          </a:prstGeom>
          <a:noFill/>
          <a:ln/>
        </p:spPr>
        <p:txBody>
          <a:bodyPr wrap="square" lIns="381" tIns="381" rIns="381" bIns="381" rtlCol="0" anchor="ctr"/>
          <a:lstStyle/>
          <a:p>
            <a:pPr algn="ctr" indent="0" marL="0">
              <a:buNone/>
            </a:pPr>
            <a:r>
              <a:rPr lang="en-US" sz="950" dirty="0">
                <a:solidFill>
                  <a:srgbClr val="4FD1C5"/>
                </a:solidFill>
                <a:latin typeface="Courier New" pitchFamily="34" charset="0"/>
                <a:ea typeface="Courier New" pitchFamily="34" charset="-122"/>
                <a:cs typeface="Courier New" pitchFamily="34" charset="-120"/>
              </a:rPr>
              <a:t>RAGAS ≥ 0.75 (raised in D)</a:t>
            </a:r>
            <a:endParaRPr lang="en-US" sz="950" dirty="0"/>
          </a:p>
        </p:txBody>
      </p:sp>
      <p:sp>
        <p:nvSpPr>
          <p:cNvPr id="23" name="Shape 18"/>
          <p:cNvSpPr/>
          <p:nvPr/>
        </p:nvSpPr>
        <p:spPr>
          <a:xfrm>
            <a:off x="2990088" y="5532120"/>
            <a:ext cx="2057400" cy="457200"/>
          </a:xfrm>
          <a:prstGeom prst="roundRect">
            <a:avLst>
              <a:gd name="adj" fmla="val 16000"/>
            </a:avLst>
          </a:prstGeom>
          <a:solidFill>
            <a:srgbClr val="0D1117"/>
          </a:solidFill>
          <a:ln w="9525">
            <a:solidFill>
              <a:srgbClr val="4FD1C5"/>
            </a:solidFill>
            <a:prstDash val="solid"/>
          </a:ln>
        </p:spPr>
        <p:txBody>
          <a:bodyPr/>
          <a:p/>
        </p:txBody>
      </p:sp>
      <p:sp>
        <p:nvSpPr>
          <p:cNvPr id="24" name="Text 19"/>
          <p:cNvSpPr txBox="1"/>
          <p:nvPr/>
        </p:nvSpPr>
        <p:spPr>
          <a:xfrm>
            <a:off x="2990088" y="5532120"/>
            <a:ext cx="2057400" cy="457200"/>
          </a:xfrm>
          <a:prstGeom prst="rect">
            <a:avLst/>
          </a:prstGeom>
          <a:noFill/>
          <a:ln/>
        </p:spPr>
        <p:txBody>
          <a:bodyPr wrap="square" lIns="381" tIns="381" rIns="381" bIns="381" rtlCol="0" anchor="ctr"/>
          <a:lstStyle/>
          <a:p>
            <a:pPr algn="ctr" indent="0" marL="0">
              <a:buNone/>
            </a:pPr>
            <a:r>
              <a:rPr lang="en-US" sz="950" dirty="0">
                <a:solidFill>
                  <a:srgbClr val="4FD1C5"/>
                </a:solidFill>
                <a:latin typeface="Courier New" pitchFamily="34" charset="0"/>
                <a:ea typeface="Courier New" pitchFamily="34" charset="-122"/>
                <a:cs typeface="Courier New" pitchFamily="34" charset="-120"/>
              </a:rPr>
              <a:t>All injected anomalies caught</a:t>
            </a:r>
            <a:endParaRPr lang="en-US" sz="950" dirty="0"/>
          </a:p>
        </p:txBody>
      </p:sp>
      <p:sp>
        <p:nvSpPr>
          <p:cNvPr id="25" name="Shape 20"/>
          <p:cNvSpPr/>
          <p:nvPr/>
        </p:nvSpPr>
        <p:spPr>
          <a:xfrm>
            <a:off x="5157216" y="5532120"/>
            <a:ext cx="2057400" cy="457200"/>
          </a:xfrm>
          <a:prstGeom prst="roundRect">
            <a:avLst>
              <a:gd name="adj" fmla="val 16000"/>
            </a:avLst>
          </a:prstGeom>
          <a:solidFill>
            <a:srgbClr val="0D1117"/>
          </a:solidFill>
          <a:ln w="9525">
            <a:solidFill>
              <a:srgbClr val="4FD1C5"/>
            </a:solidFill>
            <a:prstDash val="solid"/>
          </a:ln>
        </p:spPr>
        <p:txBody>
          <a:bodyPr/>
          <a:p/>
        </p:txBody>
      </p:sp>
      <p:sp>
        <p:nvSpPr>
          <p:cNvPr id="26" name="Text 21"/>
          <p:cNvSpPr txBox="1"/>
          <p:nvPr/>
        </p:nvSpPr>
        <p:spPr>
          <a:xfrm>
            <a:off x="5157216" y="5532120"/>
            <a:ext cx="2057400" cy="457200"/>
          </a:xfrm>
          <a:prstGeom prst="rect">
            <a:avLst/>
          </a:prstGeom>
          <a:noFill/>
          <a:ln/>
        </p:spPr>
        <p:txBody>
          <a:bodyPr wrap="square" lIns="381" tIns="381" rIns="381" bIns="381" rtlCol="0" anchor="ctr"/>
          <a:lstStyle/>
          <a:p>
            <a:pPr algn="ctr" indent="0" marL="0">
              <a:buNone/>
            </a:pPr>
            <a:r>
              <a:rPr lang="en-US" sz="950" dirty="0">
                <a:solidFill>
                  <a:srgbClr val="4FD1C5"/>
                </a:solidFill>
                <a:latin typeface="Courier New" pitchFamily="34" charset="0"/>
                <a:ea typeface="Courier New" pitchFamily="34" charset="-122"/>
                <a:cs typeface="Courier New" pitchFamily="34" charset="-120"/>
              </a:rPr>
              <a:t>Test coverage ≥ 80%</a:t>
            </a:r>
            <a:endParaRPr lang="en-US" sz="950" dirty="0"/>
          </a:p>
        </p:txBody>
      </p:sp>
      <p:sp>
        <p:nvSpPr>
          <p:cNvPr id="27" name="Shape 22"/>
          <p:cNvSpPr/>
          <p:nvPr/>
        </p:nvSpPr>
        <p:spPr>
          <a:xfrm>
            <a:off x="7324344" y="5532120"/>
            <a:ext cx="2057400" cy="457200"/>
          </a:xfrm>
          <a:prstGeom prst="roundRect">
            <a:avLst>
              <a:gd name="adj" fmla="val 16000"/>
            </a:avLst>
          </a:prstGeom>
          <a:solidFill>
            <a:srgbClr val="0D1117"/>
          </a:solidFill>
          <a:ln w="9525">
            <a:solidFill>
              <a:srgbClr val="4FD1C5"/>
            </a:solidFill>
            <a:prstDash val="solid"/>
          </a:ln>
        </p:spPr>
        <p:txBody>
          <a:bodyPr/>
          <a:p/>
        </p:txBody>
      </p:sp>
      <p:sp>
        <p:nvSpPr>
          <p:cNvPr id="28" name="Text 23"/>
          <p:cNvSpPr txBox="1"/>
          <p:nvPr/>
        </p:nvSpPr>
        <p:spPr>
          <a:xfrm>
            <a:off x="7324344" y="5532120"/>
            <a:ext cx="2057400" cy="457200"/>
          </a:xfrm>
          <a:prstGeom prst="rect">
            <a:avLst/>
          </a:prstGeom>
          <a:noFill/>
          <a:ln/>
        </p:spPr>
        <p:txBody>
          <a:bodyPr wrap="square" lIns="381" tIns="381" rIns="381" bIns="381" rtlCol="0" anchor="ctr"/>
          <a:lstStyle/>
          <a:p>
            <a:pPr algn="ctr" indent="0" marL="0">
              <a:buNone/>
            </a:pPr>
            <a:r>
              <a:rPr lang="en-US" sz="950" dirty="0">
                <a:solidFill>
                  <a:srgbClr val="4FD1C5"/>
                </a:solidFill>
                <a:latin typeface="Courier New" pitchFamily="34" charset="0"/>
                <a:ea typeface="Courier New" pitchFamily="34" charset="-122"/>
                <a:cs typeface="Courier New" pitchFamily="34" charset="-120"/>
              </a:rPr>
              <a:t>Investigation &lt; 30 s</a:t>
            </a:r>
            <a:endParaRPr lang="en-US" sz="950" dirty="0"/>
          </a:p>
        </p:txBody>
      </p:sp>
      <p:sp>
        <p:nvSpPr>
          <p:cNvPr id="29" name="Shape 24"/>
          <p:cNvSpPr/>
          <p:nvPr/>
        </p:nvSpPr>
        <p:spPr>
          <a:xfrm>
            <a:off x="9491472" y="5532120"/>
            <a:ext cx="2057400" cy="457200"/>
          </a:xfrm>
          <a:prstGeom prst="roundRect">
            <a:avLst>
              <a:gd name="adj" fmla="val 16000"/>
            </a:avLst>
          </a:prstGeom>
          <a:solidFill>
            <a:srgbClr val="0D1117"/>
          </a:solidFill>
          <a:ln w="9525">
            <a:solidFill>
              <a:srgbClr val="4FD1C5"/>
            </a:solidFill>
            <a:prstDash val="solid"/>
          </a:ln>
        </p:spPr>
        <p:txBody>
          <a:bodyPr/>
          <a:p/>
        </p:txBody>
      </p:sp>
      <p:sp>
        <p:nvSpPr>
          <p:cNvPr id="30" name="Text 25"/>
          <p:cNvSpPr txBox="1"/>
          <p:nvPr/>
        </p:nvSpPr>
        <p:spPr>
          <a:xfrm>
            <a:off x="9491472" y="5532120"/>
            <a:ext cx="2057400" cy="457200"/>
          </a:xfrm>
          <a:prstGeom prst="rect">
            <a:avLst/>
          </a:prstGeom>
          <a:noFill/>
          <a:ln/>
        </p:spPr>
        <p:txBody>
          <a:bodyPr wrap="square" lIns="381" tIns="381" rIns="381" bIns="381" rtlCol="0" anchor="ctr"/>
          <a:lstStyle/>
          <a:p>
            <a:pPr algn="ctr" indent="0" marL="0">
              <a:buNone/>
            </a:pPr>
            <a:r>
              <a:rPr lang="en-US" sz="950" dirty="0">
                <a:solidFill>
                  <a:srgbClr val="4FD1C5"/>
                </a:solidFill>
                <a:latin typeface="Courier New" pitchFamily="34" charset="0"/>
                <a:ea typeface="Courier New" pitchFamily="34" charset="-122"/>
                <a:cs typeface="Courier New" pitchFamily="34" charset="-120"/>
              </a:rPr>
              <a:t>Zero untraced LLM calls</a:t>
            </a:r>
            <a:endParaRPr lang="en-US" sz="950" dirty="0"/>
          </a:p>
        </p:txBody>
      </p:sp>
      <p:sp>
        <p:nvSpPr>
          <p:cNvPr id="31" name="Text 26"/>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32" name="Text 27"/>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APPLICATION SCREENS</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The app: six screens, one graph behind all of them</a:t>
            </a:r>
            <a:endParaRPr lang="en-US" sz="3000" dirty="0"/>
          </a:p>
        </p:txBody>
      </p:sp>
      <p:sp>
        <p:nvSpPr>
          <p:cNvPr id="4" name="Shape 2"/>
          <p:cNvSpPr/>
          <p:nvPr/>
        </p:nvSpPr>
        <p:spPr>
          <a:xfrm>
            <a:off x="548640" y="160020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5" name="Shape 3"/>
          <p:cNvSpPr/>
          <p:nvPr/>
        </p:nvSpPr>
        <p:spPr>
          <a:xfrm>
            <a:off x="804672" y="1856232"/>
            <a:ext cx="512064" cy="512064"/>
          </a:xfrm>
          <a:prstGeom prst="ellipse">
            <a:avLst/>
          </a:prstGeom>
          <a:solidFill>
            <a:srgbClr val="F5A623"/>
          </a:solidFill>
          <a:ln/>
        </p:spPr>
        <p:txBody>
          <a:bodyPr/>
          <a:p/>
        </p:txBody>
      </p:sp>
      <p:pic>
        <p:nvPicPr>
          <p:cNvPr id="6" name="Image 0" descr="/home/claude/assets/icons/barchart.png">    </p:cNvPr>
          <p:cNvPicPr>
            <a:picLocks noChangeAspect="1"/>
          </p:cNvPicPr>
          <p:nvPr/>
        </p:nvPicPr>
        <p:blipFill>
          <a:blip r:embed="rId1"/>
          <a:stretch>
            <a:fillRect/>
          </a:stretch>
        </p:blipFill>
        <p:spPr>
          <a:xfrm>
            <a:off x="876361" y="1927921"/>
            <a:ext cx="368686" cy="368686"/>
          </a:xfrm>
          <a:prstGeom prst="rect">
            <a:avLst/>
          </a:prstGeom>
        </p:spPr>
      </p:pic>
      <p:sp>
        <p:nvSpPr>
          <p:cNvPr id="7" name="Text 4"/>
          <p:cNvSpPr txBox="1"/>
          <p:nvPr/>
        </p:nvSpPr>
        <p:spPr>
          <a:xfrm>
            <a:off x="1463040" y="1856232"/>
            <a:ext cx="2429256" cy="512064"/>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Dashboard</a:t>
            </a:r>
            <a:endParaRPr lang="en-US" sz="1450" dirty="0"/>
          </a:p>
        </p:txBody>
      </p:sp>
      <p:sp>
        <p:nvSpPr>
          <p:cNvPr id="8" name="Text 5"/>
          <p:cNvSpPr txBox="1"/>
          <p:nvPr/>
        </p:nvSpPr>
        <p:spPr>
          <a:xfrm>
            <a:off x="804672" y="2514600"/>
            <a:ext cx="3023616" cy="105156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Today's volume vs trailing average, open findings by severity, last DAG run, and what today cost in tokens.</a:t>
            </a:r>
            <a:endParaRPr lang="en-US" sz="1100" dirty="0"/>
          </a:p>
        </p:txBody>
      </p:sp>
      <p:sp>
        <p:nvSpPr>
          <p:cNvPr id="9" name="Shape 6"/>
          <p:cNvSpPr/>
          <p:nvPr/>
        </p:nvSpPr>
        <p:spPr>
          <a:xfrm>
            <a:off x="4331208" y="160020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0" name="Shape 7"/>
          <p:cNvSpPr/>
          <p:nvPr/>
        </p:nvSpPr>
        <p:spPr>
          <a:xfrm>
            <a:off x="4587240" y="1856232"/>
            <a:ext cx="512064" cy="512064"/>
          </a:xfrm>
          <a:prstGeom prst="ellipse">
            <a:avLst/>
          </a:prstGeom>
          <a:solidFill>
            <a:srgbClr val="4FD1C5"/>
          </a:solidFill>
          <a:ln/>
        </p:spPr>
        <p:txBody>
          <a:bodyPr/>
          <a:p/>
        </p:txBody>
      </p:sp>
      <p:pic>
        <p:nvPicPr>
          <p:cNvPr id="11" name="Image 1" descr="/home/claude/assets/icons/alert.png">    </p:cNvPr>
          <p:cNvPicPr>
            <a:picLocks noChangeAspect="1"/>
          </p:cNvPicPr>
          <p:nvPr/>
        </p:nvPicPr>
        <p:blipFill>
          <a:blip r:embed="rId2"/>
          <a:stretch>
            <a:fillRect/>
          </a:stretch>
        </p:blipFill>
        <p:spPr>
          <a:xfrm>
            <a:off x="4658929" y="1927921"/>
            <a:ext cx="368686" cy="368686"/>
          </a:xfrm>
          <a:prstGeom prst="rect">
            <a:avLst/>
          </a:prstGeom>
        </p:spPr>
      </p:pic>
      <p:sp>
        <p:nvSpPr>
          <p:cNvPr id="12" name="Text 8"/>
          <p:cNvSpPr txBox="1"/>
          <p:nvPr/>
        </p:nvSpPr>
        <p:spPr>
          <a:xfrm>
            <a:off x="5245608" y="1856232"/>
            <a:ext cx="2429256" cy="512064"/>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Incident feed</a:t>
            </a:r>
            <a:endParaRPr lang="en-US" sz="1450" dirty="0"/>
          </a:p>
        </p:txBody>
      </p:sp>
      <p:sp>
        <p:nvSpPr>
          <p:cNvPr id="13" name="Text 9"/>
          <p:cNvSpPr txBox="1"/>
          <p:nvPr/>
        </p:nvSpPr>
        <p:spPr>
          <a:xfrm>
            <a:off x="4587240" y="2514600"/>
            <a:ext cx="3023616" cy="105156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Every finding, expandable into the full write-up, with a link straight to its LangFuse trace.</a:t>
            </a:r>
            <a:endParaRPr lang="en-US" sz="1100" dirty="0"/>
          </a:p>
        </p:txBody>
      </p:sp>
      <p:sp>
        <p:nvSpPr>
          <p:cNvPr id="14" name="Shape 10"/>
          <p:cNvSpPr/>
          <p:nvPr/>
        </p:nvSpPr>
        <p:spPr>
          <a:xfrm>
            <a:off x="8113776" y="160020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5" name="Shape 11"/>
          <p:cNvSpPr/>
          <p:nvPr/>
        </p:nvSpPr>
        <p:spPr>
          <a:xfrm>
            <a:off x="8369808" y="1856232"/>
            <a:ext cx="512064" cy="512064"/>
          </a:xfrm>
          <a:prstGeom prst="ellipse">
            <a:avLst/>
          </a:prstGeom>
          <a:solidFill>
            <a:srgbClr val="F5A623"/>
          </a:solidFill>
          <a:ln/>
        </p:spPr>
        <p:txBody>
          <a:bodyPr/>
          <a:p/>
        </p:txBody>
      </p:sp>
      <p:pic>
        <p:nvPicPr>
          <p:cNvPr id="16" name="Image 2" descr="/home/claude/assets/icons/checkcircle.png">    </p:cNvPr>
          <p:cNvPicPr>
            <a:picLocks noChangeAspect="1"/>
          </p:cNvPicPr>
          <p:nvPr/>
        </p:nvPicPr>
        <p:blipFill>
          <a:blip r:embed="rId3"/>
          <a:stretch>
            <a:fillRect/>
          </a:stretch>
        </p:blipFill>
        <p:spPr>
          <a:xfrm>
            <a:off x="8441497" y="1927921"/>
            <a:ext cx="368686" cy="368686"/>
          </a:xfrm>
          <a:prstGeom prst="rect">
            <a:avLst/>
          </a:prstGeom>
        </p:spPr>
      </p:pic>
      <p:sp>
        <p:nvSpPr>
          <p:cNvPr id="17" name="Text 12"/>
          <p:cNvSpPr txBox="1"/>
          <p:nvPr/>
        </p:nvSpPr>
        <p:spPr>
          <a:xfrm>
            <a:off x="9028176" y="1856232"/>
            <a:ext cx="2429256" cy="512064"/>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Review queue</a:t>
            </a:r>
            <a:endParaRPr lang="en-US" sz="1450" dirty="0"/>
          </a:p>
        </p:txBody>
      </p:sp>
      <p:sp>
        <p:nvSpPr>
          <p:cNvPr id="18" name="Text 13"/>
          <p:cNvSpPr txBox="1"/>
          <p:nvPr/>
        </p:nvSpPr>
        <p:spPr>
          <a:xfrm>
            <a:off x="8369808" y="2514600"/>
            <a:ext cx="3023616" cy="105156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Findings the graph paused on. Approve, reject, or annotate, and it picks back up.</a:t>
            </a:r>
            <a:endParaRPr lang="en-US" sz="1100" dirty="0"/>
          </a:p>
        </p:txBody>
      </p:sp>
      <p:sp>
        <p:nvSpPr>
          <p:cNvPr id="19" name="Shape 14"/>
          <p:cNvSpPr/>
          <p:nvPr/>
        </p:nvSpPr>
        <p:spPr>
          <a:xfrm>
            <a:off x="548640" y="393192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20" name="Shape 15"/>
          <p:cNvSpPr/>
          <p:nvPr/>
        </p:nvSpPr>
        <p:spPr>
          <a:xfrm>
            <a:off x="804672" y="4187952"/>
            <a:ext cx="512064" cy="512064"/>
          </a:xfrm>
          <a:prstGeom prst="ellipse">
            <a:avLst/>
          </a:prstGeom>
          <a:solidFill>
            <a:srgbClr val="4FD1C5"/>
          </a:solidFill>
          <a:ln/>
        </p:spPr>
        <p:txBody>
          <a:bodyPr/>
          <a:p/>
        </p:txBody>
      </p:sp>
      <p:pic>
        <p:nvPicPr>
          <p:cNvPr id="21" name="Image 3" descr="/home/claude/assets/icons/message.png">    </p:cNvPr>
          <p:cNvPicPr>
            <a:picLocks noChangeAspect="1"/>
          </p:cNvPicPr>
          <p:nvPr/>
        </p:nvPicPr>
        <p:blipFill>
          <a:blip r:embed="rId4"/>
          <a:stretch>
            <a:fillRect/>
          </a:stretch>
        </p:blipFill>
        <p:spPr>
          <a:xfrm>
            <a:off x="876361" y="4259641"/>
            <a:ext cx="368686" cy="368686"/>
          </a:xfrm>
          <a:prstGeom prst="rect">
            <a:avLst/>
          </a:prstGeom>
        </p:spPr>
      </p:pic>
      <p:sp>
        <p:nvSpPr>
          <p:cNvPr id="22" name="Text 16"/>
          <p:cNvSpPr txBox="1"/>
          <p:nvPr/>
        </p:nvSpPr>
        <p:spPr>
          <a:xfrm>
            <a:off x="1463040" y="4187952"/>
            <a:ext cx="2429256" cy="512064"/>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Ask ReconMind</a:t>
            </a:r>
            <a:endParaRPr lang="en-US" sz="1450" dirty="0"/>
          </a:p>
        </p:txBody>
      </p:sp>
      <p:sp>
        <p:nvSpPr>
          <p:cNvPr id="23" name="Text 17"/>
          <p:cNvSpPr txBox="1"/>
          <p:nvPr/>
        </p:nvSpPr>
        <p:spPr>
          <a:xfrm>
            <a:off x="804672" y="4846320"/>
            <a:ext cx="3023616" cy="105156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Streaming chat with session memory in Postgres. Runs the full graph on whatever I ask it.</a:t>
            </a:r>
            <a:endParaRPr lang="en-US" sz="1100" dirty="0"/>
          </a:p>
        </p:txBody>
      </p:sp>
      <p:sp>
        <p:nvSpPr>
          <p:cNvPr id="24" name="Shape 18"/>
          <p:cNvSpPr/>
          <p:nvPr/>
        </p:nvSpPr>
        <p:spPr>
          <a:xfrm>
            <a:off x="4331208" y="393192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25" name="Shape 19"/>
          <p:cNvSpPr/>
          <p:nvPr/>
        </p:nvSpPr>
        <p:spPr>
          <a:xfrm>
            <a:off x="4587240" y="4187952"/>
            <a:ext cx="512064" cy="512064"/>
          </a:xfrm>
          <a:prstGeom prst="ellipse">
            <a:avLst/>
          </a:prstGeom>
          <a:solidFill>
            <a:srgbClr val="F5A623"/>
          </a:solidFill>
          <a:ln/>
        </p:spPr>
        <p:txBody>
          <a:bodyPr/>
          <a:p/>
        </p:txBody>
      </p:sp>
      <p:pic>
        <p:nvPicPr>
          <p:cNvPr id="26" name="Image 4" descr="/home/claude/assets/icons/book.png">    </p:cNvPr>
          <p:cNvPicPr>
            <a:picLocks noChangeAspect="1"/>
          </p:cNvPicPr>
          <p:nvPr/>
        </p:nvPicPr>
        <p:blipFill>
          <a:blip r:embed="rId5"/>
          <a:stretch>
            <a:fillRect/>
          </a:stretch>
        </p:blipFill>
        <p:spPr>
          <a:xfrm>
            <a:off x="4658929" y="4259641"/>
            <a:ext cx="368686" cy="368686"/>
          </a:xfrm>
          <a:prstGeom prst="rect">
            <a:avLst/>
          </a:prstGeom>
        </p:spPr>
      </p:pic>
      <p:sp>
        <p:nvSpPr>
          <p:cNvPr id="27" name="Text 20"/>
          <p:cNvSpPr txBox="1"/>
          <p:nvPr/>
        </p:nvSpPr>
        <p:spPr>
          <a:xfrm>
            <a:off x="5245608" y="4187952"/>
            <a:ext cx="2429256" cy="512064"/>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Docs &amp; runbooks</a:t>
            </a:r>
            <a:endParaRPr lang="en-US" sz="1450" dirty="0"/>
          </a:p>
        </p:txBody>
      </p:sp>
      <p:sp>
        <p:nvSpPr>
          <p:cNvPr id="28" name="Text 21"/>
          <p:cNvSpPr txBox="1"/>
          <p:nvPr/>
        </p:nvSpPr>
        <p:spPr>
          <a:xfrm>
            <a:off x="4587240" y="4846320"/>
            <a:ext cx="3023616" cy="105156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The ingested corpus, searchable on its own, so I can prove retrieval works before the agents touch it.</a:t>
            </a:r>
            <a:endParaRPr lang="en-US" sz="1100" dirty="0"/>
          </a:p>
        </p:txBody>
      </p:sp>
      <p:sp>
        <p:nvSpPr>
          <p:cNvPr id="29" name="Shape 22"/>
          <p:cNvSpPr/>
          <p:nvPr/>
        </p:nvSpPr>
        <p:spPr>
          <a:xfrm>
            <a:off x="8113776" y="393192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30" name="Shape 23"/>
          <p:cNvSpPr/>
          <p:nvPr/>
        </p:nvSpPr>
        <p:spPr>
          <a:xfrm>
            <a:off x="8369808" y="4187952"/>
            <a:ext cx="512064" cy="512064"/>
          </a:xfrm>
          <a:prstGeom prst="ellipse">
            <a:avLst/>
          </a:prstGeom>
          <a:solidFill>
            <a:srgbClr val="4FD1C5"/>
          </a:solidFill>
          <a:ln/>
        </p:spPr>
        <p:txBody>
          <a:bodyPr/>
          <a:p/>
        </p:txBody>
      </p:sp>
      <p:pic>
        <p:nvPicPr>
          <p:cNvPr id="31" name="Image 5" descr="/home/claude/assets/icons/activity.png">    </p:cNvPr>
          <p:cNvPicPr>
            <a:picLocks noChangeAspect="1"/>
          </p:cNvPicPr>
          <p:nvPr/>
        </p:nvPicPr>
        <p:blipFill>
          <a:blip r:embed="rId6"/>
          <a:stretch>
            <a:fillRect/>
          </a:stretch>
        </p:blipFill>
        <p:spPr>
          <a:xfrm>
            <a:off x="8441497" y="4259641"/>
            <a:ext cx="368686" cy="368686"/>
          </a:xfrm>
          <a:prstGeom prst="rect">
            <a:avLst/>
          </a:prstGeom>
        </p:spPr>
      </p:pic>
      <p:sp>
        <p:nvSpPr>
          <p:cNvPr id="32" name="Text 24"/>
          <p:cNvSpPr txBox="1"/>
          <p:nvPr/>
        </p:nvSpPr>
        <p:spPr>
          <a:xfrm>
            <a:off x="9028176" y="4187952"/>
            <a:ext cx="2429256" cy="512064"/>
          </a:xfrm>
          <a:prstGeom prst="rect">
            <a:avLst/>
          </a:prstGeom>
          <a:noFill/>
          <a:ln/>
        </p:spPr>
        <p:txBody>
          <a:bodyPr wrap="square" lIns="0" tIns="0" rIns="0" bIns="0" rtlCol="0" anchor="ctr"/>
          <a:lstStyle/>
          <a:p>
            <a:pPr indent="0" marL="0">
              <a:buNone/>
            </a:pPr>
            <a:r>
              <a:rPr lang="en-US" sz="1450" b="1" dirty="0">
                <a:solidFill>
                  <a:srgbClr val="EEF2F6"/>
                </a:solidFill>
                <a:latin typeface="Calibri" pitchFamily="34" charset="0"/>
                <a:ea typeface="Calibri" pitchFamily="34" charset="-122"/>
                <a:cs typeface="Calibri" pitchFamily="34" charset="-120"/>
              </a:rPr>
              <a:t>Traces</a:t>
            </a:r>
            <a:endParaRPr lang="en-US" sz="1450" dirty="0"/>
          </a:p>
        </p:txBody>
      </p:sp>
      <p:sp>
        <p:nvSpPr>
          <p:cNvPr id="33" name="Text 25"/>
          <p:cNvSpPr txBox="1"/>
          <p:nvPr/>
        </p:nvSpPr>
        <p:spPr>
          <a:xfrm>
            <a:off x="8369808" y="4846320"/>
            <a:ext cx="3023616" cy="105156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Recent runs with cost and latency, linking into LangFuse.</a:t>
            </a:r>
            <a:endParaRPr lang="en-US" sz="1100" dirty="0"/>
          </a:p>
        </p:txBody>
      </p:sp>
      <p:sp>
        <p:nvSpPr>
          <p:cNvPr id="34" name="Text 26"/>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35" name="Text 27"/>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4FD1C5"/>
                </a:solidFill>
                <a:latin typeface="Courier New" pitchFamily="34" charset="0"/>
                <a:ea typeface="Courier New" pitchFamily="34" charset="-122"/>
                <a:cs typeface="Courier New" pitchFamily="34" charset="-120"/>
              </a:rPr>
              <a:t>TECH STACK</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What I built it with</a:t>
            </a:r>
            <a:endParaRPr lang="en-US" sz="3000" dirty="0"/>
          </a:p>
        </p:txBody>
      </p:sp>
      <p:sp>
        <p:nvSpPr>
          <p:cNvPr id="4" name="Shape 2"/>
          <p:cNvSpPr/>
          <p:nvPr/>
        </p:nvSpPr>
        <p:spPr>
          <a:xfrm>
            <a:off x="548640" y="160020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5" name="Text 3"/>
          <p:cNvSpPr txBox="1"/>
          <p:nvPr/>
        </p:nvSpPr>
        <p:spPr>
          <a:xfrm>
            <a:off x="822960" y="1828800"/>
            <a:ext cx="2977896" cy="274320"/>
          </a:xfrm>
          <a:prstGeom prst="rect">
            <a:avLst/>
          </a:prstGeom>
          <a:noFill/>
          <a:ln/>
        </p:spPr>
        <p:txBody>
          <a:bodyPr wrap="square" lIns="0" tIns="0" rIns="0" bIns="0" rtlCol="0" anchor="ctr"/>
          <a:lstStyle/>
          <a:p>
            <a:pPr indent="0" marL="0">
              <a:buNone/>
            </a:pPr>
            <a:r>
              <a:rPr lang="en-US" sz="1050" b="1" spc="150" kern="0" dirty="0">
                <a:solidFill>
                  <a:srgbClr val="F5A623"/>
                </a:solidFill>
                <a:latin typeface="Courier New" pitchFamily="34" charset="0"/>
                <a:ea typeface="Courier New" pitchFamily="34" charset="-122"/>
                <a:cs typeface="Courier New" pitchFamily="34" charset="-120"/>
              </a:rPr>
              <a:t>FRONTEND</a:t>
            </a:r>
            <a:endParaRPr lang="en-US" sz="1050" dirty="0"/>
          </a:p>
        </p:txBody>
      </p:sp>
      <p:sp>
        <p:nvSpPr>
          <p:cNvPr id="6" name="Shape 4"/>
          <p:cNvSpPr/>
          <p:nvPr/>
        </p:nvSpPr>
        <p:spPr>
          <a:xfrm>
            <a:off x="822960" y="2240280"/>
            <a:ext cx="1420368" cy="475488"/>
          </a:xfrm>
          <a:prstGeom prst="roundRect">
            <a:avLst>
              <a:gd name="adj" fmla="val 15385"/>
            </a:avLst>
          </a:prstGeom>
          <a:solidFill>
            <a:srgbClr val="0D1117"/>
          </a:solidFill>
          <a:ln w="9525">
            <a:solidFill>
              <a:srgbClr val="2A3644"/>
            </a:solidFill>
            <a:prstDash val="solid"/>
          </a:ln>
        </p:spPr>
        <p:txBody>
          <a:bodyPr/>
          <a:p/>
        </p:txBody>
      </p:sp>
      <p:sp>
        <p:nvSpPr>
          <p:cNvPr id="7" name="Text 5"/>
          <p:cNvSpPr txBox="1"/>
          <p:nvPr/>
        </p:nvSpPr>
        <p:spPr>
          <a:xfrm>
            <a:off x="822960" y="224028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Next.js (App Router)</a:t>
            </a:r>
            <a:endParaRPr lang="en-US" sz="950" dirty="0"/>
          </a:p>
        </p:txBody>
      </p:sp>
      <p:sp>
        <p:nvSpPr>
          <p:cNvPr id="8" name="Shape 6"/>
          <p:cNvSpPr/>
          <p:nvPr/>
        </p:nvSpPr>
        <p:spPr>
          <a:xfrm>
            <a:off x="2380488" y="2240280"/>
            <a:ext cx="1420368" cy="475488"/>
          </a:xfrm>
          <a:prstGeom prst="roundRect">
            <a:avLst>
              <a:gd name="adj" fmla="val 15385"/>
            </a:avLst>
          </a:prstGeom>
          <a:solidFill>
            <a:srgbClr val="0D1117"/>
          </a:solidFill>
          <a:ln w="9525">
            <a:solidFill>
              <a:srgbClr val="2A3644"/>
            </a:solidFill>
            <a:prstDash val="solid"/>
          </a:ln>
        </p:spPr>
        <p:txBody>
          <a:bodyPr/>
          <a:p/>
        </p:txBody>
      </p:sp>
      <p:sp>
        <p:nvSpPr>
          <p:cNvPr id="9" name="Text 7"/>
          <p:cNvSpPr txBox="1"/>
          <p:nvPr/>
        </p:nvSpPr>
        <p:spPr>
          <a:xfrm>
            <a:off x="2380488" y="224028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shadcn/ui</a:t>
            </a:r>
            <a:endParaRPr lang="en-US" sz="950" dirty="0"/>
          </a:p>
        </p:txBody>
      </p:sp>
      <p:sp>
        <p:nvSpPr>
          <p:cNvPr id="10" name="Shape 8"/>
          <p:cNvSpPr/>
          <p:nvPr/>
        </p:nvSpPr>
        <p:spPr>
          <a:xfrm>
            <a:off x="822960" y="2862072"/>
            <a:ext cx="1420368" cy="475488"/>
          </a:xfrm>
          <a:prstGeom prst="roundRect">
            <a:avLst>
              <a:gd name="adj" fmla="val 15385"/>
            </a:avLst>
          </a:prstGeom>
          <a:solidFill>
            <a:srgbClr val="0D1117"/>
          </a:solidFill>
          <a:ln w="9525">
            <a:solidFill>
              <a:srgbClr val="2A3644"/>
            </a:solidFill>
            <a:prstDash val="solid"/>
          </a:ln>
        </p:spPr>
        <p:txBody>
          <a:bodyPr/>
          <a:p/>
        </p:txBody>
      </p:sp>
      <p:sp>
        <p:nvSpPr>
          <p:cNvPr id="11" name="Text 9"/>
          <p:cNvSpPr txBox="1"/>
          <p:nvPr/>
        </p:nvSpPr>
        <p:spPr>
          <a:xfrm>
            <a:off x="822960" y="286207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Tailwind</a:t>
            </a:r>
            <a:endParaRPr lang="en-US" sz="950" dirty="0"/>
          </a:p>
        </p:txBody>
      </p:sp>
      <p:sp>
        <p:nvSpPr>
          <p:cNvPr id="12" name="Shape 10"/>
          <p:cNvSpPr/>
          <p:nvPr/>
        </p:nvSpPr>
        <p:spPr>
          <a:xfrm>
            <a:off x="2380488" y="2862072"/>
            <a:ext cx="1420368" cy="475488"/>
          </a:xfrm>
          <a:prstGeom prst="roundRect">
            <a:avLst>
              <a:gd name="adj" fmla="val 15385"/>
            </a:avLst>
          </a:prstGeom>
          <a:solidFill>
            <a:srgbClr val="0D1117"/>
          </a:solidFill>
          <a:ln w="9525">
            <a:solidFill>
              <a:srgbClr val="2A3644"/>
            </a:solidFill>
            <a:prstDash val="solid"/>
          </a:ln>
        </p:spPr>
        <p:txBody>
          <a:bodyPr/>
          <a:p/>
        </p:txBody>
      </p:sp>
      <p:sp>
        <p:nvSpPr>
          <p:cNvPr id="13" name="Text 11"/>
          <p:cNvSpPr txBox="1"/>
          <p:nvPr/>
        </p:nvSpPr>
        <p:spPr>
          <a:xfrm>
            <a:off x="2380488" y="286207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Vercel</a:t>
            </a:r>
            <a:endParaRPr lang="en-US" sz="950" dirty="0"/>
          </a:p>
        </p:txBody>
      </p:sp>
      <p:sp>
        <p:nvSpPr>
          <p:cNvPr id="14" name="Shape 12"/>
          <p:cNvSpPr/>
          <p:nvPr/>
        </p:nvSpPr>
        <p:spPr>
          <a:xfrm>
            <a:off x="4331208" y="160020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5" name="Text 13"/>
          <p:cNvSpPr txBox="1"/>
          <p:nvPr/>
        </p:nvSpPr>
        <p:spPr>
          <a:xfrm>
            <a:off x="4605528" y="1828800"/>
            <a:ext cx="2977896"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BACKEND</a:t>
            </a:r>
            <a:endParaRPr lang="en-US" sz="1050" dirty="0"/>
          </a:p>
        </p:txBody>
      </p:sp>
      <p:sp>
        <p:nvSpPr>
          <p:cNvPr id="16" name="Shape 14"/>
          <p:cNvSpPr/>
          <p:nvPr/>
        </p:nvSpPr>
        <p:spPr>
          <a:xfrm>
            <a:off x="4605528" y="2240280"/>
            <a:ext cx="1420368" cy="475488"/>
          </a:xfrm>
          <a:prstGeom prst="roundRect">
            <a:avLst>
              <a:gd name="adj" fmla="val 15385"/>
            </a:avLst>
          </a:prstGeom>
          <a:solidFill>
            <a:srgbClr val="0D1117"/>
          </a:solidFill>
          <a:ln w="9525">
            <a:solidFill>
              <a:srgbClr val="2A3644"/>
            </a:solidFill>
            <a:prstDash val="solid"/>
          </a:ln>
        </p:spPr>
        <p:txBody>
          <a:bodyPr/>
          <a:p/>
        </p:txBody>
      </p:sp>
      <p:sp>
        <p:nvSpPr>
          <p:cNvPr id="17" name="Text 15"/>
          <p:cNvSpPr txBox="1"/>
          <p:nvPr/>
        </p:nvSpPr>
        <p:spPr>
          <a:xfrm>
            <a:off x="4605528" y="224028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FastAPI</a:t>
            </a:r>
            <a:endParaRPr lang="en-US" sz="950" dirty="0"/>
          </a:p>
        </p:txBody>
      </p:sp>
      <p:sp>
        <p:nvSpPr>
          <p:cNvPr id="18" name="Shape 16"/>
          <p:cNvSpPr/>
          <p:nvPr/>
        </p:nvSpPr>
        <p:spPr>
          <a:xfrm>
            <a:off x="6163056" y="2240280"/>
            <a:ext cx="1420368" cy="475488"/>
          </a:xfrm>
          <a:prstGeom prst="roundRect">
            <a:avLst>
              <a:gd name="adj" fmla="val 15385"/>
            </a:avLst>
          </a:prstGeom>
          <a:solidFill>
            <a:srgbClr val="0D1117"/>
          </a:solidFill>
          <a:ln w="9525">
            <a:solidFill>
              <a:srgbClr val="2A3644"/>
            </a:solidFill>
            <a:prstDash val="solid"/>
          </a:ln>
        </p:spPr>
        <p:txBody>
          <a:bodyPr/>
          <a:p/>
        </p:txBody>
      </p:sp>
      <p:sp>
        <p:nvSpPr>
          <p:cNvPr id="19" name="Text 17"/>
          <p:cNvSpPr txBox="1"/>
          <p:nvPr/>
        </p:nvSpPr>
        <p:spPr>
          <a:xfrm>
            <a:off x="6163056" y="224028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SQLAlchemy + Alembic</a:t>
            </a:r>
            <a:endParaRPr lang="en-US" sz="950" dirty="0"/>
          </a:p>
        </p:txBody>
      </p:sp>
      <p:sp>
        <p:nvSpPr>
          <p:cNvPr id="20" name="Shape 18"/>
          <p:cNvSpPr/>
          <p:nvPr/>
        </p:nvSpPr>
        <p:spPr>
          <a:xfrm>
            <a:off x="4605528" y="2862072"/>
            <a:ext cx="1420368" cy="475488"/>
          </a:xfrm>
          <a:prstGeom prst="roundRect">
            <a:avLst>
              <a:gd name="adj" fmla="val 15385"/>
            </a:avLst>
          </a:prstGeom>
          <a:solidFill>
            <a:srgbClr val="0D1117"/>
          </a:solidFill>
          <a:ln w="9525">
            <a:solidFill>
              <a:srgbClr val="2A3644"/>
            </a:solidFill>
            <a:prstDash val="solid"/>
          </a:ln>
        </p:spPr>
        <p:txBody>
          <a:bodyPr/>
          <a:p/>
        </p:txBody>
      </p:sp>
      <p:sp>
        <p:nvSpPr>
          <p:cNvPr id="21" name="Text 19"/>
          <p:cNvSpPr txBox="1"/>
          <p:nvPr/>
        </p:nvSpPr>
        <p:spPr>
          <a:xfrm>
            <a:off x="4605528" y="286207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APScheduler</a:t>
            </a:r>
            <a:endParaRPr lang="en-US" sz="950" dirty="0"/>
          </a:p>
        </p:txBody>
      </p:sp>
      <p:sp>
        <p:nvSpPr>
          <p:cNvPr id="22" name="Shape 20"/>
          <p:cNvSpPr/>
          <p:nvPr/>
        </p:nvSpPr>
        <p:spPr>
          <a:xfrm>
            <a:off x="6163056" y="2862072"/>
            <a:ext cx="1420368" cy="475488"/>
          </a:xfrm>
          <a:prstGeom prst="roundRect">
            <a:avLst>
              <a:gd name="adj" fmla="val 15385"/>
            </a:avLst>
          </a:prstGeom>
          <a:solidFill>
            <a:srgbClr val="0D1117"/>
          </a:solidFill>
          <a:ln w="9525">
            <a:solidFill>
              <a:srgbClr val="2A3644"/>
            </a:solidFill>
            <a:prstDash val="solid"/>
          </a:ln>
        </p:spPr>
        <p:txBody>
          <a:bodyPr/>
          <a:p/>
        </p:txBody>
      </p:sp>
      <p:sp>
        <p:nvSpPr>
          <p:cNvPr id="23" name="Text 21"/>
          <p:cNvSpPr txBox="1"/>
          <p:nvPr/>
        </p:nvSpPr>
        <p:spPr>
          <a:xfrm>
            <a:off x="6163056" y="286207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Render / Railway</a:t>
            </a:r>
            <a:endParaRPr lang="en-US" sz="950" dirty="0"/>
          </a:p>
        </p:txBody>
      </p:sp>
      <p:sp>
        <p:nvSpPr>
          <p:cNvPr id="24" name="Shape 22"/>
          <p:cNvSpPr/>
          <p:nvPr/>
        </p:nvSpPr>
        <p:spPr>
          <a:xfrm>
            <a:off x="8113776" y="160020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25" name="Text 23"/>
          <p:cNvSpPr txBox="1"/>
          <p:nvPr/>
        </p:nvSpPr>
        <p:spPr>
          <a:xfrm>
            <a:off x="8388096" y="1828800"/>
            <a:ext cx="2977896" cy="274320"/>
          </a:xfrm>
          <a:prstGeom prst="rect">
            <a:avLst/>
          </a:prstGeom>
          <a:noFill/>
          <a:ln/>
        </p:spPr>
        <p:txBody>
          <a:bodyPr wrap="square" lIns="0" tIns="0" rIns="0" bIns="0" rtlCol="0" anchor="ctr"/>
          <a:lstStyle/>
          <a:p>
            <a:pPr indent="0" marL="0">
              <a:buNone/>
            </a:pPr>
            <a:r>
              <a:rPr lang="en-US" sz="1050" b="1" spc="150" kern="0" dirty="0">
                <a:solidFill>
                  <a:srgbClr val="F5A623"/>
                </a:solidFill>
                <a:latin typeface="Courier New" pitchFamily="34" charset="0"/>
                <a:ea typeface="Courier New" pitchFamily="34" charset="-122"/>
                <a:cs typeface="Courier New" pitchFamily="34" charset="-120"/>
              </a:rPr>
              <a:t>ORCHESTRATION</a:t>
            </a:r>
            <a:endParaRPr lang="en-US" sz="1050" dirty="0"/>
          </a:p>
        </p:txBody>
      </p:sp>
      <p:sp>
        <p:nvSpPr>
          <p:cNvPr id="26" name="Shape 24"/>
          <p:cNvSpPr/>
          <p:nvPr/>
        </p:nvSpPr>
        <p:spPr>
          <a:xfrm>
            <a:off x="8388096" y="2240280"/>
            <a:ext cx="1420368" cy="475488"/>
          </a:xfrm>
          <a:prstGeom prst="roundRect">
            <a:avLst>
              <a:gd name="adj" fmla="val 15385"/>
            </a:avLst>
          </a:prstGeom>
          <a:solidFill>
            <a:srgbClr val="0D1117"/>
          </a:solidFill>
          <a:ln w="9525">
            <a:solidFill>
              <a:srgbClr val="2A3644"/>
            </a:solidFill>
            <a:prstDash val="solid"/>
          </a:ln>
        </p:spPr>
        <p:txBody>
          <a:bodyPr/>
          <a:p/>
        </p:txBody>
      </p:sp>
      <p:sp>
        <p:nvSpPr>
          <p:cNvPr id="27" name="Text 25"/>
          <p:cNvSpPr txBox="1"/>
          <p:nvPr/>
        </p:nvSpPr>
        <p:spPr>
          <a:xfrm>
            <a:off x="8388096" y="224028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LangGraph</a:t>
            </a:r>
            <a:endParaRPr lang="en-US" sz="950" dirty="0"/>
          </a:p>
        </p:txBody>
      </p:sp>
      <p:sp>
        <p:nvSpPr>
          <p:cNvPr id="28" name="Shape 26"/>
          <p:cNvSpPr/>
          <p:nvPr/>
        </p:nvSpPr>
        <p:spPr>
          <a:xfrm>
            <a:off x="9945624" y="2240280"/>
            <a:ext cx="1420368" cy="475488"/>
          </a:xfrm>
          <a:prstGeom prst="roundRect">
            <a:avLst>
              <a:gd name="adj" fmla="val 15385"/>
            </a:avLst>
          </a:prstGeom>
          <a:solidFill>
            <a:srgbClr val="0D1117"/>
          </a:solidFill>
          <a:ln w="9525">
            <a:solidFill>
              <a:srgbClr val="2A3644"/>
            </a:solidFill>
            <a:prstDash val="solid"/>
          </a:ln>
        </p:spPr>
        <p:txBody>
          <a:bodyPr/>
          <a:p/>
        </p:txBody>
      </p:sp>
      <p:sp>
        <p:nvSpPr>
          <p:cNvPr id="29" name="Text 27"/>
          <p:cNvSpPr txBox="1"/>
          <p:nvPr/>
        </p:nvSpPr>
        <p:spPr>
          <a:xfrm>
            <a:off x="9945624" y="224028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LangChain</a:t>
            </a:r>
            <a:endParaRPr lang="en-US" sz="950" dirty="0"/>
          </a:p>
        </p:txBody>
      </p:sp>
      <p:sp>
        <p:nvSpPr>
          <p:cNvPr id="30" name="Shape 28"/>
          <p:cNvSpPr/>
          <p:nvPr/>
        </p:nvSpPr>
        <p:spPr>
          <a:xfrm>
            <a:off x="8388096" y="2862072"/>
            <a:ext cx="1420368" cy="475488"/>
          </a:xfrm>
          <a:prstGeom prst="roundRect">
            <a:avLst>
              <a:gd name="adj" fmla="val 15385"/>
            </a:avLst>
          </a:prstGeom>
          <a:solidFill>
            <a:srgbClr val="0D1117"/>
          </a:solidFill>
          <a:ln w="9525">
            <a:solidFill>
              <a:srgbClr val="2A3644"/>
            </a:solidFill>
            <a:prstDash val="solid"/>
          </a:ln>
        </p:spPr>
        <p:txBody>
          <a:bodyPr/>
          <a:p/>
        </p:txBody>
      </p:sp>
      <p:sp>
        <p:nvSpPr>
          <p:cNvPr id="31" name="Text 29"/>
          <p:cNvSpPr txBox="1"/>
          <p:nvPr/>
        </p:nvSpPr>
        <p:spPr>
          <a:xfrm>
            <a:off x="8388096" y="286207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Pydantic</a:t>
            </a:r>
            <a:endParaRPr lang="en-US" sz="950" dirty="0"/>
          </a:p>
        </p:txBody>
      </p:sp>
      <p:sp>
        <p:nvSpPr>
          <p:cNvPr id="32" name="Shape 30"/>
          <p:cNvSpPr/>
          <p:nvPr/>
        </p:nvSpPr>
        <p:spPr>
          <a:xfrm>
            <a:off x="9945624" y="2862072"/>
            <a:ext cx="1420368" cy="475488"/>
          </a:xfrm>
          <a:prstGeom prst="roundRect">
            <a:avLst>
              <a:gd name="adj" fmla="val 15385"/>
            </a:avLst>
          </a:prstGeom>
          <a:solidFill>
            <a:srgbClr val="0D1117"/>
          </a:solidFill>
          <a:ln w="9525">
            <a:solidFill>
              <a:srgbClr val="2A3644"/>
            </a:solidFill>
            <a:prstDash val="solid"/>
          </a:ln>
        </p:spPr>
        <p:txBody>
          <a:bodyPr/>
          <a:p/>
        </p:txBody>
      </p:sp>
      <p:sp>
        <p:nvSpPr>
          <p:cNvPr id="33" name="Text 31"/>
          <p:cNvSpPr txBox="1"/>
          <p:nvPr/>
        </p:nvSpPr>
        <p:spPr>
          <a:xfrm>
            <a:off x="9945624" y="286207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asyncio</a:t>
            </a:r>
            <a:endParaRPr lang="en-US" sz="950" dirty="0"/>
          </a:p>
        </p:txBody>
      </p:sp>
      <p:sp>
        <p:nvSpPr>
          <p:cNvPr id="34" name="Shape 32"/>
          <p:cNvSpPr/>
          <p:nvPr/>
        </p:nvSpPr>
        <p:spPr>
          <a:xfrm>
            <a:off x="548640" y="393192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35" name="Text 33"/>
          <p:cNvSpPr txBox="1"/>
          <p:nvPr/>
        </p:nvSpPr>
        <p:spPr>
          <a:xfrm>
            <a:off x="822960" y="4160520"/>
            <a:ext cx="2977896"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RETRIEVAL</a:t>
            </a:r>
            <a:endParaRPr lang="en-US" sz="1050" dirty="0"/>
          </a:p>
        </p:txBody>
      </p:sp>
      <p:sp>
        <p:nvSpPr>
          <p:cNvPr id="36" name="Shape 34"/>
          <p:cNvSpPr/>
          <p:nvPr/>
        </p:nvSpPr>
        <p:spPr>
          <a:xfrm>
            <a:off x="822960" y="4572000"/>
            <a:ext cx="1420368" cy="475488"/>
          </a:xfrm>
          <a:prstGeom prst="roundRect">
            <a:avLst>
              <a:gd name="adj" fmla="val 15385"/>
            </a:avLst>
          </a:prstGeom>
          <a:solidFill>
            <a:srgbClr val="0D1117"/>
          </a:solidFill>
          <a:ln w="9525">
            <a:solidFill>
              <a:srgbClr val="2A3644"/>
            </a:solidFill>
            <a:prstDash val="solid"/>
          </a:ln>
        </p:spPr>
        <p:txBody>
          <a:bodyPr/>
          <a:p/>
        </p:txBody>
      </p:sp>
      <p:sp>
        <p:nvSpPr>
          <p:cNvPr id="37" name="Text 35"/>
          <p:cNvSpPr txBox="1"/>
          <p:nvPr/>
        </p:nvSpPr>
        <p:spPr>
          <a:xfrm>
            <a:off x="822960" y="457200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BM25 (rank_bm25)</a:t>
            </a:r>
            <a:endParaRPr lang="en-US" sz="950" dirty="0"/>
          </a:p>
        </p:txBody>
      </p:sp>
      <p:sp>
        <p:nvSpPr>
          <p:cNvPr id="38" name="Shape 36"/>
          <p:cNvSpPr/>
          <p:nvPr/>
        </p:nvSpPr>
        <p:spPr>
          <a:xfrm>
            <a:off x="2380488" y="4572000"/>
            <a:ext cx="1420368" cy="475488"/>
          </a:xfrm>
          <a:prstGeom prst="roundRect">
            <a:avLst>
              <a:gd name="adj" fmla="val 15385"/>
            </a:avLst>
          </a:prstGeom>
          <a:solidFill>
            <a:srgbClr val="0D1117"/>
          </a:solidFill>
          <a:ln w="9525">
            <a:solidFill>
              <a:srgbClr val="2A3644"/>
            </a:solidFill>
            <a:prstDash val="solid"/>
          </a:ln>
        </p:spPr>
        <p:txBody>
          <a:bodyPr/>
          <a:p/>
        </p:txBody>
      </p:sp>
      <p:sp>
        <p:nvSpPr>
          <p:cNvPr id="39" name="Text 37"/>
          <p:cNvSpPr txBox="1"/>
          <p:nvPr/>
        </p:nvSpPr>
        <p:spPr>
          <a:xfrm>
            <a:off x="2380488" y="457200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FAISS → Pinecone</a:t>
            </a:r>
            <a:endParaRPr lang="en-US" sz="950" dirty="0"/>
          </a:p>
        </p:txBody>
      </p:sp>
      <p:sp>
        <p:nvSpPr>
          <p:cNvPr id="40" name="Shape 38"/>
          <p:cNvSpPr/>
          <p:nvPr/>
        </p:nvSpPr>
        <p:spPr>
          <a:xfrm>
            <a:off x="822960" y="5193792"/>
            <a:ext cx="1420368" cy="475488"/>
          </a:xfrm>
          <a:prstGeom prst="roundRect">
            <a:avLst>
              <a:gd name="adj" fmla="val 15385"/>
            </a:avLst>
          </a:prstGeom>
          <a:solidFill>
            <a:srgbClr val="0D1117"/>
          </a:solidFill>
          <a:ln w="9525">
            <a:solidFill>
              <a:srgbClr val="2A3644"/>
            </a:solidFill>
            <a:prstDash val="solid"/>
          </a:ln>
        </p:spPr>
        <p:txBody>
          <a:bodyPr/>
          <a:p/>
        </p:txBody>
      </p:sp>
      <p:sp>
        <p:nvSpPr>
          <p:cNvPr id="41" name="Text 39"/>
          <p:cNvSpPr txBox="1"/>
          <p:nvPr/>
        </p:nvSpPr>
        <p:spPr>
          <a:xfrm>
            <a:off x="822960" y="519379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sentence-transformers</a:t>
            </a:r>
            <a:endParaRPr lang="en-US" sz="950" dirty="0"/>
          </a:p>
        </p:txBody>
      </p:sp>
      <p:sp>
        <p:nvSpPr>
          <p:cNvPr id="42" name="Shape 40"/>
          <p:cNvSpPr/>
          <p:nvPr/>
        </p:nvSpPr>
        <p:spPr>
          <a:xfrm>
            <a:off x="2380488" y="5193792"/>
            <a:ext cx="1420368" cy="475488"/>
          </a:xfrm>
          <a:prstGeom prst="roundRect">
            <a:avLst>
              <a:gd name="adj" fmla="val 15385"/>
            </a:avLst>
          </a:prstGeom>
          <a:solidFill>
            <a:srgbClr val="0D1117"/>
          </a:solidFill>
          <a:ln w="9525">
            <a:solidFill>
              <a:srgbClr val="2A3644"/>
            </a:solidFill>
            <a:prstDash val="solid"/>
          </a:ln>
        </p:spPr>
        <p:txBody>
          <a:bodyPr/>
          <a:p/>
        </p:txBody>
      </p:sp>
      <p:sp>
        <p:nvSpPr>
          <p:cNvPr id="43" name="Text 41"/>
          <p:cNvSpPr txBox="1"/>
          <p:nvPr/>
        </p:nvSpPr>
        <p:spPr>
          <a:xfrm>
            <a:off x="2380488" y="519379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RRF fusion</a:t>
            </a:r>
            <a:endParaRPr lang="en-US" sz="950" dirty="0"/>
          </a:p>
        </p:txBody>
      </p:sp>
      <p:sp>
        <p:nvSpPr>
          <p:cNvPr id="44" name="Shape 42"/>
          <p:cNvSpPr/>
          <p:nvPr/>
        </p:nvSpPr>
        <p:spPr>
          <a:xfrm>
            <a:off x="4331208" y="393192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45" name="Text 43"/>
          <p:cNvSpPr txBox="1"/>
          <p:nvPr/>
        </p:nvSpPr>
        <p:spPr>
          <a:xfrm>
            <a:off x="4605528" y="4160520"/>
            <a:ext cx="2977896" cy="274320"/>
          </a:xfrm>
          <a:prstGeom prst="rect">
            <a:avLst/>
          </a:prstGeom>
          <a:noFill/>
          <a:ln/>
        </p:spPr>
        <p:txBody>
          <a:bodyPr wrap="square" lIns="0" tIns="0" rIns="0" bIns="0" rtlCol="0" anchor="ctr"/>
          <a:lstStyle/>
          <a:p>
            <a:pPr indent="0" marL="0">
              <a:buNone/>
            </a:pPr>
            <a:r>
              <a:rPr lang="en-US" sz="1050" b="1" spc="150" kern="0" dirty="0">
                <a:solidFill>
                  <a:srgbClr val="F5A623"/>
                </a:solidFill>
                <a:latin typeface="Courier New" pitchFamily="34" charset="0"/>
                <a:ea typeface="Courier New" pitchFamily="34" charset="-122"/>
                <a:cs typeface="Courier New" pitchFamily="34" charset="-120"/>
              </a:rPr>
              <a:t>TOOLS &amp; MODELS</a:t>
            </a:r>
            <a:endParaRPr lang="en-US" sz="1050" dirty="0"/>
          </a:p>
        </p:txBody>
      </p:sp>
      <p:sp>
        <p:nvSpPr>
          <p:cNvPr id="46" name="Shape 44"/>
          <p:cNvSpPr/>
          <p:nvPr/>
        </p:nvSpPr>
        <p:spPr>
          <a:xfrm>
            <a:off x="4605528" y="4572000"/>
            <a:ext cx="1420368" cy="475488"/>
          </a:xfrm>
          <a:prstGeom prst="roundRect">
            <a:avLst>
              <a:gd name="adj" fmla="val 15385"/>
            </a:avLst>
          </a:prstGeom>
          <a:solidFill>
            <a:srgbClr val="0D1117"/>
          </a:solidFill>
          <a:ln w="9525">
            <a:solidFill>
              <a:srgbClr val="2A3644"/>
            </a:solidFill>
            <a:prstDash val="solid"/>
          </a:ln>
        </p:spPr>
        <p:txBody>
          <a:bodyPr/>
          <a:p/>
        </p:txBody>
      </p:sp>
      <p:sp>
        <p:nvSpPr>
          <p:cNvPr id="47" name="Text 45"/>
          <p:cNvSpPr txBox="1"/>
          <p:nvPr/>
        </p:nvSpPr>
        <p:spPr>
          <a:xfrm>
            <a:off x="4605528" y="457200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MCP (2 servers)</a:t>
            </a:r>
            <a:endParaRPr lang="en-US" sz="950" dirty="0"/>
          </a:p>
        </p:txBody>
      </p:sp>
      <p:sp>
        <p:nvSpPr>
          <p:cNvPr id="48" name="Shape 46"/>
          <p:cNvSpPr/>
          <p:nvPr/>
        </p:nvSpPr>
        <p:spPr>
          <a:xfrm>
            <a:off x="6163056" y="4572000"/>
            <a:ext cx="1420368" cy="475488"/>
          </a:xfrm>
          <a:prstGeom prst="roundRect">
            <a:avLst>
              <a:gd name="adj" fmla="val 15385"/>
            </a:avLst>
          </a:prstGeom>
          <a:solidFill>
            <a:srgbClr val="0D1117"/>
          </a:solidFill>
          <a:ln w="9525">
            <a:solidFill>
              <a:srgbClr val="2A3644"/>
            </a:solidFill>
            <a:prstDash val="solid"/>
          </a:ln>
        </p:spPr>
        <p:txBody>
          <a:bodyPr/>
          <a:p/>
        </p:txBody>
      </p:sp>
      <p:sp>
        <p:nvSpPr>
          <p:cNvPr id="49" name="Text 47"/>
          <p:cNvSpPr txBox="1"/>
          <p:nvPr/>
        </p:nvSpPr>
        <p:spPr>
          <a:xfrm>
            <a:off x="6163056" y="457200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OpenAI / Anthropic</a:t>
            </a:r>
            <a:endParaRPr lang="en-US" sz="950" dirty="0"/>
          </a:p>
        </p:txBody>
      </p:sp>
      <p:sp>
        <p:nvSpPr>
          <p:cNvPr id="50" name="Shape 48"/>
          <p:cNvSpPr/>
          <p:nvPr/>
        </p:nvSpPr>
        <p:spPr>
          <a:xfrm>
            <a:off x="4605528" y="5193792"/>
            <a:ext cx="1420368" cy="475488"/>
          </a:xfrm>
          <a:prstGeom prst="roundRect">
            <a:avLst>
              <a:gd name="adj" fmla="val 15385"/>
            </a:avLst>
          </a:prstGeom>
          <a:solidFill>
            <a:srgbClr val="0D1117"/>
          </a:solidFill>
          <a:ln w="9525">
            <a:solidFill>
              <a:srgbClr val="2A3644"/>
            </a:solidFill>
            <a:prstDash val="solid"/>
          </a:ln>
        </p:spPr>
        <p:txBody>
          <a:bodyPr/>
          <a:p/>
        </p:txBody>
      </p:sp>
      <p:sp>
        <p:nvSpPr>
          <p:cNvPr id="51" name="Text 49"/>
          <p:cNvSpPr txBox="1"/>
          <p:nvPr/>
        </p:nvSpPr>
        <p:spPr>
          <a:xfrm>
            <a:off x="4605528" y="519379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Ollama (local)</a:t>
            </a:r>
            <a:endParaRPr lang="en-US" sz="950" dirty="0"/>
          </a:p>
        </p:txBody>
      </p:sp>
      <p:sp>
        <p:nvSpPr>
          <p:cNvPr id="52" name="Shape 50"/>
          <p:cNvSpPr/>
          <p:nvPr/>
        </p:nvSpPr>
        <p:spPr>
          <a:xfrm>
            <a:off x="6163056" y="5193792"/>
            <a:ext cx="1420368" cy="475488"/>
          </a:xfrm>
          <a:prstGeom prst="roundRect">
            <a:avLst>
              <a:gd name="adj" fmla="val 15385"/>
            </a:avLst>
          </a:prstGeom>
          <a:solidFill>
            <a:srgbClr val="0D1117"/>
          </a:solidFill>
          <a:ln w="9525">
            <a:solidFill>
              <a:srgbClr val="2A3644"/>
            </a:solidFill>
            <a:prstDash val="solid"/>
          </a:ln>
        </p:spPr>
        <p:txBody>
          <a:bodyPr/>
          <a:p/>
        </p:txBody>
      </p:sp>
      <p:sp>
        <p:nvSpPr>
          <p:cNvPr id="53" name="Text 51"/>
          <p:cNvSpPr txBox="1"/>
          <p:nvPr/>
        </p:nvSpPr>
        <p:spPr>
          <a:xfrm>
            <a:off x="6163056" y="519379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Provider fallback chain</a:t>
            </a:r>
            <a:endParaRPr lang="en-US" sz="950" dirty="0"/>
          </a:p>
        </p:txBody>
      </p:sp>
      <p:sp>
        <p:nvSpPr>
          <p:cNvPr id="54" name="Shape 52"/>
          <p:cNvSpPr/>
          <p:nvPr/>
        </p:nvSpPr>
        <p:spPr>
          <a:xfrm>
            <a:off x="8113776" y="3931920"/>
            <a:ext cx="3526536" cy="2103120"/>
          </a:xfrm>
          <a:prstGeom prst="roundRect">
            <a:avLst>
              <a:gd name="adj" fmla="val 3913"/>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55" name="Text 53"/>
          <p:cNvSpPr txBox="1"/>
          <p:nvPr/>
        </p:nvSpPr>
        <p:spPr>
          <a:xfrm>
            <a:off x="8388096" y="4160520"/>
            <a:ext cx="2977896"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OPS &amp; QUALITY</a:t>
            </a:r>
            <a:endParaRPr lang="en-US" sz="1050" dirty="0"/>
          </a:p>
        </p:txBody>
      </p:sp>
      <p:sp>
        <p:nvSpPr>
          <p:cNvPr id="56" name="Shape 54"/>
          <p:cNvSpPr/>
          <p:nvPr/>
        </p:nvSpPr>
        <p:spPr>
          <a:xfrm>
            <a:off x="8388096" y="4572000"/>
            <a:ext cx="1420368" cy="475488"/>
          </a:xfrm>
          <a:prstGeom prst="roundRect">
            <a:avLst>
              <a:gd name="adj" fmla="val 15385"/>
            </a:avLst>
          </a:prstGeom>
          <a:solidFill>
            <a:srgbClr val="0D1117"/>
          </a:solidFill>
          <a:ln w="9525">
            <a:solidFill>
              <a:srgbClr val="2A3644"/>
            </a:solidFill>
            <a:prstDash val="solid"/>
          </a:ln>
        </p:spPr>
        <p:txBody>
          <a:bodyPr/>
          <a:p/>
        </p:txBody>
      </p:sp>
      <p:sp>
        <p:nvSpPr>
          <p:cNvPr id="57" name="Text 55"/>
          <p:cNvSpPr txBox="1"/>
          <p:nvPr/>
        </p:nvSpPr>
        <p:spPr>
          <a:xfrm>
            <a:off x="8388096" y="457200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LangFuse</a:t>
            </a:r>
            <a:endParaRPr lang="en-US" sz="950" dirty="0"/>
          </a:p>
        </p:txBody>
      </p:sp>
      <p:sp>
        <p:nvSpPr>
          <p:cNvPr id="58" name="Shape 56"/>
          <p:cNvSpPr/>
          <p:nvPr/>
        </p:nvSpPr>
        <p:spPr>
          <a:xfrm>
            <a:off x="9945624" y="4572000"/>
            <a:ext cx="1420368" cy="475488"/>
          </a:xfrm>
          <a:prstGeom prst="roundRect">
            <a:avLst>
              <a:gd name="adj" fmla="val 15385"/>
            </a:avLst>
          </a:prstGeom>
          <a:solidFill>
            <a:srgbClr val="0D1117"/>
          </a:solidFill>
          <a:ln w="9525">
            <a:solidFill>
              <a:srgbClr val="2A3644"/>
            </a:solidFill>
            <a:prstDash val="solid"/>
          </a:ln>
        </p:spPr>
        <p:txBody>
          <a:bodyPr/>
          <a:p/>
        </p:txBody>
      </p:sp>
      <p:sp>
        <p:nvSpPr>
          <p:cNvPr id="59" name="Text 57"/>
          <p:cNvSpPr txBox="1"/>
          <p:nvPr/>
        </p:nvSpPr>
        <p:spPr>
          <a:xfrm>
            <a:off x="9945624" y="4572000"/>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RAGAS</a:t>
            </a:r>
            <a:endParaRPr lang="en-US" sz="950" dirty="0"/>
          </a:p>
        </p:txBody>
      </p:sp>
      <p:sp>
        <p:nvSpPr>
          <p:cNvPr id="60" name="Shape 58"/>
          <p:cNvSpPr/>
          <p:nvPr/>
        </p:nvSpPr>
        <p:spPr>
          <a:xfrm>
            <a:off x="8388096" y="5193792"/>
            <a:ext cx="1420368" cy="475488"/>
          </a:xfrm>
          <a:prstGeom prst="roundRect">
            <a:avLst>
              <a:gd name="adj" fmla="val 15385"/>
            </a:avLst>
          </a:prstGeom>
          <a:solidFill>
            <a:srgbClr val="0D1117"/>
          </a:solidFill>
          <a:ln w="9525">
            <a:solidFill>
              <a:srgbClr val="2A3644"/>
            </a:solidFill>
            <a:prstDash val="solid"/>
          </a:ln>
        </p:spPr>
        <p:txBody>
          <a:bodyPr/>
          <a:p/>
        </p:txBody>
      </p:sp>
      <p:sp>
        <p:nvSpPr>
          <p:cNvPr id="61" name="Text 59"/>
          <p:cNvSpPr txBox="1"/>
          <p:nvPr/>
        </p:nvSpPr>
        <p:spPr>
          <a:xfrm>
            <a:off x="8388096" y="519379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pytest + chaos suite</a:t>
            </a:r>
            <a:endParaRPr lang="en-US" sz="950" dirty="0"/>
          </a:p>
        </p:txBody>
      </p:sp>
      <p:sp>
        <p:nvSpPr>
          <p:cNvPr id="62" name="Shape 60"/>
          <p:cNvSpPr/>
          <p:nvPr/>
        </p:nvSpPr>
        <p:spPr>
          <a:xfrm>
            <a:off x="9945624" y="5193792"/>
            <a:ext cx="1420368" cy="475488"/>
          </a:xfrm>
          <a:prstGeom prst="roundRect">
            <a:avLst>
              <a:gd name="adj" fmla="val 15385"/>
            </a:avLst>
          </a:prstGeom>
          <a:solidFill>
            <a:srgbClr val="0D1117"/>
          </a:solidFill>
          <a:ln w="9525">
            <a:solidFill>
              <a:srgbClr val="2A3644"/>
            </a:solidFill>
            <a:prstDash val="solid"/>
          </a:ln>
        </p:spPr>
        <p:txBody>
          <a:bodyPr/>
          <a:p/>
        </p:txBody>
      </p:sp>
      <p:sp>
        <p:nvSpPr>
          <p:cNvPr id="63" name="Text 61"/>
          <p:cNvSpPr txBox="1"/>
          <p:nvPr/>
        </p:nvSpPr>
        <p:spPr>
          <a:xfrm>
            <a:off x="9945624" y="5193792"/>
            <a:ext cx="1420368" cy="475488"/>
          </a:xfrm>
          <a:prstGeom prst="rect">
            <a:avLst/>
          </a:prstGeom>
          <a:noFill/>
          <a:ln/>
        </p:spPr>
        <p:txBody>
          <a:bodyPr wrap="square" lIns="381" tIns="381" rIns="381" bIns="381" rtlCol="0" anchor="ctr"/>
          <a:lstStyle/>
          <a:p>
            <a:pPr algn="ctr" indent="0" marL="0">
              <a:buNone/>
            </a:pPr>
            <a:r>
              <a:rPr lang="en-US" sz="950" dirty="0">
                <a:solidFill>
                  <a:srgbClr val="EEF2F6"/>
                </a:solidFill>
                <a:latin typeface="Courier New" pitchFamily="34" charset="0"/>
                <a:ea typeface="Courier New" pitchFamily="34" charset="-122"/>
                <a:cs typeface="Courier New" pitchFamily="34" charset="-120"/>
              </a:rPr>
              <a:t>Docker Compose · GitHub Actions</a:t>
            </a:r>
            <a:endParaRPr lang="en-US" sz="950" dirty="0"/>
          </a:p>
        </p:txBody>
      </p:sp>
      <p:sp>
        <p:nvSpPr>
          <p:cNvPr id="64" name="Text 62"/>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65" name="Text 63"/>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BUILD PLAN</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How I am building it: four phases, each shipped before the next</a:t>
            </a:r>
            <a:endParaRPr lang="en-US" sz="3000" dirty="0"/>
          </a:p>
        </p:txBody>
      </p:sp>
      <p:sp>
        <p:nvSpPr>
          <p:cNvPr id="4" name="Shape 2"/>
          <p:cNvSpPr/>
          <p:nvPr/>
        </p:nvSpPr>
        <p:spPr>
          <a:xfrm>
            <a:off x="1866519" y="2409444"/>
            <a:ext cx="8455914" cy="27432"/>
          </a:xfrm>
          <a:prstGeom prst="rect">
            <a:avLst/>
          </a:prstGeom>
          <a:solidFill>
            <a:srgbClr val="2A3644"/>
          </a:solidFill>
          <a:ln/>
        </p:spPr>
        <p:txBody>
          <a:bodyPr/>
          <a:p/>
        </p:txBody>
      </p:sp>
      <p:sp>
        <p:nvSpPr>
          <p:cNvPr id="5" name="Shape 3"/>
          <p:cNvSpPr/>
          <p:nvPr/>
        </p:nvSpPr>
        <p:spPr>
          <a:xfrm>
            <a:off x="1455039" y="2011680"/>
            <a:ext cx="822960" cy="822960"/>
          </a:xfrm>
          <a:prstGeom prst="ellipse">
            <a:avLst/>
          </a:prstGeom>
          <a:solidFill>
            <a:srgbClr val="F5A623"/>
          </a:solidFill>
          <a:ln/>
        </p:spPr>
        <p:txBody>
          <a:bodyPr/>
          <a:p/>
        </p:txBody>
      </p:sp>
      <p:sp>
        <p:nvSpPr>
          <p:cNvPr id="6" name="Text 4"/>
          <p:cNvSpPr txBox="1"/>
          <p:nvPr/>
        </p:nvSpPr>
        <p:spPr>
          <a:xfrm>
            <a:off x="1455039" y="2011680"/>
            <a:ext cx="822960" cy="822960"/>
          </a:xfrm>
          <a:prstGeom prst="rect">
            <a:avLst/>
          </a:prstGeom>
          <a:noFill/>
          <a:ln/>
        </p:spPr>
        <p:txBody>
          <a:bodyPr wrap="square" lIns="0" tIns="0" rIns="0" bIns="0" rtlCol="0" anchor="ctr"/>
          <a:lstStyle/>
          <a:p>
            <a:pPr algn="ctr" indent="0" marL="0">
              <a:buNone/>
            </a:pPr>
            <a:r>
              <a:rPr lang="en-US" sz="2600" b="1" dirty="0">
                <a:solidFill>
                  <a:srgbClr val="0D1117"/>
                </a:solidFill>
                <a:latin typeface="Calibri" pitchFamily="34" charset="0"/>
                <a:ea typeface="Calibri" pitchFamily="34" charset="-122"/>
                <a:cs typeface="Calibri" pitchFamily="34" charset="-120"/>
              </a:rPr>
              <a:t>A</a:t>
            </a:r>
            <a:endParaRPr lang="en-US" sz="2600" dirty="0"/>
          </a:p>
        </p:txBody>
      </p:sp>
      <p:sp>
        <p:nvSpPr>
          <p:cNvPr id="7" name="Shape 5"/>
          <p:cNvSpPr/>
          <p:nvPr/>
        </p:nvSpPr>
        <p:spPr>
          <a:xfrm>
            <a:off x="548640" y="3063240"/>
            <a:ext cx="2635758" cy="1920240"/>
          </a:xfrm>
          <a:prstGeom prst="roundRect">
            <a:avLst>
              <a:gd name="adj" fmla="val 4286"/>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8" name="Text 6"/>
          <p:cNvSpPr txBox="1"/>
          <p:nvPr/>
        </p:nvSpPr>
        <p:spPr>
          <a:xfrm>
            <a:off x="777240" y="3246120"/>
            <a:ext cx="2178558" cy="365760"/>
          </a:xfrm>
          <a:prstGeom prst="rect">
            <a:avLst/>
          </a:prstGeom>
          <a:noFill/>
          <a:ln/>
        </p:spPr>
        <p:txBody>
          <a:bodyPr wrap="square" lIns="0" tIns="0" rIns="0" bIns="0" rtlCol="0" anchor="ctr"/>
          <a:lstStyle/>
          <a:p>
            <a:pPr indent="0" marL="0">
              <a:buNone/>
            </a:pPr>
            <a:r>
              <a:rPr lang="en-US" sz="1350" b="1" dirty="0">
                <a:solidFill>
                  <a:srgbClr val="EEF2F6"/>
                </a:solidFill>
                <a:latin typeface="Calibri" pitchFamily="34" charset="0"/>
                <a:ea typeface="Calibri" pitchFamily="34" charset="-122"/>
                <a:cs typeface="Calibri" pitchFamily="34" charset="-120"/>
              </a:rPr>
              <a:t>Phase A · MVP</a:t>
            </a:r>
            <a:endParaRPr lang="en-US" sz="1350" dirty="0"/>
          </a:p>
        </p:txBody>
      </p:sp>
      <p:sp>
        <p:nvSpPr>
          <p:cNvPr id="9" name="Text 7"/>
          <p:cNvSpPr txBox="1"/>
          <p:nvPr/>
        </p:nvSpPr>
        <p:spPr>
          <a:xfrm>
            <a:off x="777240" y="3657600"/>
            <a:ext cx="2178558" cy="1234440"/>
          </a:xfrm>
          <a:prstGeom prst="rect">
            <a:avLst/>
          </a:prstGeom>
          <a:noFill/>
          <a:ln/>
        </p:spPr>
        <p:txBody>
          <a:bodyPr wrap="square" lIns="0" tIns="0" rIns="0" bIns="0" rtlCol="0" anchor="ctr"/>
          <a:lstStyle/>
          <a:p>
            <a:pPr indent="0" marL="0">
              <a:lnSpc>
                <a:spcPct val="120000"/>
              </a:lnSpc>
              <a:buNone/>
            </a:pPr>
            <a:r>
              <a:rPr lang="en-US" sz="1050" dirty="0">
                <a:solidFill>
                  <a:srgbClr val="8A97A6"/>
                </a:solidFill>
                <a:latin typeface="Calibri" pitchFamily="34" charset="0"/>
                <a:ea typeface="Calibri" pitchFamily="34" charset="-122"/>
                <a:cs typeface="Calibri" pitchFamily="34" charset="-120"/>
              </a:rPr>
              <a:t>Repo + CI green, single LLM + basic RAG over synthetic docs, bare FastAPI + Next.js page, public URL.</a:t>
            </a:r>
            <a:endParaRPr lang="en-US" sz="1050" dirty="0"/>
          </a:p>
        </p:txBody>
      </p:sp>
      <p:sp>
        <p:nvSpPr>
          <p:cNvPr id="10" name="Shape 8"/>
          <p:cNvSpPr/>
          <p:nvPr/>
        </p:nvSpPr>
        <p:spPr>
          <a:xfrm>
            <a:off x="4273677" y="2011680"/>
            <a:ext cx="822960" cy="822960"/>
          </a:xfrm>
          <a:prstGeom prst="ellipse">
            <a:avLst/>
          </a:prstGeom>
          <a:solidFill>
            <a:srgbClr val="4FD1C5"/>
          </a:solidFill>
          <a:ln/>
        </p:spPr>
        <p:txBody>
          <a:bodyPr/>
          <a:p/>
        </p:txBody>
      </p:sp>
      <p:sp>
        <p:nvSpPr>
          <p:cNvPr id="11" name="Text 9"/>
          <p:cNvSpPr txBox="1"/>
          <p:nvPr/>
        </p:nvSpPr>
        <p:spPr>
          <a:xfrm>
            <a:off x="4273677" y="2011680"/>
            <a:ext cx="822960" cy="822960"/>
          </a:xfrm>
          <a:prstGeom prst="rect">
            <a:avLst/>
          </a:prstGeom>
          <a:noFill/>
          <a:ln/>
        </p:spPr>
        <p:txBody>
          <a:bodyPr wrap="square" lIns="0" tIns="0" rIns="0" bIns="0" rtlCol="0" anchor="ctr"/>
          <a:lstStyle/>
          <a:p>
            <a:pPr algn="ctr" indent="0" marL="0">
              <a:buNone/>
            </a:pPr>
            <a:r>
              <a:rPr lang="en-US" sz="2600" b="1" dirty="0">
                <a:solidFill>
                  <a:srgbClr val="0D1117"/>
                </a:solidFill>
                <a:latin typeface="Calibri" pitchFamily="34" charset="0"/>
                <a:ea typeface="Calibri" pitchFamily="34" charset="-122"/>
                <a:cs typeface="Calibri" pitchFamily="34" charset="-120"/>
              </a:rPr>
              <a:t>B</a:t>
            </a:r>
            <a:endParaRPr lang="en-US" sz="2600" dirty="0"/>
          </a:p>
        </p:txBody>
      </p:sp>
      <p:sp>
        <p:nvSpPr>
          <p:cNvPr id="12" name="Shape 10"/>
          <p:cNvSpPr/>
          <p:nvPr/>
        </p:nvSpPr>
        <p:spPr>
          <a:xfrm>
            <a:off x="3367278" y="3063240"/>
            <a:ext cx="2635758" cy="1920240"/>
          </a:xfrm>
          <a:prstGeom prst="roundRect">
            <a:avLst>
              <a:gd name="adj" fmla="val 4286"/>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3" name="Text 11"/>
          <p:cNvSpPr txBox="1"/>
          <p:nvPr/>
        </p:nvSpPr>
        <p:spPr>
          <a:xfrm>
            <a:off x="3595878" y="3246120"/>
            <a:ext cx="2178558" cy="365760"/>
          </a:xfrm>
          <a:prstGeom prst="rect">
            <a:avLst/>
          </a:prstGeom>
          <a:noFill/>
          <a:ln/>
        </p:spPr>
        <p:txBody>
          <a:bodyPr wrap="square" lIns="0" tIns="0" rIns="0" bIns="0" rtlCol="0" anchor="ctr"/>
          <a:lstStyle/>
          <a:p>
            <a:pPr indent="0" marL="0">
              <a:buNone/>
            </a:pPr>
            <a:r>
              <a:rPr lang="en-US" sz="1350" b="1" dirty="0">
                <a:solidFill>
                  <a:srgbClr val="EEF2F6"/>
                </a:solidFill>
                <a:latin typeface="Calibri" pitchFamily="34" charset="0"/>
                <a:ea typeface="Calibri" pitchFamily="34" charset="-122"/>
                <a:cs typeface="Calibri" pitchFamily="34" charset="-120"/>
              </a:rPr>
              <a:t>Phase B · Production RAG</a:t>
            </a:r>
            <a:endParaRPr lang="en-US" sz="1350" dirty="0"/>
          </a:p>
        </p:txBody>
      </p:sp>
      <p:sp>
        <p:nvSpPr>
          <p:cNvPr id="14" name="Text 12"/>
          <p:cNvSpPr txBox="1"/>
          <p:nvPr/>
        </p:nvSpPr>
        <p:spPr>
          <a:xfrm>
            <a:off x="3595878" y="3657600"/>
            <a:ext cx="2178558" cy="1234440"/>
          </a:xfrm>
          <a:prstGeom prst="rect">
            <a:avLst/>
          </a:prstGeom>
          <a:noFill/>
          <a:ln/>
        </p:spPr>
        <p:txBody>
          <a:bodyPr wrap="square" lIns="0" tIns="0" rIns="0" bIns="0" rtlCol="0" anchor="ctr"/>
          <a:lstStyle/>
          <a:p>
            <a:pPr indent="0" marL="0">
              <a:lnSpc>
                <a:spcPct val="120000"/>
              </a:lnSpc>
              <a:buNone/>
            </a:pPr>
            <a:r>
              <a:rPr lang="en-US" sz="1050" dirty="0">
                <a:solidFill>
                  <a:srgbClr val="8A97A6"/>
                </a:solidFill>
                <a:latin typeface="Calibri" pitchFamily="34" charset="0"/>
                <a:ea typeface="Calibri" pitchFamily="34" charset="-122"/>
                <a:cs typeface="Calibri" pitchFamily="34" charset="-120"/>
              </a:rPr>
              <a:t>Seeded generator, hybrid retrieval + RRF, session memory, Postgres + ledger, provider fallback, Docker Compose, RAGAS gate.</a:t>
            </a:r>
            <a:endParaRPr lang="en-US" sz="1050" dirty="0"/>
          </a:p>
        </p:txBody>
      </p:sp>
      <p:sp>
        <p:nvSpPr>
          <p:cNvPr id="15" name="Shape 13"/>
          <p:cNvSpPr/>
          <p:nvPr/>
        </p:nvSpPr>
        <p:spPr>
          <a:xfrm>
            <a:off x="7092315" y="2011680"/>
            <a:ext cx="822960" cy="822960"/>
          </a:xfrm>
          <a:prstGeom prst="ellipse">
            <a:avLst/>
          </a:prstGeom>
          <a:solidFill>
            <a:srgbClr val="F5A623"/>
          </a:solidFill>
          <a:ln/>
        </p:spPr>
        <p:txBody>
          <a:bodyPr/>
          <a:p/>
        </p:txBody>
      </p:sp>
      <p:sp>
        <p:nvSpPr>
          <p:cNvPr id="16" name="Text 14"/>
          <p:cNvSpPr txBox="1"/>
          <p:nvPr/>
        </p:nvSpPr>
        <p:spPr>
          <a:xfrm>
            <a:off x="7092315" y="2011680"/>
            <a:ext cx="822960" cy="822960"/>
          </a:xfrm>
          <a:prstGeom prst="rect">
            <a:avLst/>
          </a:prstGeom>
          <a:noFill/>
          <a:ln/>
        </p:spPr>
        <p:txBody>
          <a:bodyPr wrap="square" lIns="0" tIns="0" rIns="0" bIns="0" rtlCol="0" anchor="ctr"/>
          <a:lstStyle/>
          <a:p>
            <a:pPr algn="ctr" indent="0" marL="0">
              <a:buNone/>
            </a:pPr>
            <a:r>
              <a:rPr lang="en-US" sz="2600" b="1" dirty="0">
                <a:solidFill>
                  <a:srgbClr val="0D1117"/>
                </a:solidFill>
                <a:latin typeface="Calibri" pitchFamily="34" charset="0"/>
                <a:ea typeface="Calibri" pitchFamily="34" charset="-122"/>
                <a:cs typeface="Calibri" pitchFamily="34" charset="-120"/>
              </a:rPr>
              <a:t>C</a:t>
            </a:r>
            <a:endParaRPr lang="en-US" sz="2600" dirty="0"/>
          </a:p>
        </p:txBody>
      </p:sp>
      <p:sp>
        <p:nvSpPr>
          <p:cNvPr id="17" name="Shape 15"/>
          <p:cNvSpPr/>
          <p:nvPr/>
        </p:nvSpPr>
        <p:spPr>
          <a:xfrm>
            <a:off x="6185916" y="3063240"/>
            <a:ext cx="2635758" cy="1920240"/>
          </a:xfrm>
          <a:prstGeom prst="roundRect">
            <a:avLst>
              <a:gd name="adj" fmla="val 4286"/>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18" name="Text 16"/>
          <p:cNvSpPr txBox="1"/>
          <p:nvPr/>
        </p:nvSpPr>
        <p:spPr>
          <a:xfrm>
            <a:off x="6414516" y="3246120"/>
            <a:ext cx="2178558" cy="365760"/>
          </a:xfrm>
          <a:prstGeom prst="rect">
            <a:avLst/>
          </a:prstGeom>
          <a:noFill/>
          <a:ln/>
        </p:spPr>
        <p:txBody>
          <a:bodyPr wrap="square" lIns="0" tIns="0" rIns="0" bIns="0" rtlCol="0" anchor="ctr"/>
          <a:lstStyle/>
          <a:p>
            <a:pPr indent="0" marL="0">
              <a:buNone/>
            </a:pPr>
            <a:r>
              <a:rPr lang="en-US" sz="1350" b="1" dirty="0">
                <a:solidFill>
                  <a:srgbClr val="EEF2F6"/>
                </a:solidFill>
                <a:latin typeface="Calibri" pitchFamily="34" charset="0"/>
                <a:ea typeface="Calibri" pitchFamily="34" charset="-122"/>
                <a:cs typeface="Calibri" pitchFamily="34" charset="-120"/>
              </a:rPr>
              <a:t>Phase C · Multi-agent</a:t>
            </a:r>
            <a:endParaRPr lang="en-US" sz="1350" dirty="0"/>
          </a:p>
        </p:txBody>
      </p:sp>
      <p:sp>
        <p:nvSpPr>
          <p:cNvPr id="19" name="Text 17"/>
          <p:cNvSpPr txBox="1"/>
          <p:nvPr/>
        </p:nvSpPr>
        <p:spPr>
          <a:xfrm>
            <a:off x="6414516" y="3657600"/>
            <a:ext cx="2178558" cy="1234440"/>
          </a:xfrm>
          <a:prstGeom prst="rect">
            <a:avLst/>
          </a:prstGeom>
          <a:noFill/>
          <a:ln/>
        </p:spPr>
        <p:txBody>
          <a:bodyPr wrap="square" lIns="0" tIns="0" rIns="0" bIns="0" rtlCol="0" anchor="ctr"/>
          <a:lstStyle/>
          <a:p>
            <a:pPr indent="0" marL="0">
              <a:lnSpc>
                <a:spcPct val="120000"/>
              </a:lnSpc>
              <a:buNone/>
            </a:pPr>
            <a:r>
              <a:rPr lang="en-US" sz="1050" dirty="0">
                <a:solidFill>
                  <a:srgbClr val="8A97A6"/>
                </a:solidFill>
                <a:latin typeface="Calibri" pitchFamily="34" charset="0"/>
                <a:ea typeface="Calibri" pitchFamily="34" charset="-122"/>
                <a:cs typeface="Calibri" pitchFamily="34" charset="-120"/>
              </a:rPr>
              <a:t>Two MCP servers, LangGraph with four agents, domain adapter + stub, LangFuse, human-in-the-loop, injection test, live screens.</a:t>
            </a:r>
            <a:endParaRPr lang="en-US" sz="1050" dirty="0"/>
          </a:p>
        </p:txBody>
      </p:sp>
      <p:sp>
        <p:nvSpPr>
          <p:cNvPr id="20" name="Shape 18"/>
          <p:cNvSpPr/>
          <p:nvPr/>
        </p:nvSpPr>
        <p:spPr>
          <a:xfrm>
            <a:off x="9910953" y="2011680"/>
            <a:ext cx="822960" cy="822960"/>
          </a:xfrm>
          <a:prstGeom prst="ellipse">
            <a:avLst/>
          </a:prstGeom>
          <a:solidFill>
            <a:srgbClr val="4FD1C5"/>
          </a:solidFill>
          <a:ln/>
        </p:spPr>
        <p:txBody>
          <a:bodyPr/>
          <a:p/>
        </p:txBody>
      </p:sp>
      <p:sp>
        <p:nvSpPr>
          <p:cNvPr id="21" name="Text 19"/>
          <p:cNvSpPr txBox="1"/>
          <p:nvPr/>
        </p:nvSpPr>
        <p:spPr>
          <a:xfrm>
            <a:off x="9910953" y="2011680"/>
            <a:ext cx="822960" cy="822960"/>
          </a:xfrm>
          <a:prstGeom prst="rect">
            <a:avLst/>
          </a:prstGeom>
          <a:noFill/>
          <a:ln/>
        </p:spPr>
        <p:txBody>
          <a:bodyPr wrap="square" lIns="0" tIns="0" rIns="0" bIns="0" rtlCol="0" anchor="ctr"/>
          <a:lstStyle/>
          <a:p>
            <a:pPr algn="ctr" indent="0" marL="0">
              <a:buNone/>
            </a:pPr>
            <a:r>
              <a:rPr lang="en-US" sz="2600" b="1" dirty="0">
                <a:solidFill>
                  <a:srgbClr val="0D1117"/>
                </a:solidFill>
                <a:latin typeface="Calibri" pitchFamily="34" charset="0"/>
                <a:ea typeface="Calibri" pitchFamily="34" charset="-122"/>
                <a:cs typeface="Calibri" pitchFamily="34" charset="-120"/>
              </a:rPr>
              <a:t>D</a:t>
            </a:r>
            <a:endParaRPr lang="en-US" sz="2600" dirty="0"/>
          </a:p>
        </p:txBody>
      </p:sp>
      <p:sp>
        <p:nvSpPr>
          <p:cNvPr id="22" name="Shape 20"/>
          <p:cNvSpPr/>
          <p:nvPr/>
        </p:nvSpPr>
        <p:spPr>
          <a:xfrm>
            <a:off x="9004554" y="3063240"/>
            <a:ext cx="2635758" cy="1920240"/>
          </a:xfrm>
          <a:prstGeom prst="roundRect">
            <a:avLst>
              <a:gd name="adj" fmla="val 4286"/>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23" name="Text 21"/>
          <p:cNvSpPr txBox="1"/>
          <p:nvPr/>
        </p:nvSpPr>
        <p:spPr>
          <a:xfrm>
            <a:off x="9233154" y="3246120"/>
            <a:ext cx="2178558" cy="365760"/>
          </a:xfrm>
          <a:prstGeom prst="rect">
            <a:avLst/>
          </a:prstGeom>
          <a:noFill/>
          <a:ln/>
        </p:spPr>
        <p:txBody>
          <a:bodyPr wrap="square" lIns="0" tIns="0" rIns="0" bIns="0" rtlCol="0" anchor="ctr"/>
          <a:lstStyle/>
          <a:p>
            <a:pPr indent="0" marL="0">
              <a:buNone/>
            </a:pPr>
            <a:r>
              <a:rPr lang="en-US" sz="1350" b="1" dirty="0">
                <a:solidFill>
                  <a:srgbClr val="EEF2F6"/>
                </a:solidFill>
                <a:latin typeface="Calibri" pitchFamily="34" charset="0"/>
                <a:ea typeface="Calibri" pitchFamily="34" charset="-122"/>
                <a:cs typeface="Calibri" pitchFamily="34" charset="-120"/>
              </a:rPr>
              <a:t>Phase D · Polish &amp; deploy</a:t>
            </a:r>
            <a:endParaRPr lang="en-US" sz="1350" dirty="0"/>
          </a:p>
        </p:txBody>
      </p:sp>
      <p:sp>
        <p:nvSpPr>
          <p:cNvPr id="24" name="Text 22"/>
          <p:cNvSpPr txBox="1"/>
          <p:nvPr/>
        </p:nvSpPr>
        <p:spPr>
          <a:xfrm>
            <a:off x="9233154" y="3657600"/>
            <a:ext cx="2178558" cy="1234440"/>
          </a:xfrm>
          <a:prstGeom prst="rect">
            <a:avLst/>
          </a:prstGeom>
          <a:noFill/>
          <a:ln/>
        </p:spPr>
        <p:txBody>
          <a:bodyPr wrap="square" lIns="0" tIns="0" rIns="0" bIns="0" rtlCol="0" anchor="ctr"/>
          <a:lstStyle/>
          <a:p>
            <a:pPr indent="0" marL="0">
              <a:lnSpc>
                <a:spcPct val="120000"/>
              </a:lnSpc>
              <a:buNone/>
            </a:pPr>
            <a:r>
              <a:rPr lang="en-US" sz="1050" dirty="0">
                <a:solidFill>
                  <a:srgbClr val="8A97A6"/>
                </a:solidFill>
                <a:latin typeface="Calibri" pitchFamily="34" charset="0"/>
                <a:ea typeface="Calibri" pitchFamily="34" charset="-122"/>
                <a:cs typeface="Calibri" pitchFamily="34" charset="-120"/>
              </a:rPr>
              <a:t>Auth, scheduler, chaos suite, rate limiting, dashboard, raised eval thresholds, ADRs, demo GIF, blog draft, v1.0.0 release.</a:t>
            </a:r>
            <a:endParaRPr lang="en-US" sz="1050" dirty="0"/>
          </a:p>
        </p:txBody>
      </p:sp>
      <p:sp>
        <p:nvSpPr>
          <p:cNvPr id="25" name="Shape 23"/>
          <p:cNvSpPr/>
          <p:nvPr/>
        </p:nvSpPr>
        <p:spPr>
          <a:xfrm>
            <a:off x="548640" y="5166360"/>
            <a:ext cx="11091672" cy="1005840"/>
          </a:xfrm>
          <a:prstGeom prst="roundRect">
            <a:avLst>
              <a:gd name="adj" fmla="val 8182"/>
            </a:avLst>
          </a:prstGeom>
          <a:solidFill>
            <a:srgbClr val="212C39"/>
          </a:solidFill>
          <a:ln/>
        </p:spPr>
        <p:txBody>
          <a:bodyPr/>
          <a:p/>
        </p:txBody>
      </p:sp>
      <p:sp>
        <p:nvSpPr>
          <p:cNvPr id="26" name="Text 24"/>
          <p:cNvSpPr txBox="1"/>
          <p:nvPr/>
        </p:nvSpPr>
        <p:spPr>
          <a:xfrm>
            <a:off x="822960" y="5166360"/>
            <a:ext cx="10515600" cy="1005840"/>
          </a:xfrm>
          <a:prstGeom prst="rect">
            <a:avLst/>
          </a:prstGeom>
          <a:noFill/>
          <a:ln/>
        </p:spPr>
        <p:txBody>
          <a:bodyPr wrap="square" lIns="0" tIns="0" rIns="0" bIns="0" rtlCol="0" anchor="ctr"/>
          <a:lstStyle/>
          <a:p>
            <a:pPr indent="0" marL="0">
              <a:lnSpc>
                <a:spcPct val="120000"/>
              </a:lnSpc>
              <a:buNone/>
            </a:pPr>
            <a:r>
              <a:rPr lang="en-US" sz="1150" b="1" dirty="0">
                <a:solidFill>
                  <a:srgbClr val="4FD1C5"/>
                </a:solidFill>
                <a:latin typeface="Calibri" pitchFamily="34" charset="0"/>
                <a:ea typeface="Calibri" pitchFamily="34" charset="-122"/>
                <a:cs typeface="Calibri" pitchFamily="34" charset="-120"/>
              </a:rPr>
              <a:t>Rules I set for myself: </a:t>
            </a:r>
            <a:pPr indent="0" marL="0">
              <a:lnSpc>
                <a:spcPct val="120000"/>
              </a:lnSpc>
              <a:buNone/>
            </a:pPr>
            <a:r>
              <a:rPr lang="en-US" sz="1150" dirty="0">
                <a:solidFill>
                  <a:srgbClr val="EEF2F6"/>
                </a:solidFill>
                <a:latin typeface="Calibri" pitchFamily="34" charset="0"/>
                <a:ea typeface="Calibri" pitchFamily="34" charset="-122"/>
                <a:cs typeface="Calibri" pitchFamily="34" charset="-120"/>
              </a:rPr>
              <a:t>conventional commits; pre-commit with ruff, mypy, and gitleaks; GitHub Actions running lint, tests (80% coverage floor), the RAGAS gate, and the frontend build on every push; a tag at each phase boundary; and a Decision Council review before I write a line of code for each phase.</a:t>
            </a:r>
            <a:endParaRPr lang="en-US" sz="1150" dirty="0"/>
          </a:p>
        </p:txBody>
      </p:sp>
      <p:sp>
        <p:nvSpPr>
          <p:cNvPr id="27" name="Text 25"/>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28" name="Text 26"/>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4FD1C5"/>
                </a:solidFill>
                <a:latin typeface="Courier New" pitchFamily="34" charset="0"/>
                <a:ea typeface="Courier New" pitchFamily="34" charset="-122"/>
                <a:cs typeface="Courier New" pitchFamily="34" charset="-120"/>
              </a:rPr>
              <a:t>CHALLENGES &amp; LEARNINGS</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What I learned designing this</a:t>
            </a:r>
            <a:endParaRPr lang="en-US" sz="3000" dirty="0"/>
          </a:p>
        </p:txBody>
      </p:sp>
      <p:sp>
        <p:nvSpPr>
          <p:cNvPr id="4" name="Shape 2"/>
          <p:cNvSpPr/>
          <p:nvPr/>
        </p:nvSpPr>
        <p:spPr>
          <a:xfrm>
            <a:off x="548640" y="1554480"/>
            <a:ext cx="11091672" cy="822960"/>
          </a:xfrm>
          <a:prstGeom prst="roundRect">
            <a:avLst>
              <a:gd name="adj" fmla="val 10000"/>
            </a:avLst>
          </a:prstGeom>
          <a:solidFill>
            <a:srgbClr val="1B2530"/>
          </a:solidFill>
          <a:ln/>
        </p:spPr>
        <p:txBody>
          <a:bodyPr/>
          <a:p/>
        </p:txBody>
      </p:sp>
      <p:sp>
        <p:nvSpPr>
          <p:cNvPr id="5" name="Shape 3"/>
          <p:cNvSpPr/>
          <p:nvPr/>
        </p:nvSpPr>
        <p:spPr>
          <a:xfrm>
            <a:off x="777240" y="1737360"/>
            <a:ext cx="457200" cy="457200"/>
          </a:xfrm>
          <a:prstGeom prst="ellipse">
            <a:avLst/>
          </a:prstGeom>
          <a:solidFill>
            <a:srgbClr val="F5A623"/>
          </a:solidFill>
          <a:ln/>
        </p:spPr>
        <p:txBody>
          <a:bodyPr/>
          <a:p/>
        </p:txBody>
      </p:sp>
      <p:pic>
        <p:nvPicPr>
          <p:cNvPr id="6" name="Image 0" descr="/home/claude/assets/icons/gitbranch.png">    </p:cNvPr>
          <p:cNvPicPr>
            <a:picLocks noChangeAspect="1"/>
          </p:cNvPicPr>
          <p:nvPr/>
        </p:nvPicPr>
        <p:blipFill>
          <a:blip r:embed="rId1"/>
          <a:stretch>
            <a:fillRect/>
          </a:stretch>
        </p:blipFill>
        <p:spPr>
          <a:xfrm>
            <a:off x="841248" y="1801368"/>
            <a:ext cx="329184" cy="329184"/>
          </a:xfrm>
          <a:prstGeom prst="rect">
            <a:avLst/>
          </a:prstGeom>
        </p:spPr>
      </p:pic>
      <p:sp>
        <p:nvSpPr>
          <p:cNvPr id="7" name="Text 4"/>
          <p:cNvSpPr txBox="1"/>
          <p:nvPr/>
        </p:nvSpPr>
        <p:spPr>
          <a:xfrm>
            <a:off x="1463040" y="1554480"/>
            <a:ext cx="2651760" cy="822960"/>
          </a:xfrm>
          <a:prstGeom prst="rect">
            <a:avLst/>
          </a:prstGeom>
          <a:noFill/>
          <a:ln/>
        </p:spPr>
        <p:txBody>
          <a:bodyPr wrap="square" lIns="0" tIns="0" rIns="0" bIns="0" rtlCol="0" anchor="ctr"/>
          <a:lstStyle/>
          <a:p>
            <a:pPr indent="0" marL="0">
              <a:lnSpc>
                <a:spcPct val="105000"/>
              </a:lnSpc>
              <a:buNone/>
            </a:pPr>
            <a:r>
              <a:rPr lang="en-US" sz="1300" b="1" dirty="0">
                <a:solidFill>
                  <a:srgbClr val="EEF2F6"/>
                </a:solidFill>
                <a:latin typeface="Calibri" pitchFamily="34" charset="0"/>
                <a:ea typeface="Calibri" pitchFamily="34" charset="-122"/>
                <a:cs typeface="Calibri" pitchFamily="34" charset="-120"/>
              </a:rPr>
              <a:t>One agent vs many</a:t>
            </a:r>
            <a:endParaRPr lang="en-US" sz="1300" dirty="0"/>
          </a:p>
        </p:txBody>
      </p:sp>
      <p:sp>
        <p:nvSpPr>
          <p:cNvPr id="8" name="Shape 5"/>
          <p:cNvSpPr/>
          <p:nvPr/>
        </p:nvSpPr>
        <p:spPr>
          <a:xfrm>
            <a:off x="4238244" y="1719072"/>
            <a:ext cx="27432" cy="493776"/>
          </a:xfrm>
          <a:prstGeom prst="rect">
            <a:avLst/>
          </a:prstGeom>
          <a:solidFill>
            <a:srgbClr val="2A3644"/>
          </a:solidFill>
          <a:ln/>
        </p:spPr>
        <p:txBody>
          <a:bodyPr/>
          <a:p/>
        </p:txBody>
      </p:sp>
      <p:sp>
        <p:nvSpPr>
          <p:cNvPr id="9" name="Text 6"/>
          <p:cNvSpPr txBox="1"/>
          <p:nvPr/>
        </p:nvSpPr>
        <p:spPr>
          <a:xfrm>
            <a:off x="4480560" y="1554480"/>
            <a:ext cx="6949440" cy="822960"/>
          </a:xfrm>
          <a:prstGeom prst="rect">
            <a:avLst/>
          </a:prstGeom>
          <a:noFill/>
          <a:ln/>
        </p:spPr>
        <p:txBody>
          <a:bodyPr wrap="square" lIns="0" tIns="0" rIns="0" bIns="0" rtlCol="0" anchor="ctr"/>
          <a:lstStyle/>
          <a:p>
            <a:pPr indent="0" marL="0">
              <a:lnSpc>
                <a:spcPct val="118000"/>
              </a:lnSpc>
              <a:buNone/>
            </a:pPr>
            <a:r>
              <a:rPr lang="en-US" sz="1050" dirty="0">
                <a:solidFill>
                  <a:srgbClr val="8A97A6"/>
                </a:solidFill>
                <a:latin typeface="Calibri" pitchFamily="34" charset="0"/>
                <a:ea typeface="Calibri" pitchFamily="34" charset="-122"/>
                <a:cs typeface="Calibri" pitchFamily="34" charset="-120"/>
              </a:rPr>
              <a:t>My first sketch was one agent with every job. The prompt was enormous, and when it failed I could not tell which part had failed. Four narrow agents fixed both problems.</a:t>
            </a:r>
            <a:endParaRPr lang="en-US" sz="1050" dirty="0"/>
          </a:p>
        </p:txBody>
      </p:sp>
      <p:sp>
        <p:nvSpPr>
          <p:cNvPr id="10" name="Shape 7"/>
          <p:cNvSpPr/>
          <p:nvPr/>
        </p:nvSpPr>
        <p:spPr>
          <a:xfrm>
            <a:off x="548640" y="2487168"/>
            <a:ext cx="11091672" cy="822960"/>
          </a:xfrm>
          <a:prstGeom prst="roundRect">
            <a:avLst>
              <a:gd name="adj" fmla="val 10000"/>
            </a:avLst>
          </a:prstGeom>
          <a:solidFill>
            <a:srgbClr val="212C39"/>
          </a:solidFill>
          <a:ln/>
        </p:spPr>
        <p:txBody>
          <a:bodyPr/>
          <a:p/>
        </p:txBody>
      </p:sp>
      <p:sp>
        <p:nvSpPr>
          <p:cNvPr id="11" name="Shape 8"/>
          <p:cNvSpPr/>
          <p:nvPr/>
        </p:nvSpPr>
        <p:spPr>
          <a:xfrm>
            <a:off x="777240" y="2670048"/>
            <a:ext cx="457200" cy="457200"/>
          </a:xfrm>
          <a:prstGeom prst="ellipse">
            <a:avLst/>
          </a:prstGeom>
          <a:solidFill>
            <a:srgbClr val="4FD1C5"/>
          </a:solidFill>
          <a:ln/>
        </p:spPr>
        <p:txBody>
          <a:bodyPr/>
          <a:p/>
        </p:txBody>
      </p:sp>
      <p:pic>
        <p:nvPicPr>
          <p:cNvPr id="12" name="Image 1" descr="/home/claude/assets/icons/search.png">    </p:cNvPr>
          <p:cNvPicPr>
            <a:picLocks noChangeAspect="1"/>
          </p:cNvPicPr>
          <p:nvPr/>
        </p:nvPicPr>
        <p:blipFill>
          <a:blip r:embed="rId2"/>
          <a:stretch>
            <a:fillRect/>
          </a:stretch>
        </p:blipFill>
        <p:spPr>
          <a:xfrm>
            <a:off x="841248" y="2734056"/>
            <a:ext cx="329184" cy="329184"/>
          </a:xfrm>
          <a:prstGeom prst="rect">
            <a:avLst/>
          </a:prstGeom>
        </p:spPr>
      </p:pic>
      <p:sp>
        <p:nvSpPr>
          <p:cNvPr id="13" name="Text 9"/>
          <p:cNvSpPr txBox="1"/>
          <p:nvPr/>
        </p:nvSpPr>
        <p:spPr>
          <a:xfrm>
            <a:off x="1463040" y="2487168"/>
            <a:ext cx="2651760" cy="822960"/>
          </a:xfrm>
          <a:prstGeom prst="rect">
            <a:avLst/>
          </a:prstGeom>
          <a:noFill/>
          <a:ln/>
        </p:spPr>
        <p:txBody>
          <a:bodyPr wrap="square" lIns="0" tIns="0" rIns="0" bIns="0" rtlCol="0" anchor="ctr"/>
          <a:lstStyle/>
          <a:p>
            <a:pPr indent="0" marL="0">
              <a:lnSpc>
                <a:spcPct val="105000"/>
              </a:lnSpc>
              <a:buNone/>
            </a:pPr>
            <a:r>
              <a:rPr lang="en-US" sz="1300" b="1" dirty="0">
                <a:solidFill>
                  <a:srgbClr val="EEF2F6"/>
                </a:solidFill>
                <a:latin typeface="Calibri" pitchFamily="34" charset="0"/>
                <a:ea typeface="Calibri" pitchFamily="34" charset="-122"/>
                <a:cs typeface="Calibri" pitchFamily="34" charset="-120"/>
              </a:rPr>
              <a:t>Embeddings blur identifiers</a:t>
            </a:r>
            <a:endParaRPr lang="en-US" sz="1300" dirty="0"/>
          </a:p>
        </p:txBody>
      </p:sp>
      <p:sp>
        <p:nvSpPr>
          <p:cNvPr id="14" name="Shape 10"/>
          <p:cNvSpPr/>
          <p:nvPr/>
        </p:nvSpPr>
        <p:spPr>
          <a:xfrm>
            <a:off x="4238244" y="2651760"/>
            <a:ext cx="27432" cy="493776"/>
          </a:xfrm>
          <a:prstGeom prst="rect">
            <a:avLst/>
          </a:prstGeom>
          <a:solidFill>
            <a:srgbClr val="2A3644"/>
          </a:solidFill>
          <a:ln/>
        </p:spPr>
        <p:txBody>
          <a:bodyPr/>
          <a:p/>
        </p:txBody>
      </p:sp>
      <p:sp>
        <p:nvSpPr>
          <p:cNvPr id="15" name="Text 11"/>
          <p:cNvSpPr txBox="1"/>
          <p:nvPr/>
        </p:nvSpPr>
        <p:spPr>
          <a:xfrm>
            <a:off x="4480560" y="2487168"/>
            <a:ext cx="6949440" cy="822960"/>
          </a:xfrm>
          <a:prstGeom prst="rect">
            <a:avLst/>
          </a:prstGeom>
          <a:noFill/>
          <a:ln/>
        </p:spPr>
        <p:txBody>
          <a:bodyPr wrap="square" lIns="0" tIns="0" rIns="0" bIns="0" rtlCol="0" anchor="ctr"/>
          <a:lstStyle/>
          <a:p>
            <a:pPr indent="0" marL="0">
              <a:lnSpc>
                <a:spcPct val="118000"/>
              </a:lnSpc>
              <a:buNone/>
            </a:pPr>
            <a:r>
              <a:rPr lang="en-US" sz="1050" dirty="0">
                <a:solidFill>
                  <a:srgbClr val="8A97A6"/>
                </a:solidFill>
                <a:latin typeface="Calibri" pitchFamily="34" charset="0"/>
                <a:ea typeface="Calibri" pitchFamily="34" charset="-122"/>
                <a:cs typeface="Calibri" pitchFamily="34" charset="-120"/>
              </a:rPr>
              <a:t>Dense search kept confusing tables with similar names. Adding BM25 and fusing with RRF fixed the exact-match questions without losing the conceptual ones.</a:t>
            </a:r>
            <a:endParaRPr lang="en-US" sz="1050" dirty="0"/>
          </a:p>
        </p:txBody>
      </p:sp>
      <p:sp>
        <p:nvSpPr>
          <p:cNvPr id="16" name="Shape 12"/>
          <p:cNvSpPr/>
          <p:nvPr/>
        </p:nvSpPr>
        <p:spPr>
          <a:xfrm>
            <a:off x="548640" y="3419856"/>
            <a:ext cx="11091672" cy="822960"/>
          </a:xfrm>
          <a:prstGeom prst="roundRect">
            <a:avLst>
              <a:gd name="adj" fmla="val 10000"/>
            </a:avLst>
          </a:prstGeom>
          <a:solidFill>
            <a:srgbClr val="1B2530"/>
          </a:solidFill>
          <a:ln/>
        </p:spPr>
        <p:txBody>
          <a:bodyPr/>
          <a:p/>
        </p:txBody>
      </p:sp>
      <p:sp>
        <p:nvSpPr>
          <p:cNvPr id="17" name="Shape 13"/>
          <p:cNvSpPr/>
          <p:nvPr/>
        </p:nvSpPr>
        <p:spPr>
          <a:xfrm>
            <a:off x="777240" y="3602736"/>
            <a:ext cx="457200" cy="457200"/>
          </a:xfrm>
          <a:prstGeom prst="ellipse">
            <a:avLst/>
          </a:prstGeom>
          <a:solidFill>
            <a:srgbClr val="F5A623"/>
          </a:solidFill>
          <a:ln/>
        </p:spPr>
        <p:txBody>
          <a:bodyPr/>
          <a:p/>
        </p:txBody>
      </p:sp>
      <p:pic>
        <p:nvPicPr>
          <p:cNvPr id="18" name="Image 2" descr="/home/claude/assets/icons/shield.png">    </p:cNvPr>
          <p:cNvPicPr>
            <a:picLocks noChangeAspect="1"/>
          </p:cNvPicPr>
          <p:nvPr/>
        </p:nvPicPr>
        <p:blipFill>
          <a:blip r:embed="rId3"/>
          <a:stretch>
            <a:fillRect/>
          </a:stretch>
        </p:blipFill>
        <p:spPr>
          <a:xfrm>
            <a:off x="841248" y="3666744"/>
            <a:ext cx="329184" cy="329184"/>
          </a:xfrm>
          <a:prstGeom prst="rect">
            <a:avLst/>
          </a:prstGeom>
        </p:spPr>
      </p:pic>
      <p:sp>
        <p:nvSpPr>
          <p:cNvPr id="19" name="Text 14"/>
          <p:cNvSpPr txBox="1"/>
          <p:nvPr/>
        </p:nvSpPr>
        <p:spPr>
          <a:xfrm>
            <a:off x="1463040" y="3419856"/>
            <a:ext cx="2651760" cy="822960"/>
          </a:xfrm>
          <a:prstGeom prst="rect">
            <a:avLst/>
          </a:prstGeom>
          <a:noFill/>
          <a:ln/>
        </p:spPr>
        <p:txBody>
          <a:bodyPr wrap="square" lIns="0" tIns="0" rIns="0" bIns="0" rtlCol="0" anchor="ctr"/>
          <a:lstStyle/>
          <a:p>
            <a:pPr indent="0" marL="0">
              <a:lnSpc>
                <a:spcPct val="105000"/>
              </a:lnSpc>
              <a:buNone/>
            </a:pPr>
            <a:r>
              <a:rPr lang="en-US" sz="1300" b="1" dirty="0">
                <a:solidFill>
                  <a:srgbClr val="EEF2F6"/>
                </a:solidFill>
                <a:latin typeface="Calibri" pitchFamily="34" charset="0"/>
                <a:ea typeface="Calibri" pitchFamily="34" charset="-122"/>
                <a:cs typeface="Calibri" pitchFamily="34" charset="-120"/>
              </a:rPr>
              <a:t>Retrieved text is untrusted input</a:t>
            </a:r>
            <a:endParaRPr lang="en-US" sz="1300" dirty="0"/>
          </a:p>
        </p:txBody>
      </p:sp>
      <p:sp>
        <p:nvSpPr>
          <p:cNvPr id="20" name="Shape 15"/>
          <p:cNvSpPr/>
          <p:nvPr/>
        </p:nvSpPr>
        <p:spPr>
          <a:xfrm>
            <a:off x="4238244" y="3584448"/>
            <a:ext cx="27432" cy="493776"/>
          </a:xfrm>
          <a:prstGeom prst="rect">
            <a:avLst/>
          </a:prstGeom>
          <a:solidFill>
            <a:srgbClr val="2A3644"/>
          </a:solidFill>
          <a:ln/>
        </p:spPr>
        <p:txBody>
          <a:bodyPr/>
          <a:p/>
        </p:txBody>
      </p:sp>
      <p:sp>
        <p:nvSpPr>
          <p:cNvPr id="21" name="Text 16"/>
          <p:cNvSpPr txBox="1"/>
          <p:nvPr/>
        </p:nvSpPr>
        <p:spPr>
          <a:xfrm>
            <a:off x="4480560" y="3419856"/>
            <a:ext cx="6949440" cy="822960"/>
          </a:xfrm>
          <a:prstGeom prst="rect">
            <a:avLst/>
          </a:prstGeom>
          <a:noFill/>
          <a:ln/>
        </p:spPr>
        <p:txBody>
          <a:bodyPr wrap="square" lIns="0" tIns="0" rIns="0" bIns="0" rtlCol="0" anchor="ctr"/>
          <a:lstStyle/>
          <a:p>
            <a:pPr indent="0" marL="0">
              <a:lnSpc>
                <a:spcPct val="118000"/>
              </a:lnSpc>
              <a:buNone/>
            </a:pPr>
            <a:r>
              <a:rPr lang="en-US" sz="1050" dirty="0">
                <a:solidFill>
                  <a:srgbClr val="8A97A6"/>
                </a:solidFill>
                <a:latin typeface="Calibri" pitchFamily="34" charset="0"/>
                <a:ea typeface="Calibri" pitchFamily="34" charset="-122"/>
                <a:cs typeface="Calibri" pitchFamily="34" charset="-120"/>
              </a:rPr>
              <a:t>Runbooks go straight into prompts. Once I thought about it that way, delimiting them and testing against a planted instruction stopped being optional.</a:t>
            </a:r>
            <a:endParaRPr lang="en-US" sz="1050" dirty="0"/>
          </a:p>
        </p:txBody>
      </p:sp>
      <p:sp>
        <p:nvSpPr>
          <p:cNvPr id="22" name="Shape 17"/>
          <p:cNvSpPr/>
          <p:nvPr/>
        </p:nvSpPr>
        <p:spPr>
          <a:xfrm>
            <a:off x="548640" y="4352544"/>
            <a:ext cx="11091672" cy="822960"/>
          </a:xfrm>
          <a:prstGeom prst="roundRect">
            <a:avLst>
              <a:gd name="adj" fmla="val 10000"/>
            </a:avLst>
          </a:prstGeom>
          <a:solidFill>
            <a:srgbClr val="212C39"/>
          </a:solidFill>
          <a:ln/>
        </p:spPr>
        <p:txBody>
          <a:bodyPr/>
          <a:p/>
        </p:txBody>
      </p:sp>
      <p:sp>
        <p:nvSpPr>
          <p:cNvPr id="23" name="Shape 18"/>
          <p:cNvSpPr/>
          <p:nvPr/>
        </p:nvSpPr>
        <p:spPr>
          <a:xfrm>
            <a:off x="777240" y="4535424"/>
            <a:ext cx="457200" cy="457200"/>
          </a:xfrm>
          <a:prstGeom prst="ellipse">
            <a:avLst/>
          </a:prstGeom>
          <a:solidFill>
            <a:srgbClr val="4FD1C5"/>
          </a:solidFill>
          <a:ln/>
        </p:spPr>
        <p:txBody>
          <a:bodyPr/>
          <a:p/>
        </p:txBody>
      </p:sp>
      <p:pic>
        <p:nvPicPr>
          <p:cNvPr id="24" name="Image 3" descr="/home/claude/assets/icons/activity.png">    </p:cNvPr>
          <p:cNvPicPr>
            <a:picLocks noChangeAspect="1"/>
          </p:cNvPicPr>
          <p:nvPr/>
        </p:nvPicPr>
        <p:blipFill>
          <a:blip r:embed="rId4"/>
          <a:stretch>
            <a:fillRect/>
          </a:stretch>
        </p:blipFill>
        <p:spPr>
          <a:xfrm>
            <a:off x="841248" y="4599432"/>
            <a:ext cx="329184" cy="329184"/>
          </a:xfrm>
          <a:prstGeom prst="rect">
            <a:avLst/>
          </a:prstGeom>
        </p:spPr>
      </p:pic>
      <p:sp>
        <p:nvSpPr>
          <p:cNvPr id="25" name="Text 19"/>
          <p:cNvSpPr txBox="1"/>
          <p:nvPr/>
        </p:nvSpPr>
        <p:spPr>
          <a:xfrm>
            <a:off x="1463040" y="4352544"/>
            <a:ext cx="2651760" cy="822960"/>
          </a:xfrm>
          <a:prstGeom prst="rect">
            <a:avLst/>
          </a:prstGeom>
          <a:noFill/>
          <a:ln/>
        </p:spPr>
        <p:txBody>
          <a:bodyPr wrap="square" lIns="0" tIns="0" rIns="0" bIns="0" rtlCol="0" anchor="ctr"/>
          <a:lstStyle/>
          <a:p>
            <a:pPr indent="0" marL="0">
              <a:lnSpc>
                <a:spcPct val="105000"/>
              </a:lnSpc>
              <a:buNone/>
            </a:pPr>
            <a:r>
              <a:rPr lang="en-US" sz="1300" b="1" dirty="0">
                <a:solidFill>
                  <a:srgbClr val="EEF2F6"/>
                </a:solidFill>
                <a:latin typeface="Calibri" pitchFamily="34" charset="0"/>
                <a:ea typeface="Calibri" pitchFamily="34" charset="-122"/>
                <a:cs typeface="Calibri" pitchFamily="34" charset="-120"/>
              </a:rPr>
              <a:t>Observability is the trust layer</a:t>
            </a:r>
            <a:endParaRPr lang="en-US" sz="1300" dirty="0"/>
          </a:p>
        </p:txBody>
      </p:sp>
      <p:sp>
        <p:nvSpPr>
          <p:cNvPr id="26" name="Shape 20"/>
          <p:cNvSpPr/>
          <p:nvPr/>
        </p:nvSpPr>
        <p:spPr>
          <a:xfrm>
            <a:off x="4238244" y="4517136"/>
            <a:ext cx="27432" cy="493776"/>
          </a:xfrm>
          <a:prstGeom prst="rect">
            <a:avLst/>
          </a:prstGeom>
          <a:solidFill>
            <a:srgbClr val="2A3644"/>
          </a:solidFill>
          <a:ln/>
        </p:spPr>
        <p:txBody>
          <a:bodyPr/>
          <a:p/>
        </p:txBody>
      </p:sp>
      <p:sp>
        <p:nvSpPr>
          <p:cNvPr id="27" name="Text 21"/>
          <p:cNvSpPr txBox="1"/>
          <p:nvPr/>
        </p:nvSpPr>
        <p:spPr>
          <a:xfrm>
            <a:off x="4480560" y="4352544"/>
            <a:ext cx="6949440" cy="822960"/>
          </a:xfrm>
          <a:prstGeom prst="rect">
            <a:avLst/>
          </a:prstGeom>
          <a:noFill/>
          <a:ln/>
        </p:spPr>
        <p:txBody>
          <a:bodyPr wrap="square" lIns="0" tIns="0" rIns="0" bIns="0" rtlCol="0" anchor="ctr"/>
          <a:lstStyle/>
          <a:p>
            <a:pPr indent="0" marL="0">
              <a:lnSpc>
                <a:spcPct val="118000"/>
              </a:lnSpc>
              <a:buNone/>
            </a:pPr>
            <a:r>
              <a:rPr lang="en-US" sz="1050" dirty="0">
                <a:solidFill>
                  <a:srgbClr val="8A97A6"/>
                </a:solidFill>
                <a:latin typeface="Calibri" pitchFamily="34" charset="0"/>
                <a:ea typeface="Calibri" pitchFamily="34" charset="-122"/>
                <a:cs typeface="Calibri" pitchFamily="34" charset="-120"/>
              </a:rPr>
              <a:t>If I cannot answer "why did it say that" without re-running everything, I will not trust it in production. A trace link on every finding is what makes it auditable.</a:t>
            </a:r>
            <a:endParaRPr lang="en-US" sz="1050" dirty="0"/>
          </a:p>
        </p:txBody>
      </p:sp>
      <p:sp>
        <p:nvSpPr>
          <p:cNvPr id="28" name="Shape 22"/>
          <p:cNvSpPr/>
          <p:nvPr/>
        </p:nvSpPr>
        <p:spPr>
          <a:xfrm>
            <a:off x="548640" y="5285232"/>
            <a:ext cx="11091672" cy="822960"/>
          </a:xfrm>
          <a:prstGeom prst="roundRect">
            <a:avLst>
              <a:gd name="adj" fmla="val 10000"/>
            </a:avLst>
          </a:prstGeom>
          <a:solidFill>
            <a:srgbClr val="1B2530"/>
          </a:solidFill>
          <a:ln/>
        </p:spPr>
        <p:txBody>
          <a:bodyPr/>
          <a:p/>
        </p:txBody>
      </p:sp>
      <p:sp>
        <p:nvSpPr>
          <p:cNvPr id="29" name="Shape 23"/>
          <p:cNvSpPr/>
          <p:nvPr/>
        </p:nvSpPr>
        <p:spPr>
          <a:xfrm>
            <a:off x="777240" y="5468112"/>
            <a:ext cx="457200" cy="457200"/>
          </a:xfrm>
          <a:prstGeom prst="ellipse">
            <a:avLst/>
          </a:prstGeom>
          <a:solidFill>
            <a:srgbClr val="F5A623"/>
          </a:solidFill>
          <a:ln/>
        </p:spPr>
        <p:txBody>
          <a:bodyPr/>
          <a:p/>
        </p:txBody>
      </p:sp>
      <p:pic>
        <p:nvPicPr>
          <p:cNvPr id="30" name="Image 4" descr="/home/claude/assets/icons/repeat.png">    </p:cNvPr>
          <p:cNvPicPr>
            <a:picLocks noChangeAspect="1"/>
          </p:cNvPicPr>
          <p:nvPr/>
        </p:nvPicPr>
        <p:blipFill>
          <a:blip r:embed="rId5"/>
          <a:stretch>
            <a:fillRect/>
          </a:stretch>
        </p:blipFill>
        <p:spPr>
          <a:xfrm>
            <a:off x="841248" y="5532120"/>
            <a:ext cx="329184" cy="329184"/>
          </a:xfrm>
          <a:prstGeom prst="rect">
            <a:avLst/>
          </a:prstGeom>
        </p:spPr>
      </p:pic>
      <p:sp>
        <p:nvSpPr>
          <p:cNvPr id="31" name="Text 24"/>
          <p:cNvSpPr txBox="1"/>
          <p:nvPr/>
        </p:nvSpPr>
        <p:spPr>
          <a:xfrm>
            <a:off x="1463040" y="5285232"/>
            <a:ext cx="2651760" cy="822960"/>
          </a:xfrm>
          <a:prstGeom prst="rect">
            <a:avLst/>
          </a:prstGeom>
          <a:noFill/>
          <a:ln/>
        </p:spPr>
        <p:txBody>
          <a:bodyPr wrap="square" lIns="0" tIns="0" rIns="0" bIns="0" rtlCol="0" anchor="ctr"/>
          <a:lstStyle/>
          <a:p>
            <a:pPr indent="0" marL="0">
              <a:lnSpc>
                <a:spcPct val="105000"/>
              </a:lnSpc>
              <a:buNone/>
            </a:pPr>
            <a:r>
              <a:rPr lang="en-US" sz="1300" b="1" dirty="0">
                <a:solidFill>
                  <a:srgbClr val="EEF2F6"/>
                </a:solidFill>
                <a:latin typeface="Calibri" pitchFamily="34" charset="0"/>
                <a:ea typeface="Calibri" pitchFamily="34" charset="-122"/>
                <a:cs typeface="Calibri" pitchFamily="34" charset="-120"/>
              </a:rPr>
              <a:t>Reusability must be provable</a:t>
            </a:r>
            <a:endParaRPr lang="en-US" sz="1300" dirty="0"/>
          </a:p>
        </p:txBody>
      </p:sp>
      <p:sp>
        <p:nvSpPr>
          <p:cNvPr id="32" name="Shape 25"/>
          <p:cNvSpPr/>
          <p:nvPr/>
        </p:nvSpPr>
        <p:spPr>
          <a:xfrm>
            <a:off x="4238244" y="5449824"/>
            <a:ext cx="27432" cy="493776"/>
          </a:xfrm>
          <a:prstGeom prst="rect">
            <a:avLst/>
          </a:prstGeom>
          <a:solidFill>
            <a:srgbClr val="2A3644"/>
          </a:solidFill>
          <a:ln/>
        </p:spPr>
        <p:txBody>
          <a:bodyPr/>
          <a:p/>
        </p:txBody>
      </p:sp>
      <p:sp>
        <p:nvSpPr>
          <p:cNvPr id="33" name="Text 26"/>
          <p:cNvSpPr txBox="1"/>
          <p:nvPr/>
        </p:nvSpPr>
        <p:spPr>
          <a:xfrm>
            <a:off x="4480560" y="5285232"/>
            <a:ext cx="6949440" cy="822960"/>
          </a:xfrm>
          <a:prstGeom prst="rect">
            <a:avLst/>
          </a:prstGeom>
          <a:noFill/>
          <a:ln/>
        </p:spPr>
        <p:txBody>
          <a:bodyPr wrap="square" lIns="0" tIns="0" rIns="0" bIns="0" rtlCol="0" anchor="ctr"/>
          <a:lstStyle/>
          <a:p>
            <a:pPr indent="0" marL="0">
              <a:lnSpc>
                <a:spcPct val="118000"/>
              </a:lnSpc>
              <a:buNone/>
            </a:pPr>
            <a:r>
              <a:rPr lang="en-US" sz="1050" dirty="0">
                <a:solidFill>
                  <a:srgbClr val="8A97A6"/>
                </a:solidFill>
                <a:latin typeface="Calibri" pitchFamily="34" charset="0"/>
                <a:ea typeface="Calibri" pitchFamily="34" charset="-122"/>
                <a:cs typeface="Calibri" pitchFamily="34" charset="-120"/>
              </a:rPr>
              <a:t>Saying it is domain-agnostic is easy. Moving every business rule into a DomainAdapter and booting the graph on a stub adapter in CI is what makes it true.</a:t>
            </a:r>
            <a:endParaRPr lang="en-US" sz="1050" dirty="0"/>
          </a:p>
        </p:txBody>
      </p:sp>
      <p:sp>
        <p:nvSpPr>
          <p:cNvPr id="34" name="Text 27"/>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35" name="Text 28"/>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REUSABILITY &amp; FUTURE WORK</a:t>
            </a:r>
            <a:endParaRPr lang="en-US" sz="1200" dirty="0"/>
          </a:p>
        </p:txBody>
      </p:sp>
      <p:sp>
        <p:nvSpPr>
          <p:cNvPr id="3" name="Text 1"/>
          <p:cNvSpPr txBox="1"/>
          <p:nvPr/>
        </p:nvSpPr>
        <p:spPr>
          <a:xfrm>
            <a:off x="548640" y="694944"/>
            <a:ext cx="10972800" cy="731520"/>
          </a:xfrm>
          <a:prstGeom prst="rect">
            <a:avLst/>
          </a:prstGeom>
          <a:noFill/>
          <a:ln/>
        </p:spPr>
        <p:txBody>
          <a:bodyPr wrap="square" lIns="0" tIns="0" rIns="0" bIns="0" rtlCol="0" anchor="t"/>
          <a:lstStyle/>
          <a:p>
            <a:pPr indent="0" marL="0">
              <a:buNone/>
            </a:pPr>
            <a:r>
              <a:rPr lang="en-US" sz="3000" b="1" dirty="0">
                <a:solidFill>
                  <a:srgbClr val="EEF2F6"/>
                </a:solidFill>
                <a:latin typeface="Calibri" pitchFamily="34" charset="0"/>
                <a:ea typeface="Calibri" pitchFamily="34" charset="-122"/>
                <a:cs typeface="Calibri" pitchFamily="34" charset="-120"/>
              </a:rPr>
              <a:t>Where else I could point this</a:t>
            </a:r>
            <a:endParaRPr lang="en-US" sz="3000" dirty="0"/>
          </a:p>
        </p:txBody>
      </p:sp>
      <p:sp>
        <p:nvSpPr>
          <p:cNvPr id="4" name="Text 2"/>
          <p:cNvSpPr txBox="1"/>
          <p:nvPr/>
        </p:nvSpPr>
        <p:spPr>
          <a:xfrm>
            <a:off x="548640" y="1417320"/>
            <a:ext cx="10972800" cy="457200"/>
          </a:xfrm>
          <a:prstGeom prst="rect">
            <a:avLst/>
          </a:prstGeom>
          <a:noFill/>
          <a:ln/>
        </p:spPr>
        <p:txBody>
          <a:bodyPr wrap="square" lIns="0" tIns="0" rIns="0" bIns="0" rtlCol="0" anchor="ctr"/>
          <a:lstStyle/>
          <a:p>
            <a:pPr indent="0" marL="0">
              <a:buNone/>
            </a:pPr>
            <a:r>
              <a:rPr lang="en-US" sz="1300" dirty="0">
                <a:solidFill>
                  <a:srgbClr val="8A97A6"/>
                </a:solidFill>
                <a:latin typeface="Calibri" pitchFamily="34" charset="0"/>
                <a:ea typeface="Calibri" pitchFamily="34" charset="-122"/>
                <a:cs typeface="Calibri" pitchFamily="34" charset="-120"/>
              </a:rPr>
              <a:t>Swap the data generator and the two MCP servers. The retrieval layer, the agent graph, the tracing, and the UI shell stay exactly as they are.</a:t>
            </a:r>
            <a:endParaRPr lang="en-US" sz="1300" dirty="0"/>
          </a:p>
        </p:txBody>
      </p:sp>
      <p:sp>
        <p:nvSpPr>
          <p:cNvPr id="5" name="Shape 3"/>
          <p:cNvSpPr/>
          <p:nvPr/>
        </p:nvSpPr>
        <p:spPr>
          <a:xfrm>
            <a:off x="548640" y="2011680"/>
            <a:ext cx="3526536" cy="2011680"/>
          </a:xfrm>
          <a:prstGeom prst="roundRect">
            <a:avLst>
              <a:gd name="adj" fmla="val 4091"/>
            </a:avLst>
          </a:prstGeom>
          <a:solidFill>
            <a:srgbClr val="212C39"/>
          </a:solidFill>
          <a:ln/>
          <a:effectLst>
            <a:outerShdw sx="100000" sy="100000" kx="0" ky="0" algn="bl" rotWithShape="0" blurRad="101600" dist="25400" dir="5400000">
              <a:srgbClr val="000000">
                <a:alpha val="35000"/>
              </a:srgbClr>
            </a:outerShdw>
          </a:effectLst>
        </p:spPr>
        <p:txBody>
          <a:bodyPr/>
          <a:p/>
        </p:txBody>
      </p:sp>
      <p:sp>
        <p:nvSpPr>
          <p:cNvPr id="6" name="Shape 4"/>
          <p:cNvSpPr/>
          <p:nvPr/>
        </p:nvSpPr>
        <p:spPr>
          <a:xfrm>
            <a:off x="804672" y="2240280"/>
            <a:ext cx="548640" cy="548640"/>
          </a:xfrm>
          <a:prstGeom prst="ellipse">
            <a:avLst/>
          </a:prstGeom>
          <a:solidFill>
            <a:srgbClr val="F5A623"/>
          </a:solidFill>
          <a:ln/>
        </p:spPr>
        <p:txBody>
          <a:bodyPr/>
          <a:p/>
        </p:txBody>
      </p:sp>
      <p:pic>
        <p:nvPicPr>
          <p:cNvPr id="7" name="Image 0" descr="/home/claude/assets/icons/heart.png">    </p:cNvPr>
          <p:cNvPicPr>
            <a:picLocks noChangeAspect="1"/>
          </p:cNvPicPr>
          <p:nvPr/>
        </p:nvPicPr>
        <p:blipFill>
          <a:blip r:embed="rId1"/>
          <a:stretch>
            <a:fillRect/>
          </a:stretch>
        </p:blipFill>
        <p:spPr>
          <a:xfrm>
            <a:off x="881482" y="2317090"/>
            <a:ext cx="395021" cy="395021"/>
          </a:xfrm>
          <a:prstGeom prst="rect">
            <a:avLst/>
          </a:prstGeom>
        </p:spPr>
      </p:pic>
      <p:sp>
        <p:nvSpPr>
          <p:cNvPr id="8" name="Text 5"/>
          <p:cNvSpPr txBox="1"/>
          <p:nvPr/>
        </p:nvSpPr>
        <p:spPr>
          <a:xfrm>
            <a:off x="1508760" y="2240280"/>
            <a:ext cx="2337816" cy="228600"/>
          </a:xfrm>
          <a:prstGeom prst="rect">
            <a:avLst/>
          </a:prstGeom>
          <a:noFill/>
          <a:ln/>
        </p:spPr>
        <p:txBody>
          <a:bodyPr wrap="square" lIns="0" tIns="0" rIns="0" bIns="0" rtlCol="0" anchor="ctr"/>
          <a:lstStyle/>
          <a:p>
            <a:pPr indent="0" marL="0">
              <a:buNone/>
            </a:pPr>
            <a:r>
              <a:rPr lang="en-US" sz="950" spc="150" kern="0" dirty="0">
                <a:solidFill>
                  <a:srgbClr val="8A97A6"/>
                </a:solidFill>
                <a:latin typeface="Courier New" pitchFamily="34" charset="0"/>
                <a:ea typeface="Courier New" pitchFamily="34" charset="-122"/>
                <a:cs typeface="Courier New" pitchFamily="34" charset="-120"/>
              </a:rPr>
              <a:t>HEALTHCARE</a:t>
            </a:r>
            <a:endParaRPr lang="en-US" sz="950" dirty="0"/>
          </a:p>
        </p:txBody>
      </p:sp>
      <p:sp>
        <p:nvSpPr>
          <p:cNvPr id="9" name="Text 6"/>
          <p:cNvSpPr txBox="1"/>
          <p:nvPr/>
        </p:nvSpPr>
        <p:spPr>
          <a:xfrm>
            <a:off x="1508760" y="2487168"/>
            <a:ext cx="2337816" cy="365760"/>
          </a:xfrm>
          <a:prstGeom prst="rect">
            <a:avLst/>
          </a:prstGeom>
          <a:noFill/>
          <a:ln/>
        </p:spPr>
        <p:txBody>
          <a:bodyPr wrap="square" lIns="0" tIns="0" rIns="0" bIns="0" rtlCol="0" anchor="ctr"/>
          <a:lstStyle/>
          <a:p>
            <a:pPr indent="0" marL="0">
              <a:buNone/>
            </a:pPr>
            <a:r>
              <a:rPr lang="en-US" sz="1400" b="1" dirty="0">
                <a:solidFill>
                  <a:srgbClr val="EEF2F6"/>
                </a:solidFill>
                <a:latin typeface="Calibri" pitchFamily="34" charset="0"/>
                <a:ea typeface="Calibri" pitchFamily="34" charset="-122"/>
                <a:cs typeface="Calibri" pitchFamily="34" charset="-120"/>
              </a:rPr>
              <a:t>Claims Copilot</a:t>
            </a:r>
            <a:endParaRPr lang="en-US" sz="1400" dirty="0"/>
          </a:p>
        </p:txBody>
      </p:sp>
      <p:sp>
        <p:nvSpPr>
          <p:cNvPr id="10" name="Text 7"/>
          <p:cNvSpPr txBox="1"/>
          <p:nvPr/>
        </p:nvSpPr>
        <p:spPr>
          <a:xfrm>
            <a:off x="804672" y="3017520"/>
            <a:ext cx="3023616" cy="91440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Claims-vs-EOB matching; coding and billing drift.</a:t>
            </a:r>
            <a:endParaRPr lang="en-US" sz="1100" dirty="0"/>
          </a:p>
        </p:txBody>
      </p:sp>
      <p:sp>
        <p:nvSpPr>
          <p:cNvPr id="11" name="Shape 8"/>
          <p:cNvSpPr/>
          <p:nvPr/>
        </p:nvSpPr>
        <p:spPr>
          <a:xfrm>
            <a:off x="4331208" y="2011680"/>
            <a:ext cx="3526536" cy="2011680"/>
          </a:xfrm>
          <a:prstGeom prst="roundRect">
            <a:avLst>
              <a:gd name="adj" fmla="val 4091"/>
            </a:avLst>
          </a:prstGeom>
          <a:solidFill>
            <a:srgbClr val="212C39"/>
          </a:solidFill>
          <a:ln/>
          <a:effectLst>
            <a:outerShdw sx="100000" sy="100000" kx="0" ky="0" algn="bl" rotWithShape="0" blurRad="101600" dist="25400" dir="5400000">
              <a:srgbClr val="000000">
                <a:alpha val="35000"/>
              </a:srgbClr>
            </a:outerShdw>
          </a:effectLst>
        </p:spPr>
        <p:txBody>
          <a:bodyPr/>
          <a:p/>
        </p:txBody>
      </p:sp>
      <p:sp>
        <p:nvSpPr>
          <p:cNvPr id="12" name="Shape 9"/>
          <p:cNvSpPr/>
          <p:nvPr/>
        </p:nvSpPr>
        <p:spPr>
          <a:xfrm>
            <a:off x="4587240" y="2240280"/>
            <a:ext cx="548640" cy="548640"/>
          </a:xfrm>
          <a:prstGeom prst="ellipse">
            <a:avLst/>
          </a:prstGeom>
          <a:solidFill>
            <a:srgbClr val="4FD1C5"/>
          </a:solidFill>
          <a:ln/>
        </p:spPr>
        <p:txBody>
          <a:bodyPr/>
          <a:p/>
        </p:txBody>
      </p:sp>
      <p:pic>
        <p:nvPicPr>
          <p:cNvPr id="13" name="Image 1" descr="/home/claude/assets/icons/headphones.png">    </p:cNvPr>
          <p:cNvPicPr>
            <a:picLocks noChangeAspect="1"/>
          </p:cNvPicPr>
          <p:nvPr/>
        </p:nvPicPr>
        <p:blipFill>
          <a:blip r:embed="rId2"/>
          <a:stretch>
            <a:fillRect/>
          </a:stretch>
        </p:blipFill>
        <p:spPr>
          <a:xfrm>
            <a:off x="4664050" y="2317090"/>
            <a:ext cx="395021" cy="395021"/>
          </a:xfrm>
          <a:prstGeom prst="rect">
            <a:avLst/>
          </a:prstGeom>
        </p:spPr>
      </p:pic>
      <p:sp>
        <p:nvSpPr>
          <p:cNvPr id="14" name="Text 10"/>
          <p:cNvSpPr txBox="1"/>
          <p:nvPr/>
        </p:nvSpPr>
        <p:spPr>
          <a:xfrm>
            <a:off x="5291328" y="2240280"/>
            <a:ext cx="2337816" cy="228600"/>
          </a:xfrm>
          <a:prstGeom prst="rect">
            <a:avLst/>
          </a:prstGeom>
          <a:noFill/>
          <a:ln/>
        </p:spPr>
        <p:txBody>
          <a:bodyPr wrap="square" lIns="0" tIns="0" rIns="0" bIns="0" rtlCol="0" anchor="ctr"/>
          <a:lstStyle/>
          <a:p>
            <a:pPr indent="0" marL="0">
              <a:buNone/>
            </a:pPr>
            <a:r>
              <a:rPr lang="en-US" sz="950" spc="150" kern="0" dirty="0">
                <a:solidFill>
                  <a:srgbClr val="8A97A6"/>
                </a:solidFill>
                <a:latin typeface="Courier New" pitchFamily="34" charset="0"/>
                <a:ea typeface="Courier New" pitchFamily="34" charset="-122"/>
                <a:cs typeface="Courier New" pitchFamily="34" charset="-120"/>
              </a:rPr>
              <a:t>SAAS</a:t>
            </a:r>
            <a:endParaRPr lang="en-US" sz="950" dirty="0"/>
          </a:p>
        </p:txBody>
      </p:sp>
      <p:sp>
        <p:nvSpPr>
          <p:cNvPr id="15" name="Text 11"/>
          <p:cNvSpPr txBox="1"/>
          <p:nvPr/>
        </p:nvSpPr>
        <p:spPr>
          <a:xfrm>
            <a:off x="5291328" y="2487168"/>
            <a:ext cx="2337816" cy="365760"/>
          </a:xfrm>
          <a:prstGeom prst="rect">
            <a:avLst/>
          </a:prstGeom>
          <a:noFill/>
          <a:ln/>
        </p:spPr>
        <p:txBody>
          <a:bodyPr wrap="square" lIns="0" tIns="0" rIns="0" bIns="0" rtlCol="0" anchor="ctr"/>
          <a:lstStyle/>
          <a:p>
            <a:pPr indent="0" marL="0">
              <a:buNone/>
            </a:pPr>
            <a:r>
              <a:rPr lang="en-US" sz="1400" b="1" dirty="0">
                <a:solidFill>
                  <a:srgbClr val="EEF2F6"/>
                </a:solidFill>
                <a:latin typeface="Calibri" pitchFamily="34" charset="0"/>
                <a:ea typeface="Calibri" pitchFamily="34" charset="-122"/>
                <a:cs typeface="Calibri" pitchFamily="34" charset="-120"/>
              </a:rPr>
              <a:t>Support Triage Copilot</a:t>
            </a:r>
            <a:endParaRPr lang="en-US" sz="1400" dirty="0"/>
          </a:p>
        </p:txBody>
      </p:sp>
      <p:sp>
        <p:nvSpPr>
          <p:cNvPr id="16" name="Text 12"/>
          <p:cNvSpPr txBox="1"/>
          <p:nvPr/>
        </p:nvSpPr>
        <p:spPr>
          <a:xfrm>
            <a:off x="4587240" y="3017520"/>
            <a:ext cx="3023616" cy="91440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Route tickets; check account state and known incidents; draft the response.</a:t>
            </a:r>
            <a:endParaRPr lang="en-US" sz="1100" dirty="0"/>
          </a:p>
        </p:txBody>
      </p:sp>
      <p:sp>
        <p:nvSpPr>
          <p:cNvPr id="17" name="Shape 13"/>
          <p:cNvSpPr/>
          <p:nvPr/>
        </p:nvSpPr>
        <p:spPr>
          <a:xfrm>
            <a:off x="8113776" y="2011680"/>
            <a:ext cx="3526536" cy="2011680"/>
          </a:xfrm>
          <a:prstGeom prst="roundRect">
            <a:avLst>
              <a:gd name="adj" fmla="val 4091"/>
            </a:avLst>
          </a:prstGeom>
          <a:solidFill>
            <a:srgbClr val="212C39"/>
          </a:solidFill>
          <a:ln/>
          <a:effectLst>
            <a:outerShdw sx="100000" sy="100000" kx="0" ky="0" algn="bl" rotWithShape="0" blurRad="101600" dist="25400" dir="5400000">
              <a:srgbClr val="000000">
                <a:alpha val="35000"/>
              </a:srgbClr>
            </a:outerShdw>
          </a:effectLst>
        </p:spPr>
        <p:txBody>
          <a:bodyPr/>
          <a:p/>
        </p:txBody>
      </p:sp>
      <p:sp>
        <p:nvSpPr>
          <p:cNvPr id="18" name="Shape 14"/>
          <p:cNvSpPr/>
          <p:nvPr/>
        </p:nvSpPr>
        <p:spPr>
          <a:xfrm>
            <a:off x="8369808" y="2240280"/>
            <a:ext cx="548640" cy="548640"/>
          </a:xfrm>
          <a:prstGeom prst="ellipse">
            <a:avLst/>
          </a:prstGeom>
          <a:solidFill>
            <a:srgbClr val="F5A623"/>
          </a:solidFill>
          <a:ln/>
        </p:spPr>
        <p:txBody>
          <a:bodyPr/>
          <a:p/>
        </p:txBody>
      </p:sp>
      <p:pic>
        <p:nvPicPr>
          <p:cNvPr id="19" name="Image 2" descr="/home/claude/assets/icons/trendup.png">    </p:cNvPr>
          <p:cNvPicPr>
            <a:picLocks noChangeAspect="1"/>
          </p:cNvPicPr>
          <p:nvPr/>
        </p:nvPicPr>
        <p:blipFill>
          <a:blip r:embed="rId3"/>
          <a:stretch>
            <a:fillRect/>
          </a:stretch>
        </p:blipFill>
        <p:spPr>
          <a:xfrm>
            <a:off x="8446618" y="2317090"/>
            <a:ext cx="395021" cy="395021"/>
          </a:xfrm>
          <a:prstGeom prst="rect">
            <a:avLst/>
          </a:prstGeom>
        </p:spPr>
      </p:pic>
      <p:sp>
        <p:nvSpPr>
          <p:cNvPr id="20" name="Text 15"/>
          <p:cNvSpPr txBox="1"/>
          <p:nvPr/>
        </p:nvSpPr>
        <p:spPr>
          <a:xfrm>
            <a:off x="9073896" y="2240280"/>
            <a:ext cx="2337816" cy="228600"/>
          </a:xfrm>
          <a:prstGeom prst="rect">
            <a:avLst/>
          </a:prstGeom>
          <a:noFill/>
          <a:ln/>
        </p:spPr>
        <p:txBody>
          <a:bodyPr wrap="square" lIns="0" tIns="0" rIns="0" bIns="0" rtlCol="0" anchor="ctr"/>
          <a:lstStyle/>
          <a:p>
            <a:pPr indent="0" marL="0">
              <a:buNone/>
            </a:pPr>
            <a:r>
              <a:rPr lang="en-US" sz="950" spc="150" kern="0" dirty="0">
                <a:solidFill>
                  <a:srgbClr val="8A97A6"/>
                </a:solidFill>
                <a:latin typeface="Courier New" pitchFamily="34" charset="0"/>
                <a:ea typeface="Courier New" pitchFamily="34" charset="-122"/>
                <a:cs typeface="Courier New" pitchFamily="34" charset="-120"/>
              </a:rPr>
              <a:t>TRADING</a:t>
            </a:r>
            <a:endParaRPr lang="en-US" sz="950" dirty="0"/>
          </a:p>
        </p:txBody>
      </p:sp>
      <p:sp>
        <p:nvSpPr>
          <p:cNvPr id="21" name="Text 16"/>
          <p:cNvSpPr txBox="1"/>
          <p:nvPr/>
        </p:nvSpPr>
        <p:spPr>
          <a:xfrm>
            <a:off x="9073896" y="2487168"/>
            <a:ext cx="2337816" cy="365760"/>
          </a:xfrm>
          <a:prstGeom prst="rect">
            <a:avLst/>
          </a:prstGeom>
          <a:noFill/>
          <a:ln/>
        </p:spPr>
        <p:txBody>
          <a:bodyPr wrap="square" lIns="0" tIns="0" rIns="0" bIns="0" rtlCol="0" anchor="ctr"/>
          <a:lstStyle/>
          <a:p>
            <a:pPr indent="0" marL="0">
              <a:buNone/>
            </a:pPr>
            <a:r>
              <a:rPr lang="en-US" sz="1400" b="1" dirty="0">
                <a:solidFill>
                  <a:srgbClr val="EEF2F6"/>
                </a:solidFill>
                <a:latin typeface="Calibri" pitchFamily="34" charset="0"/>
                <a:ea typeface="Calibri" pitchFamily="34" charset="-122"/>
                <a:cs typeface="Calibri" pitchFamily="34" charset="-120"/>
              </a:rPr>
              <a:t>Signal Review Copilot</a:t>
            </a:r>
            <a:endParaRPr lang="en-US" sz="1400" dirty="0"/>
          </a:p>
        </p:txBody>
      </p:sp>
      <p:sp>
        <p:nvSpPr>
          <p:cNvPr id="22" name="Text 17"/>
          <p:cNvSpPr txBox="1"/>
          <p:nvPr/>
        </p:nvSpPr>
        <p:spPr>
          <a:xfrm>
            <a:off x="8369808" y="3017520"/>
            <a:ext cx="3023616" cy="914400"/>
          </a:xfrm>
          <a:prstGeom prst="rect">
            <a:avLst/>
          </a:prstGeom>
          <a:noFill/>
          <a:ln/>
        </p:spPr>
        <p:txBody>
          <a:bodyPr wrap="square" lIns="0" tIns="0" rIns="0" bIns="0" rtlCol="0" anchor="ctr"/>
          <a:lstStyle/>
          <a:p>
            <a:pPr indent="0" marL="0">
              <a:lnSpc>
                <a:spcPct val="120000"/>
              </a:lnSpc>
              <a:buNone/>
            </a:pPr>
            <a:r>
              <a:rPr lang="en-US" sz="1100" dirty="0">
                <a:solidFill>
                  <a:srgbClr val="8A97A6"/>
                </a:solidFill>
                <a:latin typeface="Calibri" pitchFamily="34" charset="0"/>
                <a:ea typeface="Calibri" pitchFamily="34" charset="-122"/>
                <a:cs typeface="Calibri" pitchFamily="34" charset="-120"/>
              </a:rPr>
              <a:t>Feed/tick anomalies; position and ledger drift across venues.</a:t>
            </a:r>
            <a:endParaRPr lang="en-US" sz="1100" dirty="0"/>
          </a:p>
        </p:txBody>
      </p:sp>
      <p:sp>
        <p:nvSpPr>
          <p:cNvPr id="23" name="Shape 18"/>
          <p:cNvSpPr/>
          <p:nvPr/>
        </p:nvSpPr>
        <p:spPr>
          <a:xfrm>
            <a:off x="548640" y="4297680"/>
            <a:ext cx="11091672" cy="1874520"/>
          </a:xfrm>
          <a:prstGeom prst="roundRect">
            <a:avLst>
              <a:gd name="adj" fmla="val 4390"/>
            </a:avLst>
          </a:prstGeom>
          <a:solidFill>
            <a:srgbClr val="1B2530"/>
          </a:solidFill>
          <a:ln/>
          <a:effectLst>
            <a:outerShdw sx="100000" sy="100000" kx="0" ky="0" algn="bl" rotWithShape="0" blurRad="101600" dist="25400" dir="5400000">
              <a:srgbClr val="000000">
                <a:alpha val="35000"/>
              </a:srgbClr>
            </a:outerShdw>
          </a:effectLst>
        </p:spPr>
        <p:txBody>
          <a:bodyPr/>
          <a:p/>
        </p:txBody>
      </p:sp>
      <p:sp>
        <p:nvSpPr>
          <p:cNvPr id="24" name="Text 19"/>
          <p:cNvSpPr txBox="1"/>
          <p:nvPr/>
        </p:nvSpPr>
        <p:spPr>
          <a:xfrm>
            <a:off x="822960" y="4480560"/>
            <a:ext cx="3657600" cy="274320"/>
          </a:xfrm>
          <a:prstGeom prst="rect">
            <a:avLst/>
          </a:prstGeom>
          <a:noFill/>
          <a:ln/>
        </p:spPr>
        <p:txBody>
          <a:bodyPr wrap="square" lIns="0" tIns="0" rIns="0" bIns="0" rtlCol="0" anchor="ctr"/>
          <a:lstStyle/>
          <a:p>
            <a:pPr indent="0" marL="0">
              <a:buNone/>
            </a:pPr>
            <a:r>
              <a:rPr lang="en-US" sz="1050" b="1" spc="150" kern="0" dirty="0">
                <a:solidFill>
                  <a:srgbClr val="4FD1C5"/>
                </a:solidFill>
                <a:latin typeface="Courier New" pitchFamily="34" charset="0"/>
                <a:ea typeface="Courier New" pitchFamily="34" charset="-122"/>
                <a:cs typeface="Courier New" pitchFamily="34" charset="-120"/>
              </a:rPr>
              <a:t>WHAT I WOULD DO NEXT</a:t>
            </a:r>
            <a:endParaRPr lang="en-US" sz="1050" dirty="0"/>
          </a:p>
        </p:txBody>
      </p:sp>
      <p:sp>
        <p:nvSpPr>
          <p:cNvPr id="25" name="Text 20"/>
          <p:cNvSpPr txBox="1"/>
          <p:nvPr/>
        </p:nvSpPr>
        <p:spPr>
          <a:xfrm>
            <a:off x="822960" y="4800600"/>
            <a:ext cx="10515600" cy="132588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150" dirty="0">
                <a:solidFill>
                  <a:srgbClr val="EEF2F6"/>
                </a:solidFill>
                <a:latin typeface="Calibri" pitchFamily="34" charset="0"/>
                <a:ea typeface="Calibri" pitchFamily="34" charset="-122"/>
                <a:cs typeface="Calibri" pitchFamily="34" charset="-120"/>
              </a:rPr>
              <a:t>Kafka ingestion so scans run when data lands, not on a timer.</a:t>
            </a:r>
            <a:endParaRPr lang="en-US" sz="1150" dirty="0"/>
          </a:p>
          <a:p>
            <a:pPr marL="177800" indent="-177800">
              <a:lnSpc>
                <a:spcPct val="115000"/>
              </a:lnSpc>
              <a:spcAft>
                <a:spcPts val="500"/>
              </a:spcAft>
              <a:buSzPct val="100000"/>
              <a:buChar char="•"/>
            </a:pPr>
            <a:r>
              <a:rPr lang="en-US" sz="1150" dirty="0">
                <a:solidFill>
                  <a:srgbClr val="EEF2F6"/>
                </a:solidFill>
                <a:latin typeface="Calibri" pitchFamily="34" charset="0"/>
                <a:ea typeface="Calibri" pitchFamily="34" charset="-122"/>
                <a:cs typeface="Calibri" pitchFamily="34" charset="-120"/>
              </a:rPr>
              <a:t>Let the Reporter open a pull request with the fix, gated on my approval.</a:t>
            </a:r>
            <a:endParaRPr lang="en-US" sz="1150" dirty="0"/>
          </a:p>
          <a:p>
            <a:pPr marL="177800" indent="-177800">
              <a:lnSpc>
                <a:spcPct val="115000"/>
              </a:lnSpc>
              <a:spcAft>
                <a:spcPts val="500"/>
              </a:spcAft>
              <a:buSzPct val="100000"/>
              <a:buChar char="•"/>
            </a:pPr>
            <a:r>
              <a:rPr lang="en-US" sz="1150" dirty="0">
                <a:solidFill>
                  <a:srgbClr val="EEF2F6"/>
                </a:solidFill>
                <a:latin typeface="Calibri" pitchFamily="34" charset="0"/>
                <a:ea typeface="Calibri" pitchFamily="34" charset="-122"/>
                <a:cs typeface="Calibri" pitchFamily="34" charset="-120"/>
              </a:rPr>
              <a:t>Tune the Planner's routing threshold from my own approve / reject history.</a:t>
            </a:r>
            <a:endParaRPr lang="en-US" sz="1150" dirty="0"/>
          </a:p>
          <a:p>
            <a:pPr marL="177800" indent="-177800">
              <a:lnSpc>
                <a:spcPct val="115000"/>
              </a:lnSpc>
              <a:spcAft>
                <a:spcPts val="500"/>
              </a:spcAft>
              <a:buSzPct val="100000"/>
              <a:buChar char="•"/>
            </a:pPr>
            <a:r>
              <a:rPr lang="en-US" sz="1150" dirty="0">
                <a:solidFill>
                  <a:srgbClr val="EEF2F6"/>
                </a:solidFill>
                <a:latin typeface="Calibri" pitchFamily="34" charset="0"/>
                <a:ea typeface="Calibri" pitchFamily="34" charset="-122"/>
                <a:cs typeface="Calibri" pitchFamily="34" charset="-120"/>
              </a:rPr>
              <a:t>Multi-tenant auth and an adapter registry so several domains can run side by side.</a:t>
            </a:r>
            <a:endParaRPr lang="en-US" sz="1150" dirty="0"/>
          </a:p>
        </p:txBody>
      </p:sp>
      <p:sp>
        <p:nvSpPr>
          <p:cNvPr id="26" name="Text 21"/>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7A6"/>
                </a:solidFill>
                <a:latin typeface="Courier New" pitchFamily="34" charset="0"/>
                <a:ea typeface="Courier New" pitchFamily="34" charset="-122"/>
                <a:cs typeface="Courier New" pitchFamily="34" charset="-120"/>
              </a:rPr>
              <a:t>ReconMind  ·  IIT Patna — Generative AI &amp; Agentic AI for Developers Program  ·  Rahul</a:t>
            </a:r>
            <a:endParaRPr lang="en-US" sz="900" dirty="0"/>
          </a:p>
        </p:txBody>
      </p:sp>
      <p:sp>
        <p:nvSpPr>
          <p:cNvPr id="27" name="Text 22"/>
          <p:cNvSpPr txBox="1"/>
          <p:nvPr/>
        </p:nvSpPr>
        <p:spPr>
          <a:xfrm>
            <a:off x="10725912" y="6473952"/>
            <a:ext cx="1005840" cy="274320"/>
          </a:xfrm>
          <a:prstGeom prst="rect">
            <a:avLst/>
          </a:prstGeom>
          <a:noFill/>
          <a:ln/>
        </p:spPr>
        <p:txBody>
          <a:bodyPr wrap="square" lIns="0" tIns="0" rIns="0" bIns="0" rtlCol="0" anchor="ctr"/>
          <a:lstStyle/>
          <a:p>
            <a:pPr algn="r" indent="0" marL="0">
              <a:buNone/>
            </a:pPr>
            <a:r>
              <a:rPr lang="en-US" sz="900" dirty="0">
                <a:solidFill>
                  <a:srgbClr val="8A97A6"/>
                </a:solidFill>
                <a:latin typeface="Courier New" pitchFamily="34" charset="0"/>
                <a:ea typeface="Courier New" pitchFamily="34" charset="-122"/>
                <a:cs typeface="Courier New"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1828800" y="-2011680"/>
            <a:ext cx="5029200" cy="5029200"/>
          </a:xfrm>
          <a:prstGeom prst="ellipse">
            <a:avLst/>
          </a:prstGeom>
          <a:solidFill>
            <a:srgbClr val="212C39">
              <a:alpha val="55000"/>
            </a:srgbClr>
          </a:solidFill>
          <a:ln/>
        </p:spPr>
        <p:txBody>
          <a:bodyPr/>
          <a:p/>
        </p:txBody>
      </p:sp>
      <p:sp>
        <p:nvSpPr>
          <p:cNvPr id="3" name="Shape 1"/>
          <p:cNvSpPr/>
          <p:nvPr/>
        </p:nvSpPr>
        <p:spPr>
          <a:xfrm>
            <a:off x="822960" y="1188720"/>
            <a:ext cx="777240" cy="777240"/>
          </a:xfrm>
          <a:prstGeom prst="ellipse">
            <a:avLst/>
          </a:prstGeom>
          <a:solidFill>
            <a:srgbClr val="4FD1C5"/>
          </a:solidFill>
          <a:ln/>
        </p:spPr>
        <p:txBody>
          <a:bodyPr/>
          <a:p/>
        </p:txBody>
      </p:sp>
      <p:pic>
        <p:nvPicPr>
          <p:cNvPr id="4" name="Image 0" descr="/home/claude/assets/icons/checkcircle.png">    </p:cNvPr>
          <p:cNvPicPr>
            <a:picLocks noChangeAspect="1"/>
          </p:cNvPicPr>
          <p:nvPr/>
        </p:nvPicPr>
        <p:blipFill>
          <a:blip r:embed="rId1"/>
          <a:stretch>
            <a:fillRect/>
          </a:stretch>
        </p:blipFill>
        <p:spPr>
          <a:xfrm>
            <a:off x="931774" y="1297534"/>
            <a:ext cx="559613" cy="559613"/>
          </a:xfrm>
          <a:prstGeom prst="rect">
            <a:avLst/>
          </a:prstGeom>
        </p:spPr>
      </p:pic>
      <p:sp>
        <p:nvSpPr>
          <p:cNvPr id="5" name="Text 2"/>
          <p:cNvSpPr txBox="1"/>
          <p:nvPr/>
        </p:nvSpPr>
        <p:spPr>
          <a:xfrm>
            <a:off x="1783080" y="1188720"/>
            <a:ext cx="8229600" cy="777240"/>
          </a:xfrm>
          <a:prstGeom prst="rect">
            <a:avLst/>
          </a:prstGeom>
          <a:noFill/>
          <a:ln/>
        </p:spPr>
        <p:txBody>
          <a:bodyPr wrap="square" lIns="0" tIns="0" rIns="0" bIns="0" rtlCol="0" anchor="ctr"/>
          <a:lstStyle/>
          <a:p>
            <a:pPr indent="0" marL="0">
              <a:buNone/>
            </a:pPr>
            <a:r>
              <a:rPr lang="en-US" sz="3000" b="1" dirty="0">
                <a:solidFill>
                  <a:srgbClr val="EEF2F6"/>
                </a:solidFill>
                <a:latin typeface="Calibri" pitchFamily="34" charset="0"/>
                <a:ea typeface="Calibri" pitchFamily="34" charset="-122"/>
                <a:cs typeface="Calibri" pitchFamily="34" charset="-120"/>
              </a:rPr>
              <a:t>Conclusion</a:t>
            </a:r>
            <a:endParaRPr lang="en-US" sz="3000" dirty="0"/>
          </a:p>
        </p:txBody>
      </p:sp>
      <p:sp>
        <p:nvSpPr>
          <p:cNvPr id="6" name="Text 3"/>
          <p:cNvSpPr txBox="1"/>
          <p:nvPr/>
        </p:nvSpPr>
        <p:spPr>
          <a:xfrm>
            <a:off x="822960" y="2103120"/>
            <a:ext cx="10424160" cy="1417320"/>
          </a:xfrm>
          <a:prstGeom prst="rect">
            <a:avLst/>
          </a:prstGeom>
          <a:noFill/>
          <a:ln/>
        </p:spPr>
        <p:txBody>
          <a:bodyPr wrap="square" lIns="0" tIns="0" rIns="0" bIns="0" rtlCol="0" anchor="ctr"/>
          <a:lstStyle/>
          <a:p>
            <a:pPr indent="0" marL="0">
              <a:lnSpc>
                <a:spcPct val="135000"/>
              </a:lnSpc>
              <a:buNone/>
            </a:pPr>
            <a:r>
              <a:rPr lang="en-US" sz="1400" dirty="0">
                <a:solidFill>
                  <a:srgbClr val="EEF2F6"/>
                </a:solidFill>
                <a:latin typeface="Calibri" pitchFamily="34" charset="0"/>
                <a:ea typeface="Calibri" pitchFamily="34" charset="-122"/>
                <a:cs typeface="Calibri" pitchFamily="34" charset="-120"/>
              </a:rPr>
              <a:t>ReconMind helps engineers investigate data-pipeline incidents such as key drift, duplicate submissions, schema drift and volume anomalies. It uses RAG to search runbooks, schema docs and past incident reports, then answers with citations. It can run fully locally with Ollama or use the OpenAI API. If no LLM is available, it still returns the most relevant passages from those documents.</a:t>
            </a:r>
            <a:endParaRPr lang="en-US" sz="1400" dirty="0"/>
          </a:p>
        </p:txBody>
      </p:sp>
      <p:sp>
        <p:nvSpPr>
          <p:cNvPr id="7" name="Shape 4"/>
          <p:cNvSpPr/>
          <p:nvPr/>
        </p:nvSpPr>
        <p:spPr>
          <a:xfrm>
            <a:off x="548640" y="3749040"/>
            <a:ext cx="2086661" cy="1143000"/>
          </a:xfrm>
          <a:prstGeom prst="roundRect">
            <a:avLst>
              <a:gd name="adj" fmla="val 7200"/>
            </a:avLst>
          </a:prstGeom>
          <a:solidFill>
            <a:srgbClr val="1B2530"/>
          </a:solidFill>
          <a:ln/>
        </p:spPr>
        <p:txBody>
          <a:bodyPr/>
          <a:p/>
        </p:txBody>
      </p:sp>
      <p:sp>
        <p:nvSpPr>
          <p:cNvPr id="8" name="Text 5"/>
          <p:cNvSpPr txBox="1"/>
          <p:nvPr/>
        </p:nvSpPr>
        <p:spPr>
          <a:xfrm>
            <a:off x="731520" y="3886200"/>
            <a:ext cx="1720901"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Grounded</a:t>
            </a:r>
            <a:endParaRPr lang="en-US" sz="1400" dirty="0"/>
          </a:p>
        </p:txBody>
      </p:sp>
      <p:sp>
        <p:nvSpPr>
          <p:cNvPr id="9" name="Text 6"/>
          <p:cNvSpPr txBox="1"/>
          <p:nvPr/>
        </p:nvSpPr>
        <p:spPr>
          <a:xfrm>
            <a:off x="731520" y="4251960"/>
            <a:ext cx="1720901" cy="548640"/>
          </a:xfrm>
          <a:prstGeom prst="rect">
            <a:avLst/>
          </a:prstGeom>
          <a:noFill/>
          <a:ln/>
        </p:spPr>
        <p:txBody>
          <a:bodyPr wrap="square" lIns="0" tIns="0" rIns="0" bIns="0" rtlCol="0" anchor="ctr"/>
          <a:lstStyle/>
          <a:p>
            <a:pPr indent="0" marL="0">
              <a:lnSpc>
                <a:spcPct val="115000"/>
              </a:lnSpc>
              <a:buNone/>
            </a:pPr>
            <a:r>
              <a:rPr lang="en-US" sz="1050" dirty="0">
                <a:solidFill>
                  <a:srgbClr val="8A97A6"/>
                </a:solidFill>
                <a:latin typeface="Calibri" pitchFamily="34" charset="0"/>
                <a:ea typeface="Calibri" pitchFamily="34" charset="-122"/>
                <a:cs typeface="Calibri" pitchFamily="34" charset="-120"/>
              </a:rPr>
              <a:t>Hybrid RAG with a RAGAS gate</a:t>
            </a:r>
            <a:endParaRPr lang="en-US" sz="1050" dirty="0"/>
          </a:p>
        </p:txBody>
      </p:sp>
      <p:sp>
        <p:nvSpPr>
          <p:cNvPr id="10" name="Shape 7"/>
          <p:cNvSpPr/>
          <p:nvPr/>
        </p:nvSpPr>
        <p:spPr>
          <a:xfrm>
            <a:off x="2799893" y="3749040"/>
            <a:ext cx="2086661" cy="1143000"/>
          </a:xfrm>
          <a:prstGeom prst="roundRect">
            <a:avLst>
              <a:gd name="adj" fmla="val 7200"/>
            </a:avLst>
          </a:prstGeom>
          <a:solidFill>
            <a:srgbClr val="1B2530"/>
          </a:solidFill>
          <a:ln/>
        </p:spPr>
        <p:txBody>
          <a:bodyPr/>
          <a:p/>
        </p:txBody>
      </p:sp>
      <p:sp>
        <p:nvSpPr>
          <p:cNvPr id="11" name="Text 8"/>
          <p:cNvSpPr txBox="1"/>
          <p:nvPr/>
        </p:nvSpPr>
        <p:spPr>
          <a:xfrm>
            <a:off x="2982773" y="3886200"/>
            <a:ext cx="1720901" cy="365760"/>
          </a:xfrm>
          <a:prstGeom prst="rect">
            <a:avLst/>
          </a:prstGeom>
          <a:noFill/>
          <a:ln/>
        </p:spPr>
        <p:txBody>
          <a:bodyPr wrap="square" lIns="0" tIns="0" rIns="0" bIns="0" rtlCol="0" anchor="ctr"/>
          <a:lstStyle/>
          <a:p>
            <a:pPr indent="0" marL="0">
              <a:buNone/>
            </a:pPr>
            <a:r>
              <a:rPr lang="en-US" sz="1400" b="1" dirty="0">
                <a:solidFill>
                  <a:srgbClr val="4FD1C5"/>
                </a:solidFill>
                <a:latin typeface="Calibri" pitchFamily="34" charset="0"/>
                <a:ea typeface="Calibri" pitchFamily="34" charset="-122"/>
                <a:cs typeface="Calibri" pitchFamily="34" charset="-120"/>
              </a:rPr>
              <a:t>Orchestrated</a:t>
            </a:r>
            <a:endParaRPr lang="en-US" sz="1400" dirty="0"/>
          </a:p>
        </p:txBody>
      </p:sp>
      <p:sp>
        <p:nvSpPr>
          <p:cNvPr id="12" name="Text 9"/>
          <p:cNvSpPr txBox="1"/>
          <p:nvPr/>
        </p:nvSpPr>
        <p:spPr>
          <a:xfrm>
            <a:off x="2982773" y="4251960"/>
            <a:ext cx="1720901" cy="548640"/>
          </a:xfrm>
          <a:prstGeom prst="rect">
            <a:avLst/>
          </a:prstGeom>
          <a:noFill/>
          <a:ln/>
        </p:spPr>
        <p:txBody>
          <a:bodyPr wrap="square" lIns="0" tIns="0" rIns="0" bIns="0" rtlCol="0" anchor="ctr"/>
          <a:lstStyle/>
          <a:p>
            <a:pPr indent="0" marL="0">
              <a:lnSpc>
                <a:spcPct val="115000"/>
              </a:lnSpc>
              <a:buNone/>
            </a:pPr>
            <a:r>
              <a:rPr lang="en-US" sz="1050" dirty="0">
                <a:solidFill>
                  <a:srgbClr val="8A97A6"/>
                </a:solidFill>
                <a:latin typeface="Calibri" pitchFamily="34" charset="0"/>
                <a:ea typeface="Calibri" pitchFamily="34" charset="-122"/>
                <a:cs typeface="Calibri" pitchFamily="34" charset="-120"/>
              </a:rPr>
              <a:t>Four LangGraph specialists + HITL</a:t>
            </a:r>
            <a:endParaRPr lang="en-US" sz="1050" dirty="0"/>
          </a:p>
        </p:txBody>
      </p:sp>
      <p:sp>
        <p:nvSpPr>
          <p:cNvPr id="13" name="Shape 10"/>
          <p:cNvSpPr/>
          <p:nvPr/>
        </p:nvSpPr>
        <p:spPr>
          <a:xfrm>
            <a:off x="5051146" y="3749040"/>
            <a:ext cx="2086661" cy="1143000"/>
          </a:xfrm>
          <a:prstGeom prst="roundRect">
            <a:avLst>
              <a:gd name="adj" fmla="val 7200"/>
            </a:avLst>
          </a:prstGeom>
          <a:solidFill>
            <a:srgbClr val="1B2530"/>
          </a:solidFill>
          <a:ln/>
        </p:spPr>
        <p:txBody>
          <a:bodyPr/>
          <a:p/>
        </p:txBody>
      </p:sp>
      <p:sp>
        <p:nvSpPr>
          <p:cNvPr id="14" name="Text 11"/>
          <p:cNvSpPr txBox="1"/>
          <p:nvPr/>
        </p:nvSpPr>
        <p:spPr>
          <a:xfrm>
            <a:off x="5234026" y="3886200"/>
            <a:ext cx="1720901"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Connected</a:t>
            </a:r>
            <a:endParaRPr lang="en-US" sz="1400" dirty="0"/>
          </a:p>
        </p:txBody>
      </p:sp>
      <p:sp>
        <p:nvSpPr>
          <p:cNvPr id="15" name="Text 12"/>
          <p:cNvSpPr txBox="1"/>
          <p:nvPr/>
        </p:nvSpPr>
        <p:spPr>
          <a:xfrm>
            <a:off x="5234026" y="4251960"/>
            <a:ext cx="1720901" cy="548640"/>
          </a:xfrm>
          <a:prstGeom prst="rect">
            <a:avLst/>
          </a:prstGeom>
          <a:noFill/>
          <a:ln/>
        </p:spPr>
        <p:txBody>
          <a:bodyPr wrap="square" lIns="0" tIns="0" rIns="0" bIns="0" rtlCol="0" anchor="ctr"/>
          <a:lstStyle/>
          <a:p>
            <a:pPr indent="0" marL="0">
              <a:lnSpc>
                <a:spcPct val="115000"/>
              </a:lnSpc>
              <a:buNone/>
            </a:pPr>
            <a:r>
              <a:rPr lang="en-US" sz="1050" dirty="0">
                <a:solidFill>
                  <a:srgbClr val="8A97A6"/>
                </a:solidFill>
                <a:latin typeface="Calibri" pitchFamily="34" charset="0"/>
                <a:ea typeface="Calibri" pitchFamily="34" charset="-122"/>
                <a:cs typeface="Calibri" pitchFamily="34" charset="-120"/>
              </a:rPr>
              <a:t>Two read-only MCP servers</a:t>
            </a:r>
            <a:endParaRPr lang="en-US" sz="1050" dirty="0"/>
          </a:p>
        </p:txBody>
      </p:sp>
      <p:sp>
        <p:nvSpPr>
          <p:cNvPr id="16" name="Shape 13"/>
          <p:cNvSpPr/>
          <p:nvPr/>
        </p:nvSpPr>
        <p:spPr>
          <a:xfrm>
            <a:off x="7302398" y="3749040"/>
            <a:ext cx="2086661" cy="1143000"/>
          </a:xfrm>
          <a:prstGeom prst="roundRect">
            <a:avLst>
              <a:gd name="adj" fmla="val 7200"/>
            </a:avLst>
          </a:prstGeom>
          <a:solidFill>
            <a:srgbClr val="1B2530"/>
          </a:solidFill>
          <a:ln/>
        </p:spPr>
        <p:txBody>
          <a:bodyPr/>
          <a:p/>
        </p:txBody>
      </p:sp>
      <p:sp>
        <p:nvSpPr>
          <p:cNvPr id="17" name="Text 14"/>
          <p:cNvSpPr txBox="1"/>
          <p:nvPr/>
        </p:nvSpPr>
        <p:spPr>
          <a:xfrm>
            <a:off x="7485278" y="3886200"/>
            <a:ext cx="1720901" cy="365760"/>
          </a:xfrm>
          <a:prstGeom prst="rect">
            <a:avLst/>
          </a:prstGeom>
          <a:noFill/>
          <a:ln/>
        </p:spPr>
        <p:txBody>
          <a:bodyPr wrap="square" lIns="0" tIns="0" rIns="0" bIns="0" rtlCol="0" anchor="ctr"/>
          <a:lstStyle/>
          <a:p>
            <a:pPr indent="0" marL="0">
              <a:buNone/>
            </a:pPr>
            <a:r>
              <a:rPr lang="en-US" sz="1400" b="1" dirty="0">
                <a:solidFill>
                  <a:srgbClr val="4FD1C5"/>
                </a:solidFill>
                <a:latin typeface="Calibri" pitchFamily="34" charset="0"/>
                <a:ea typeface="Calibri" pitchFamily="34" charset="-122"/>
                <a:cs typeface="Calibri" pitchFamily="34" charset="-120"/>
              </a:rPr>
              <a:t>Auditable</a:t>
            </a:r>
            <a:endParaRPr lang="en-US" sz="1400" dirty="0"/>
          </a:p>
        </p:txBody>
      </p:sp>
      <p:sp>
        <p:nvSpPr>
          <p:cNvPr id="18" name="Text 15"/>
          <p:cNvSpPr txBox="1"/>
          <p:nvPr/>
        </p:nvSpPr>
        <p:spPr>
          <a:xfrm>
            <a:off x="7485278" y="4251960"/>
            <a:ext cx="1720901" cy="548640"/>
          </a:xfrm>
          <a:prstGeom prst="rect">
            <a:avLst/>
          </a:prstGeom>
          <a:noFill/>
          <a:ln/>
        </p:spPr>
        <p:txBody>
          <a:bodyPr wrap="square" lIns="0" tIns="0" rIns="0" bIns="0" rtlCol="0" anchor="ctr"/>
          <a:lstStyle/>
          <a:p>
            <a:pPr indent="0" marL="0">
              <a:lnSpc>
                <a:spcPct val="115000"/>
              </a:lnSpc>
              <a:buNone/>
            </a:pPr>
            <a:r>
              <a:rPr lang="en-US" sz="1050" dirty="0">
                <a:solidFill>
                  <a:srgbClr val="8A97A6"/>
                </a:solidFill>
                <a:latin typeface="Calibri" pitchFamily="34" charset="0"/>
                <a:ea typeface="Calibri" pitchFamily="34" charset="-122"/>
                <a:cs typeface="Calibri" pitchFamily="34" charset="-120"/>
              </a:rPr>
              <a:t>Every step traced in LangFuse</a:t>
            </a:r>
            <a:endParaRPr lang="en-US" sz="1050" dirty="0"/>
          </a:p>
        </p:txBody>
      </p:sp>
      <p:sp>
        <p:nvSpPr>
          <p:cNvPr id="19" name="Shape 16"/>
          <p:cNvSpPr/>
          <p:nvPr/>
        </p:nvSpPr>
        <p:spPr>
          <a:xfrm>
            <a:off x="9553651" y="3749040"/>
            <a:ext cx="2086661" cy="1143000"/>
          </a:xfrm>
          <a:prstGeom prst="roundRect">
            <a:avLst>
              <a:gd name="adj" fmla="val 7200"/>
            </a:avLst>
          </a:prstGeom>
          <a:solidFill>
            <a:srgbClr val="1B2530"/>
          </a:solidFill>
          <a:ln/>
        </p:spPr>
        <p:txBody>
          <a:bodyPr/>
          <a:p/>
        </p:txBody>
      </p:sp>
      <p:sp>
        <p:nvSpPr>
          <p:cNvPr id="20" name="Text 17"/>
          <p:cNvSpPr txBox="1"/>
          <p:nvPr/>
        </p:nvSpPr>
        <p:spPr>
          <a:xfrm>
            <a:off x="9736531" y="3886200"/>
            <a:ext cx="1720901"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Reusable</a:t>
            </a:r>
            <a:endParaRPr lang="en-US" sz="1400" dirty="0"/>
          </a:p>
        </p:txBody>
      </p:sp>
      <p:sp>
        <p:nvSpPr>
          <p:cNvPr id="21" name="Text 18"/>
          <p:cNvSpPr txBox="1"/>
          <p:nvPr/>
        </p:nvSpPr>
        <p:spPr>
          <a:xfrm>
            <a:off x="9736531" y="4251960"/>
            <a:ext cx="1720901" cy="548640"/>
          </a:xfrm>
          <a:prstGeom prst="rect">
            <a:avLst/>
          </a:prstGeom>
          <a:noFill/>
          <a:ln/>
        </p:spPr>
        <p:txBody>
          <a:bodyPr wrap="square" lIns="0" tIns="0" rIns="0" bIns="0" rtlCol="0" anchor="ctr"/>
          <a:lstStyle/>
          <a:p>
            <a:pPr indent="0" marL="0">
              <a:lnSpc>
                <a:spcPct val="115000"/>
              </a:lnSpc>
              <a:buNone/>
            </a:pPr>
            <a:r>
              <a:rPr lang="en-US" sz="1050" dirty="0">
                <a:solidFill>
                  <a:srgbClr val="8A97A6"/>
                </a:solidFill>
                <a:latin typeface="Calibri" pitchFamily="34" charset="0"/>
                <a:ea typeface="Calibri" pitchFamily="34" charset="-122"/>
                <a:cs typeface="Calibri" pitchFamily="34" charset="-120"/>
              </a:rPr>
              <a:t>Domain adapter proven on a stub</a:t>
            </a:r>
            <a:endParaRPr lang="en-US" sz="1050" dirty="0"/>
          </a:p>
        </p:txBody>
      </p:sp>
      <p:sp>
        <p:nvSpPr>
          <p:cNvPr id="22" name="Shape 19"/>
          <p:cNvSpPr/>
          <p:nvPr/>
        </p:nvSpPr>
        <p:spPr>
          <a:xfrm>
            <a:off x="548640" y="5029200"/>
            <a:ext cx="11091672" cy="1234440"/>
          </a:xfrm>
          <a:prstGeom prst="roundRect">
            <a:avLst>
              <a:gd name="adj" fmla="val 6667"/>
            </a:avLst>
          </a:prstGeom>
          <a:solidFill>
            <a:srgbClr val="212C39"/>
          </a:solidFill>
          <a:ln/>
        </p:spPr>
        <p:txBody>
          <a:bodyPr/>
          <a:p/>
        </p:txBody>
      </p:sp>
      <p:sp>
        <p:nvSpPr>
          <p:cNvPr id="23" name="Text 20"/>
          <p:cNvSpPr txBox="1"/>
          <p:nvPr/>
        </p:nvSpPr>
        <p:spPr>
          <a:xfrm>
            <a:off x="822960" y="5029200"/>
            <a:ext cx="10515600" cy="1234440"/>
          </a:xfrm>
          <a:prstGeom prst="rect">
            <a:avLst/>
          </a:prstGeom>
          <a:noFill/>
          <a:ln/>
        </p:spPr>
        <p:txBody>
          <a:bodyPr wrap="square" lIns="0" tIns="0" rIns="0" bIns="0" rtlCol="0" anchor="ctr"/>
          <a:lstStyle/>
          <a:p>
            <a:pPr indent="0" marL="0">
              <a:spcAft>
                <a:spcPts val="600"/>
              </a:spcAft>
              <a:buNone/>
            </a:pPr>
            <a:r>
              <a:rPr lang="en-US" sz="1050" dirty="0">
                <a:solidFill>
                  <a:srgbClr val="8A97A6"/>
                </a:solidFill>
                <a:latin typeface="Courier New" pitchFamily="34" charset="0"/>
                <a:ea typeface="Courier New" pitchFamily="34" charset="-122"/>
                <a:cs typeface="Courier New" pitchFamily="34" charset="-120"/>
              </a:rPr>
              <a:t>Submitted by  </a:t>
            </a:r>
            <a:pPr indent="0" marL="0">
              <a:spcAft>
                <a:spcPts val="600"/>
              </a:spcAft>
              <a:buNone/>
            </a:pPr>
            <a:r>
              <a:rPr lang="en-US" sz="1400" b="1" dirty="0">
                <a:solidFill>
                  <a:srgbClr val="EEF2F6"/>
                </a:solidFill>
                <a:latin typeface="Calibri" pitchFamily="34" charset="0"/>
                <a:ea typeface="Calibri" pitchFamily="34" charset="-122"/>
                <a:cs typeface="Calibri" pitchFamily="34" charset="-120"/>
              </a:rPr>
              <a:t>Rahul</a:t>
            </a:r>
            <a:pPr indent="0" marL="0">
              <a:spcAft>
                <a:spcPts val="600"/>
              </a:spcAft>
              <a:buNone/>
            </a:pPr>
            <a:r>
              <a:rPr lang="en-US" sz="1050" dirty="0">
                <a:solidFill>
                  <a:srgbClr val="8A97A6"/>
                </a:solidFill>
                <a:latin typeface="Courier New" pitchFamily="34" charset="0"/>
                <a:ea typeface="Courier New" pitchFamily="34" charset="-122"/>
                <a:cs typeface="Courier New" pitchFamily="34" charset="-120"/>
              </a:rPr>
              <a:t>      Date  </a:t>
            </a:r>
            <a:pPr indent="0" marL="0">
              <a:spcAft>
                <a:spcPts val="600"/>
              </a:spcAft>
              <a:buNone/>
            </a:pPr>
            <a:r>
              <a:rPr lang="en-US" sz="1400" b="1" dirty="0">
                <a:solidFill>
                  <a:srgbClr val="EEF2F6"/>
                </a:solidFill>
                <a:latin typeface="Calibri" pitchFamily="34" charset="0"/>
                <a:ea typeface="Calibri" pitchFamily="34" charset="-122"/>
                <a:cs typeface="Calibri" pitchFamily="34" charset="-120"/>
              </a:rPr>
              <a:t>18 September 2026</a:t>
            </a:r>
            <a:pPr indent="0" marL="0">
              <a:spcAft>
                <a:spcPts val="600"/>
              </a:spcAft>
              <a:buNone/>
            </a:pPr>
            <a:r>
              <a:rPr lang="en-US" sz="1050" dirty="0">
                <a:solidFill>
                  <a:srgbClr val="8A97A6"/>
                </a:solidFill>
                <a:latin typeface="Courier New" pitchFamily="34" charset="0"/>
                <a:ea typeface="Courier New" pitchFamily="34" charset="-122"/>
                <a:cs typeface="Courier New" pitchFamily="34" charset="-120"/>
              </a:rPr>
              <a:t>      Program  </a:t>
            </a:r>
            <a:pPr indent="0" marL="0">
              <a:spcAft>
                <a:spcPts val="600"/>
              </a:spcAft>
              <a:buNone/>
            </a:pPr>
            <a:r>
              <a:rPr lang="en-US" sz="1250" b="1" dirty="0">
                <a:solidFill>
                  <a:srgbClr val="EEF2F6"/>
                </a:solidFill>
                <a:latin typeface="Calibri" pitchFamily="34" charset="0"/>
                <a:ea typeface="Calibri" pitchFamily="34" charset="-122"/>
                <a:cs typeface="Calibri" pitchFamily="34" charset="-120"/>
              </a:rPr>
              <a:t>IIT Patna — Generative AI &amp; Agentic AI for Developers Program</a:t>
            </a:r>
            <a:endParaRPr lang="en-US" sz="1050" dirty="0"/>
          </a:p>
          <a:p>
            <a:pPr indent="0" marL="0">
              <a:spcAft>
                <a:spcPts val="600"/>
              </a:spcAft>
              <a:buNone/>
            </a:pPr>
            <a:r>
              <a:rPr lang="en-US" sz="1050" dirty="0">
                <a:solidFill>
                  <a:srgbClr val="8A97A6"/>
                </a:solidFill>
                <a:latin typeface="Courier New" pitchFamily="34" charset="0"/>
                <a:ea typeface="Courier New" pitchFamily="34" charset="-122"/>
                <a:cs typeface="Courier New" pitchFamily="34" charset="-120"/>
              </a:rPr>
              <a:t>GitHub  </a:t>
            </a:r>
            <a:pPr indent="0" marL="0">
              <a:spcAft>
                <a:spcPts val="600"/>
              </a:spcAft>
              <a:buNone/>
            </a:pPr>
            <a:r>
              <a:rPr lang="en-US" sz="1150" u="sng" dirty="0">
                <a:solidFill>
                  <a:srgbClr val="4FD1C5"/>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github.com/rahulramachandran-labs/reconmind</a:t>
            </a:r>
            <a:pPr indent="0" marL="0">
              <a:spcAft>
                <a:spcPts val="600"/>
              </a:spcAft>
              <a:buNone/>
            </a:pPr>
            <a:r>
              <a:rPr lang="en-US" sz="1050" dirty="0">
                <a:solidFill>
                  <a:srgbClr val="8A97A6"/>
                </a:solidFill>
                <a:latin typeface="Courier New" pitchFamily="34" charset="0"/>
                <a:ea typeface="Courier New" pitchFamily="34" charset="-122"/>
                <a:cs typeface="Courier New" pitchFamily="34" charset="-120"/>
              </a:rPr>
              <a:t>      Live  </a:t>
            </a:r>
            <a:pPr indent="0" marL="0">
              <a:spcAft>
                <a:spcPts val="600"/>
              </a:spcAft>
              <a:buNone/>
            </a:pPr>
            <a:r>
              <a:rPr lang="en-US" sz="1150" u="sng" dirty="0">
                <a:solidFill>
                  <a:srgbClr val="4FD1C5"/>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reconmind-labs.vercel.app</a:t>
            </a:r>
            <a:pPr indent="0" marL="0">
              <a:spcAft>
                <a:spcPts val="600"/>
              </a:spcAft>
              <a:buNone/>
            </a:pPr>
            <a:r>
              <a:rPr lang="en-US" sz="1050" dirty="0">
                <a:solidFill>
                  <a:srgbClr val="8A97A6"/>
                </a:solidFill>
                <a:latin typeface="Courier New" pitchFamily="34" charset="0"/>
                <a:ea typeface="Courier New" pitchFamily="34" charset="-122"/>
                <a:cs typeface="Courier New" pitchFamily="34" charset="-120"/>
              </a:rPr>
              <a:t/>
            </a:r>
            <a:endParaRPr lang="en-US" sz="1050" dirty="0"/>
          </a:p>
        </p:txBody>
      </p:sp>
      <p:sp>
        <p:nvSpPr>
          <p:cNvPr id="24" name="Text 21"/>
          <p:cNvSpPr txBox="1"/>
          <p:nvPr/>
        </p:nvSpPr>
        <p:spPr>
          <a:xfrm>
            <a:off x="822960" y="6400800"/>
            <a:ext cx="3657600" cy="320040"/>
          </a:xfrm>
          <a:prstGeom prst="rect">
            <a:avLst/>
          </a:prstGeom>
          <a:noFill/>
          <a:ln/>
        </p:spPr>
        <p:txBody>
          <a:bodyPr wrap="square" lIns="0" tIns="0" rIns="0" bIns="0" rtlCol="0" anchor="ctr"/>
          <a:lstStyle/>
          <a:p>
            <a:pPr indent="0" marL="0">
              <a:buNone/>
            </a:pPr>
            <a:r>
              <a:rPr lang="en-US" sz="1200" dirty="0">
                <a:solidFill>
                  <a:srgbClr val="4FD1C5"/>
                </a:solidFill>
                <a:latin typeface="Courier New" pitchFamily="34" charset="0"/>
                <a:ea typeface="Courier New" pitchFamily="34" charset="-122"/>
                <a:cs typeface="Courier New" pitchFamily="34" charset="-120"/>
              </a:rPr>
              <a:t>Thank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2026-09-18T15:08:34Z</dcterms:created>
  <dcterms:modified xsi:type="dcterms:W3CDTF">2026-09-18T15:08:34Z</dcterms:modified>
</cp:coreProperties>
</file>